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4d5cdad4b764c8b" /><Relationship Type="http://schemas.openxmlformats.org/officeDocument/2006/relationships/extended-properties" Target="/docProps/app.xml" Id="Rb3a2791ded9d4d18" /><Relationship Type="http://schemas.openxmlformats.org/officeDocument/2006/relationships/officeDocument" Target="/ppt/presentation.xml" Id="Rf98f5f9237194c42" /></Relationships>
</file>

<file path=ppt/presentation.xml><?xml version="1.0" encoding="utf-8"?>
<p:presentation xmlns:p="http://schemas.openxmlformats.org/presentationml/2006/main">
  <p:sldMasterIdLst>
    <p:sldMasterId xmlns:r="http://schemas.openxmlformats.org/officeDocument/2006/relationships" id="2147483648" r:id="R888fe86057014c73"/>
  </p:sldMasterIdLst>
  <p:notesMasterIdLst>
    <p:notesMasterId xmlns:r="http://schemas.openxmlformats.org/officeDocument/2006/relationships" r:id="R76e4cf357a634432"/>
  </p:notesMasterIdLst>
  <p:sldIdLst>
    <p:sldId xmlns:r="http://schemas.openxmlformats.org/officeDocument/2006/relationships" id="256" r:id="R7471a5fe3989431b"/>
    <p:sldId xmlns:r="http://schemas.openxmlformats.org/officeDocument/2006/relationships" id="257" r:id="Rae51ab38fc48412f"/>
    <p:sldId xmlns:r="http://schemas.openxmlformats.org/officeDocument/2006/relationships" id="258" r:id="Rdfcb70bf5a5f4436"/>
    <p:sldId xmlns:r="http://schemas.openxmlformats.org/officeDocument/2006/relationships" id="259" r:id="R1f42cdb11eba4422"/>
    <p:sldId xmlns:r="http://schemas.openxmlformats.org/officeDocument/2006/relationships" id="260" r:id="Rbbac008d7df94d6f"/>
    <p:sldId xmlns:r="http://schemas.openxmlformats.org/officeDocument/2006/relationships" id="261" r:id="R0404106dc79540d7"/>
    <p:sldId xmlns:r="http://schemas.openxmlformats.org/officeDocument/2006/relationships" id="262" r:id="R9e0e47b498184b1e"/>
    <p:sldId xmlns:r="http://schemas.openxmlformats.org/officeDocument/2006/relationships" id="263" r:id="R6230662643034fe2"/>
    <p:sldId xmlns:r="http://schemas.openxmlformats.org/officeDocument/2006/relationships" id="264" r:id="Rbf274b6ff5594bad"/>
    <p:sldId xmlns:r="http://schemas.openxmlformats.org/officeDocument/2006/relationships" id="265" r:id="R4e2e7973dc224cd9"/>
    <p:sldId xmlns:r="http://schemas.openxmlformats.org/officeDocument/2006/relationships" id="266" r:id="R27725cc00d9f4399"/>
    <p:sldId xmlns:r="http://schemas.openxmlformats.org/officeDocument/2006/relationships" id="267" r:id="Reb71731c4fb74083"/>
    <p:sldId xmlns:r="http://schemas.openxmlformats.org/officeDocument/2006/relationships" id="268" r:id="Reca8461e8b0a48fa"/>
    <p:sldId xmlns:r="http://schemas.openxmlformats.org/officeDocument/2006/relationships" id="269" r:id="Rcdd1c4fea59e453f"/>
    <p:sldId xmlns:r="http://schemas.openxmlformats.org/officeDocument/2006/relationships" id="270" r:id="R55fa79120aa847c6"/>
    <p:sldId xmlns:r="http://schemas.openxmlformats.org/officeDocument/2006/relationships" id="271" r:id="R6ef10e41a8004b9c"/>
    <p:sldId xmlns:r="http://schemas.openxmlformats.org/officeDocument/2006/relationships" id="272" r:id="R8ad51c2ddb074d8b"/>
    <p:sldId xmlns:r="http://schemas.openxmlformats.org/officeDocument/2006/relationships" id="273" r:id="Raf48bd2307b844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e1023785be4ce2" /><Relationship Type="http://schemas.openxmlformats.org/officeDocument/2006/relationships/slideMaster" Target="/ppt/slideMasters/slideMaster1.xml" Id="R888fe86057014c73" /><Relationship Type="http://schemas.openxmlformats.org/officeDocument/2006/relationships/notesMaster" Target="/ppt/notesMasters/notesMaster1.xml" Id="R76e4cf357a634432" /><Relationship Type="http://schemas.openxmlformats.org/officeDocument/2006/relationships/presProps" Target="/ppt/presProps.xml" Id="Re9ff48718e6b4720" /><Relationship Type="http://schemas.openxmlformats.org/officeDocument/2006/relationships/tableStyles" Target="/ppt/tableStyles.xml" Id="Recefb1abac794e93" /><Relationship Type="http://schemas.openxmlformats.org/officeDocument/2006/relationships/slide" Target="/ppt/slides/slide1.xml" Id="R7471a5fe3989431b" /><Relationship Type="http://schemas.openxmlformats.org/officeDocument/2006/relationships/slide" Target="/ppt/slides/slide2.xml" Id="Rae51ab38fc48412f" /><Relationship Type="http://schemas.openxmlformats.org/officeDocument/2006/relationships/slide" Target="/ppt/slides/slide3.xml" Id="Rdfcb70bf5a5f4436" /><Relationship Type="http://schemas.openxmlformats.org/officeDocument/2006/relationships/slide" Target="/ppt/slides/slide4.xml" Id="R1f42cdb11eba4422" /><Relationship Type="http://schemas.openxmlformats.org/officeDocument/2006/relationships/slide" Target="/ppt/slides/slide5.xml" Id="Rbbac008d7df94d6f" /><Relationship Type="http://schemas.openxmlformats.org/officeDocument/2006/relationships/slide" Target="/ppt/slides/slide6.xml" Id="R0404106dc79540d7" /><Relationship Type="http://schemas.openxmlformats.org/officeDocument/2006/relationships/slide" Target="/ppt/slides/slide7.xml" Id="R9e0e47b498184b1e" /><Relationship Type="http://schemas.openxmlformats.org/officeDocument/2006/relationships/slide" Target="/ppt/slides/slide8.xml" Id="R6230662643034fe2" /><Relationship Type="http://schemas.openxmlformats.org/officeDocument/2006/relationships/slide" Target="/ppt/slides/slide9.xml" Id="Rbf274b6ff5594bad" /><Relationship Type="http://schemas.openxmlformats.org/officeDocument/2006/relationships/slide" Target="/ppt/slides/slide10.xml" Id="R4e2e7973dc224cd9" /><Relationship Type="http://schemas.openxmlformats.org/officeDocument/2006/relationships/slide" Target="/ppt/slides/slide11.xml" Id="R27725cc00d9f4399" /><Relationship Type="http://schemas.openxmlformats.org/officeDocument/2006/relationships/slide" Target="/ppt/slides/slide12.xml" Id="Reb71731c4fb74083" /><Relationship Type="http://schemas.openxmlformats.org/officeDocument/2006/relationships/slide" Target="/ppt/slides/slide13.xml" Id="Reca8461e8b0a48fa" /><Relationship Type="http://schemas.openxmlformats.org/officeDocument/2006/relationships/slide" Target="/ppt/slides/slide14.xml" Id="Rcdd1c4fea59e453f" /><Relationship Type="http://schemas.openxmlformats.org/officeDocument/2006/relationships/slide" Target="/ppt/slides/slide15.xml" Id="R55fa79120aa847c6" /><Relationship Type="http://schemas.openxmlformats.org/officeDocument/2006/relationships/slide" Target="/ppt/slides/slide16.xml" Id="R6ef10e41a8004b9c" /><Relationship Type="http://schemas.openxmlformats.org/officeDocument/2006/relationships/slide" Target="/ppt/slides/slide17.xml" Id="R8ad51c2ddb074d8b" /><Relationship Type="http://schemas.openxmlformats.org/officeDocument/2006/relationships/slide" Target="/ppt/slides/slide18.xml" Id="Raf48bd2307b844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e79630203b49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459855148c043aa" /><Relationship Type="http://schemas.openxmlformats.org/officeDocument/2006/relationships/notesMaster" Target="/ppt/notesMasters/notesMaster1.xml" Id="Rf5262cfd83dc4c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7492b81f3c4469" /><Relationship Type="http://schemas.openxmlformats.org/officeDocument/2006/relationships/notesMaster" Target="/ppt/notesMasters/notesMaster1.xml" Id="R4906119fabd44d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9f6aa61750458f" /><Relationship Type="http://schemas.openxmlformats.org/officeDocument/2006/relationships/notesMaster" Target="/ppt/notesMasters/notesMaster1.xml" Id="R5ae865efbef648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fc9eac31b54636" /><Relationship Type="http://schemas.openxmlformats.org/officeDocument/2006/relationships/notesMaster" Target="/ppt/notesMasters/notesMaster1.xml" Id="Rfa450666551d42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d6a70093f04d8e" /><Relationship Type="http://schemas.openxmlformats.org/officeDocument/2006/relationships/notesMaster" Target="/ppt/notesMasters/notesMaster1.xml" Id="R947de47472384c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d976582a184e45" /><Relationship Type="http://schemas.openxmlformats.org/officeDocument/2006/relationships/notesMaster" Target="/ppt/notesMasters/notesMaster1.xml" Id="R3397206c6b7240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0070c43e8846e0" /><Relationship Type="http://schemas.openxmlformats.org/officeDocument/2006/relationships/notesMaster" Target="/ppt/notesMasters/notesMaster1.xml" Id="Rb3aeba5e0fdd4ce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5f3dabf4274b55" /><Relationship Type="http://schemas.openxmlformats.org/officeDocument/2006/relationships/notesMaster" Target="/ppt/notesMasters/notesMaster1.xml" Id="Rf2505b1ada9e44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5aca24deaa48ce" /><Relationship Type="http://schemas.openxmlformats.org/officeDocument/2006/relationships/notesMaster" Target="/ppt/notesMasters/notesMaster1.xml" Id="Rd92815e1ca3145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9abc2ad92b48af" /><Relationship Type="http://schemas.openxmlformats.org/officeDocument/2006/relationships/notesMaster" Target="/ppt/notesMasters/notesMaster1.xml" Id="Rd459dae0e8a84ae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4c1b1184364295" /><Relationship Type="http://schemas.openxmlformats.org/officeDocument/2006/relationships/notesMaster" Target="/ppt/notesMasters/notesMaster1.xml" Id="Rd42cb9d652d144f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83bfd1e14074d8c" /><Relationship Type="http://schemas.openxmlformats.org/officeDocument/2006/relationships/notesMaster" Target="/ppt/notesMasters/notesMaster1.xml" Id="Rb2b4693f0c80415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d28dcb51184871" /><Relationship Type="http://schemas.openxmlformats.org/officeDocument/2006/relationships/notesMaster" Target="/ppt/notesMasters/notesMaster1.xml" Id="R6b1844f42b744bd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aec204c14084204" /><Relationship Type="http://schemas.openxmlformats.org/officeDocument/2006/relationships/notesMaster" Target="/ppt/notesMasters/notesMaster1.xml" Id="Rf130a9a00d36454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be36e62c8ee4265" /><Relationship Type="http://schemas.openxmlformats.org/officeDocument/2006/relationships/notesMaster" Target="/ppt/notesMasters/notesMaster1.xml" Id="Re617e03d8815424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19ed49d9158496b" /><Relationship Type="http://schemas.openxmlformats.org/officeDocument/2006/relationships/notesMaster" Target="/ppt/notesMasters/notesMaster1.xml" Id="R1384babd5f9d442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94fb7017e0c4b44" /><Relationship Type="http://schemas.openxmlformats.org/officeDocument/2006/relationships/notesMaster" Target="/ppt/notesMasters/notesMaster1.xml" Id="R609db44cbc6c4a1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d992aa653d241c0" /><Relationship Type="http://schemas.openxmlformats.org/officeDocument/2006/relationships/notesMaster" Target="/ppt/notesMasters/notesMaster1.xml" Id="R161a9baa6ad84c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gian dự kiến: 25 giây.</a:t>
            </a:r>
          </a:p>
          <a:p xmlns:a="http://schemas.openxmlformats.org/drawingml/2006/main">
            <a:r>
              <a:t/>
            </a:r>
          </a:p>
          <a:p xmlns:a="http://schemas.openxmlformats.org/drawingml/2006/main">
            <a:r>
              <a:t>Tụi em bắt đầu từ bài toán kiểm tra thí sinh tại cửa phòng thi. Sau khi khảo sát và chạy baseline, tụi em phân tích lỗi để nghiên cứu hai cải thiện: chọn đúng target trong cảnh nhiều mặt và ra quyết định verification. Báo cáo hôm nay tập trung mạch nghiên cứu, số liệu và giới hạn; chưa tuyên bố đã triển khai an toàn ở kỳ thi thật.</a:t>
            </a:r>
          </a:p>
          <a:p xmlns:a="http://schemas.openxmlformats.org/drawingml/2006/main">
            <a:r>
              <a:t/>
            </a:r>
          </a:p>
          <a:p xmlns:a="http://schemas.openxmlformats.org/drawingml/2006/main">
            <a:r>
              <a:t>Nguồn:</a:t>
            </a:r>
          </a:p>
          <a:p xmlns:a="http://schemas.openxmlformats.org/drawingml/2006/main">
            <a:r>
              <a:t>https://github.com/quocanwyf/doantotnghiep2nguoi/blob/codex/T-024-demo-policy/docs/07-report/T-024-research-logic.md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gian dự kiến: 40 giây.</a:t>
            </a:r>
          </a:p>
          <a:p xmlns:a="http://schemas.openxmlformats.org/drawingml/2006/main">
            <a:r>
              <a:t/>
            </a:r>
          </a:p>
          <a:p xmlns:a="http://schemas.openxmlformats.org/drawingml/2006/main">
            <a:r>
              <a:t>Ở cửa phòng cần đối chiếu người đến với hồ sơ, ca và phòng rồi ghi nhận. Thiết bị tại đây giúp tổ chức một lượt tương tác có context rõ và hỗ trợ giảm thao tác thường lệ. Đây là mục tiêu đề tài, chưa phải mức giảm nhân sự đã đo. Nhóm thống nhất đề xuất T-002 qua D-001; không chọn AI rồi mới tìm bài toán.</a:t>
            </a:r>
          </a:p>
          <a:p xmlns:a="http://schemas.openxmlformats.org/drawingml/2006/main">
            <a:r>
              <a:t/>
            </a:r>
          </a:p>
          <a:p xmlns:a="http://schemas.openxmlformats.org/drawingml/2006/main">
            <a:r>
              <a:t>Nguồn:</a:t>
            </a:r>
          </a:p>
          <a:p xmlns:a="http://schemas.openxmlformats.org/drawingml/2006/main">
            <a:r>
              <a:t>https://github.com/quocanwyf/doantotnghiep2nguoi/blob/codex/T-024-demo-policy/docs/00-project/decisions/T-004-D-001-chon-bai-toan-cua-phong-thi.md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gian dự kiến: 40 giây.</a:t>
            </a:r>
          </a:p>
          <a:p xmlns:a="http://schemas.openxmlformats.org/drawingml/2006/main">
            <a:r>
              <a:t/>
            </a:r>
          </a:p>
          <a:p xmlns:a="http://schemas.openxmlformats.org/drawingml/2006/main">
            <a:r>
              <a:t>SBD chỉ giúp chọn hồ sơ/reference cần kiểm; không tự chứng minh danh tính. Bài toán AI là so candidate với reference đã khai theo 1:1, không phân loại toàn bộ sinh viên. Một attempt có thể có nhiều capture. Check-in không đồng nghĩa đã vào phòng hay đã dự thi. Human decision được lưu riêng, không sửa verdict AI.</a:t>
            </a:r>
          </a:p>
          <a:p xmlns:a="http://schemas.openxmlformats.org/drawingml/2006/main">
            <a:r>
              <a:t/>
            </a:r>
          </a:p>
          <a:p xmlns:a="http://schemas.openxmlformats.org/drawingml/2006/main">
            <a:r>
              <a:t>Nguồn:</a:t>
            </a:r>
          </a:p>
          <a:p xmlns:a="http://schemas.openxmlformats.org/drawingml/2006/main">
            <a:r>
              <a:t>https://github.com/quocanwyf/doantotnghiep2nguoi/blob/codex/T-024-demo-policy/docs/01-problem/T-008-requirements.md</a:t>
            </a:r>
          </a:p>
          <a:p xmlns:a="http://schemas.openxmlformats.org/drawingml/2006/main">
            <a:r>
              <a:t>https://github.com/quocanwyf/doantotnghiep2nguoi/blob/codex/T-024-demo-policy/docs/00-project/decisions/T-008-D-003-chap-nhan-baseline-nghien-cuu.md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gian dự kiến: 55 giây.</a:t>
            </a:r>
          </a:p>
          <a:p xmlns:a="http://schemas.openxmlformats.org/drawingml/2006/main">
            <a:r>
              <a:t/>
            </a:r>
          </a:p>
          <a:p xmlns:a="http://schemas.openxmlformats.org/drawingml/2006/main">
            <a:r>
              <a:t>Đây là luồng thực thi với P2: lookup và business pre-check, capture ảnh, detector xuất bbox/landmarks, align và encode các mặt, rồi tính cosine với reference. S4 dùng score và margin để chọn; S8 áp rule verification cho selected score; app còn phải final business-check và confirmed write. P2 cần embedding trước selection; các ID stage là phân rã chức năng, không phải thứ tự số bắt buộc. Quality/PAD chưa được coi là đã triển khai đầy đủ.</a:t>
            </a:r>
          </a:p>
          <a:p xmlns:a="http://schemas.openxmlformats.org/drawingml/2006/main">
            <a:r>
              <a:t/>
            </a:r>
          </a:p>
          <a:p xmlns:a="http://schemas.openxmlformats.org/drawingml/2006/main">
            <a:r>
              <a:t>Nguồn:</a:t>
            </a:r>
          </a:p>
          <a:p xmlns:a="http://schemas.openxmlformats.org/drawingml/2006/main">
            <a:r>
              <a:t>https://github.com/quocanwyf/doantotnghiep2nguoi/blob/codex/T-024-demo-policy/docs/02-survey/T-005-quoc-an-task-decomposition.md</a:t>
            </a:r>
          </a:p>
          <a:p xmlns:a="http://schemas.openxmlformats.org/drawingml/2006/main">
            <a:r>
              <a:t>https://github.com/quocanwyf/doantotnghiep2nguoi/blob/codex/T-024-demo-policy/docs/03-baseline/T-012-B0-pipeline-choice.md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gian dự kiến: 40 giây.</a:t>
            </a:r>
          </a:p>
          <a:p xmlns:a="http://schemas.openxmlformats.org/drawingml/2006/main">
            <a:r>
              <a:t/>
            </a:r>
          </a:p>
          <a:p xmlns:a="http://schemas.openxmlformats.org/drawingml/2006/main">
            <a:r>
              <a:t>Tụi em gắn dataset với từng câu hỏi: WIDER cho detection; XQLFW cho pair verification và target pilot/holdout có audit; BFW known identities để dựng controlled hard-negative proxy. Không dataset nào chứng minh toàn bộ check-in. Claim được mô phỏng bằng reference input. Nguồn và quyền dùng được ghi riêng; ảnh mặt và weights không đưa vào Git.</a:t>
            </a:r>
          </a:p>
          <a:p xmlns:a="http://schemas.openxmlformats.org/drawingml/2006/main">
            <a:r>
              <a:t/>
            </a:r>
          </a:p>
          <a:p xmlns:a="http://schemas.openxmlformats.org/drawingml/2006/main">
            <a:r>
              <a:t>Nguồn:</a:t>
            </a:r>
          </a:p>
          <a:p xmlns:a="http://schemas.openxmlformats.org/drawingml/2006/main">
            <a:r>
              <a:t>https://github.com/quocanwyf/doantotnghiep2nguoi/blob/codex/T-024-demo-policy/docs/02-survey/T-009-source-register.md</a:t>
            </a:r>
          </a:p>
          <a:p xmlns:a="http://schemas.openxmlformats.org/drawingml/2006/main">
            <a:r>
              <a:t>https://github.com/quocanwyf/doantotnghiep2nguoi/blob/codex/T-024-demo-policy/docs/00-project/external-assets.md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gian dự kiến: 40 giây.</a:t>
            </a:r>
          </a:p>
          <a:p xmlns:a="http://schemas.openxmlformats.org/drawingml/2006/main">
            <a:r>
              <a:t/>
            </a:r>
          </a:p>
          <a:p xmlns:a="http://schemas.openxmlformats.org/drawingml/2006/main">
            <a:r>
              <a:t>B0 dùng SCRFD 500MF có landmarks phù hợp alignment và MobileFaceNet nhẹ; R50 làm reference mạnh hơn nhưng cost cao hơn. Project AP detection cao nhất không tự động chọn cấu hình toàn pipeline tốt nhất. Nhóm giữ một baseline ổn định để xem lỗi trước khi cải thiện. Không train/fine-tune model mới.</a:t>
            </a:r>
          </a:p>
          <a:p xmlns:a="http://schemas.openxmlformats.org/drawingml/2006/main">
            <a:r>
              <a:t/>
            </a:r>
          </a:p>
          <a:p xmlns:a="http://schemas.openxmlformats.org/drawingml/2006/main">
            <a:r>
              <a:t>Nguồn:</a:t>
            </a:r>
          </a:p>
          <a:p xmlns:a="http://schemas.openxmlformats.org/drawingml/2006/main">
            <a:r>
              <a:t>https://github.com/quocanwyf/doantotnghiep2nguoi/blob/codex/T-024-demo-policy/docs/03-baseline/T-012-B0-pipeline-choice.md</a:t>
            </a:r>
          </a:p>
          <a:p xmlns:a="http://schemas.openxmlformats.org/drawingml/2006/main">
            <a:r>
              <a:t>https://github.com/quocanwyf/doantotnghiep2nguoi/blob/codex/T-024-demo-policy/docs/03-baseline/T-010-protocol.md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gian dự kiến: 45 giây.</a:t>
            </a:r>
          </a:p>
          <a:p xmlns:a="http://schemas.openxmlformats.org/drawingml/2006/main">
            <a:r>
              <a:t/>
            </a:r>
          </a:p>
          <a:p xmlns:a="http://schemas.openxmlformats.org/drawingml/2006/main">
            <a:r>
              <a:t>Trên 6.000 XQLFW pairs, B0 chấm được 4.215 và unresolved 1.785. FNMR 125/2.046 và FMR 133/2.169 chỉ tính trên valid pairs. Trong image audit, 908 ảnh có nhiều detections chưa chắc đều là nhiều người. Nhánh unresolved multi-face tạo câu hỏi S4: đã khai A, có chọn đúng A và không chọn khi A absent không?</a:t>
            </a:r>
          </a:p>
          <a:p xmlns:a="http://schemas.openxmlformats.org/drawingml/2006/main">
            <a:r>
              <a:t/>
            </a:r>
          </a:p>
          <a:p xmlns:a="http://schemas.openxmlformats.org/drawingml/2006/main">
            <a:r>
              <a:t>Nguồn:</a:t>
            </a:r>
          </a:p>
          <a:p xmlns:a="http://schemas.openxmlformats.org/drawingml/2006/main">
            <a:r>
              <a:t>https://github.com/quocanwyf/doantotnghiep2nguoi/blob/codex/T-024-demo-policy/docs/03-baseline/T-012-B0-freeze-and-stage-diagnosis.md</a:t>
            </a:r>
          </a:p>
          <a:p xmlns:a="http://schemas.openxmlformats.org/drawingml/2006/main">
            <a:r>
              <a:t>https://github.com/quocanwyf/doantotnghiep2nguoi/blob/codex/T-024-demo-policy/docs/03-baseline/T-011-baseline-summary.md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gian dự kiến: 45 giây.</a:t>
            </a:r>
          </a:p>
          <a:p xmlns:a="http://schemas.openxmlformats.org/drawingml/2006/main">
            <a:r>
              <a:t/>
            </a:r>
          </a:p>
          <a:p xmlns:a="http://schemas.openxmlformats.org/drawingml/2006/main">
            <a:r>
              <a:t>B0 multi-face luôn unresolved. P1 luôn chọn score cao nhất. P2 chỉ chọn khi top score và margin cùng vượt ngưỡng. Hai biến được tìm trên development qua 6.561 tổ hợp theo rule đặt trước. T-015 có sai khác labeling nên T-017 dùng clean confirmation: ghi target point trên ảnh gốc trước bbox mapping, không lấy score P1/P2 để sửa ground truth. Self-confirm vẫn là limitation, không có reviewer độc lập.</a:t>
            </a:r>
          </a:p>
          <a:p xmlns:a="http://schemas.openxmlformats.org/drawingml/2006/main">
            <a:r>
              <a:t/>
            </a:r>
          </a:p>
          <a:p xmlns:a="http://schemas.openxmlformats.org/drawingml/2006/main">
            <a:r>
              <a:t>Nguồn:</a:t>
            </a:r>
          </a:p>
          <a:p xmlns:a="http://schemas.openxmlformats.org/drawingml/2006/main">
            <a:r>
              <a:t>https://github.com/quocanwyf/doantotnghiep2nguoi/blob/codex/T-024-demo-policy/docs/04-optimization/T-014-method-protocol.md</a:t>
            </a:r>
          </a:p>
          <a:p xmlns:a="http://schemas.openxmlformats.org/drawingml/2006/main">
            <a:r>
              <a:t>https://github.com/quocanwyf/doantotnghiep2nguoi/blob/codex/T-024-demo-policy/docs/05-evaluation/T-017-clean-confirmation.md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gian dự kiến: 40 giây.</a:t>
            </a:r>
          </a:p>
          <a:p xmlns:a="http://schemas.openxmlformats.org/drawingml/2006/main">
            <a:r>
              <a:t/>
            </a:r>
          </a:p>
          <a:p xmlns:a="http://schemas.openxmlformats.org/drawingml/2006/main">
            <a:r>
              <a:t>Trên cùng 49 target-present proxy trials của T-017, B0 unresolved toàn bộ; P1 chọn đúng 49; P2 chọn đúng 46 và unresolved 3, không wrong selection. P2 phục hồi 93,9% số present trong benchmark này. Đây là selection result, chưa phải verification accept hay check-in success.</a:t>
            </a:r>
          </a:p>
          <a:p xmlns:a="http://schemas.openxmlformats.org/drawingml/2006/main">
            <a:r>
              <a:t/>
            </a:r>
          </a:p>
          <a:p xmlns:a="http://schemas.openxmlformats.org/drawingml/2006/main">
            <a:r>
              <a:t>Nguồn:</a:t>
            </a:r>
          </a:p>
          <a:p xmlns:a="http://schemas.openxmlformats.org/drawingml/2006/main">
            <a:r>
              <a:t>https://github.com/quocanwyf/doantotnghiep2nguoi/blob/codex/T-024-demo-policy/docs/05-evaluation/T-017-clean-confirmation.md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gian dự kiến: 40 giây.</a:t>
            </a:r>
          </a:p>
          <a:p xmlns:a="http://schemas.openxmlformats.org/drawingml/2006/main">
            <a:r>
              <a:t/>
            </a:r>
          </a:p>
          <a:p xmlns:a="http://schemas.openxmlformats.org/drawingml/2006/main">
            <a:r>
              <a:t>Trên 41 target-absent trials, B0 không chọn 41; P1 ép chọn sai cả 41; P2 không chọn 39 nhưng vẫn chọn sai 2. Selective S4 đem lại utility cho present và giảm lỗi so với forced selection, nhưng còn trade-off. Không gọi 2/41 là FAR. Từ hai false selections này, câu hỏi tiếp là S8 có chặn được không?</a:t>
            </a:r>
          </a:p>
          <a:p xmlns:a="http://schemas.openxmlformats.org/drawingml/2006/main">
            <a:r>
              <a:t/>
            </a:r>
          </a:p>
          <a:p xmlns:a="http://schemas.openxmlformats.org/drawingml/2006/main">
            <a:r>
              <a:t>Nguồn:</a:t>
            </a:r>
          </a:p>
          <a:p xmlns:a="http://schemas.openxmlformats.org/drawingml/2006/main">
            <a:r>
              <a:t>https://github.com/quocanwyf/doantotnghiep2nguoi/blob/codex/T-024-demo-policy/docs/05-evaluation/T-017-clean-confirmation.md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gian dự kiến: 50 giây.</a:t>
            </a:r>
          </a:p>
          <a:p xmlns:a="http://schemas.openxmlformats.org/drawingml/2006/main">
            <a:r>
              <a:t/>
            </a:r>
          </a:p>
          <a:p xmlns:a="http://schemas.openxmlformats.org/drawingml/2006/main">
            <a:r>
              <a:t>T-020 replay selected-box cosine đã khóa của T-017, không recompute crop/reference mới. P2 yêu cầu score ít nhất 0,147897, nhưng S8 lịch sử accept từ 0,122254. Vì vậy cả hai selected non-target đều accept: holdout-010 score 0,238723 và holdout-018 score 0,156472. Không có nhãn chắc để gán một identity B cụ thể cho background, và chưa biết vì sao score cao. Hai threshold không tự tạo hai signal độc lập. Điều này dẫn sang T-021 về risk và separation.</a:t>
            </a:r>
          </a:p>
          <a:p xmlns:a="http://schemas.openxmlformats.org/drawingml/2006/main">
            <a:r>
              <a:t/>
            </a:r>
          </a:p>
          <a:p xmlns:a="http://schemas.openxmlformats.org/drawingml/2006/main">
            <a:r>
              <a:t>Nguồn:</a:t>
            </a:r>
          </a:p>
          <a:p xmlns:a="http://schemas.openxmlformats.org/drawingml/2006/main">
            <a:r>
              <a:t>https://github.com/quocanwyf/doantotnghiep2nguoi/blob/codex/T-024-demo-policy/docs/05-evaluation/T-020-s4-s8-integration.md</a:t>
            </a:r>
          </a:p>
          <a:p xmlns:a="http://schemas.openxmlformats.org/drawingml/2006/main">
            <a:r>
              <a:t>https://github.com/quocanwyf/doantotnghiep2nguoi/blob/codex/T-024-demo-policy/docs/05-evaluation/T-021-s8-risk-protocol.md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gian dự kiến: 50 giây.</a:t>
            </a:r>
          </a:p>
          <a:p xmlns:a="http://schemas.openxmlformats.org/drawingml/2006/main">
            <a:r>
              <a:t/>
            </a:r>
          </a:p>
          <a:p xmlns:a="http://schemas.openxmlformats.org/drawingml/2006/main">
            <a:r>
              <a:t>T-021 tách genuine, ordinary impostor và S4-derived hard negative. Ground truth phải có trước score; hard-negative subset chỉ gồm non-target được P2 chọn trên scene absent đã khóa nhãn. T-022 evaluation không có hard negative được chọn nên không đo được khả năng chặn nhóm này. T-023 dùng BFW holdout độc lập. Rule development trên grid 0,01 giữ selected-genuine accept ít nhất 95%, giảm hard accept và tie-break đã định trước; chọn 0,23 rồi freeze. Business risk cap vẫn TBD, không gọi đây là deployment optimum.</a:t>
            </a:r>
          </a:p>
          <a:p xmlns:a="http://schemas.openxmlformats.org/drawingml/2006/main">
            <a:r>
              <a:t/>
            </a:r>
          </a:p>
          <a:p xmlns:a="http://schemas.openxmlformats.org/drawingml/2006/main">
            <a:r>
              <a:t>Nguồn:</a:t>
            </a:r>
          </a:p>
          <a:p xmlns:a="http://schemas.openxmlformats.org/drawingml/2006/main">
            <a:r>
              <a:t>https://github.com/quocanwyf/doantotnghiep2nguoi/blob/codex/T-024-demo-policy/docs/05-evaluation/T-022-s8-evaluation-result.md</a:t>
            </a:r>
          </a:p>
          <a:p xmlns:a="http://schemas.openxmlformats.org/drawingml/2006/main">
            <a:r>
              <a:t>https://github.com/quocanwyf/doantotnghiep2nguoi/blob/codex/T-024-demo-policy/docs/04-optimization/T-023-encoder-assessment-protocol.md</a:t>
            </a:r>
          </a:p>
          <a:p xmlns:a="http://schemas.openxmlformats.org/drawingml/2006/main">
            <a:r>
              <a:t>https://github.com/quocanwyf/doantotnghiep2nguoi/blob/codex/T-024-demo-policy/docs/05-evaluation/T-023-development-analysis.md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gian dự kiến: 55 giây.</a:t>
            </a:r>
          </a:p>
          <a:p xmlns:a="http://schemas.openxmlformats.org/drawingml/2006/main">
            <a:r>
              <a:t/>
            </a:r>
          </a:p>
          <a:p xmlns:a="http://schemas.openxmlformats.org/drawingml/2006/main">
            <a:r>
              <a:t>Trên T-023 frozen holdout, tại 0,23 S8 accept 55/55 selected genuine, reject 30/38 hard negatives và còn accept 8. So mốc 0,15, giảm hard accept từ 36 xuống 8 nhưng all-genuine reject tăng 14 lên 21/240. Ordinary FMR là 1/240. Selected genuine là subset có điều kiện, nên 55/55 không có nghĩa FNMR toàn genuine bằng 0. Điểm 0,25 là stress point đã công bố, không chọn lại từ evaluation.</a:t>
            </a:r>
          </a:p>
          <a:p xmlns:a="http://schemas.openxmlformats.org/drawingml/2006/main">
            <a:r>
              <a:t/>
            </a:r>
          </a:p>
          <a:p xmlns:a="http://schemas.openxmlformats.org/drawingml/2006/main">
            <a:r>
              <a:t>Nguồn:</a:t>
            </a:r>
          </a:p>
          <a:p xmlns:a="http://schemas.openxmlformats.org/drawingml/2006/main">
            <a:r>
              <a:t>https://github.com/quocanwyf/doantotnghiep2nguoi/blob/codex/T-024-demo-policy/docs/05-evaluation/T-023-encoder-evaluation-result.md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gian dự kiến: 50 giây.</a:t>
            </a:r>
          </a:p>
          <a:p xmlns:a="http://schemas.openxmlformats.org/drawingml/2006/main">
            <a:r>
              <a:t/>
            </a:r>
          </a:p>
          <a:p xmlns:a="http://schemas.openxmlformats.org/drawingml/2006/main">
            <a:r>
              <a:t>Giữ P2 và toàn bộ 238 absent scenes T-023 fixed: tại 0,15 có 200 no-select, 2 selected rồi reject, 36 selected rồi accept. Tại 0,23 vẫn 200 no-select, nhưng 30 reject và 8 accept. Proxy absent acceptance giảm 36/238 xuống 8/238; present accept giữ 55/60, còn 5 unresolved. No-select không phải verification reject. Đây chưa phải effective false check-in của app và không ghép với tỷ lệ S4 XQLFW thành một accuracy tổng.</a:t>
            </a:r>
          </a:p>
          <a:p xmlns:a="http://schemas.openxmlformats.org/drawingml/2006/main">
            <a:r>
              <a:t/>
            </a:r>
          </a:p>
          <a:p xmlns:a="http://schemas.openxmlformats.org/drawingml/2006/main">
            <a:r>
              <a:t>Nguồn:</a:t>
            </a:r>
          </a:p>
          <a:p xmlns:a="http://schemas.openxmlformats.org/drawingml/2006/main">
            <a:r>
              <a:t>https://github.com/quocanwyf/doantotnghiep2nguoi/blob/codex/T-024-demo-policy/docs/05-evaluation/T-023-encoder-evaluation-result.md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gian dự kiến: 45 giây.</a:t>
            </a:r>
          </a:p>
          <a:p xmlns:a="http://schemas.openxmlformats.org/drawingml/2006/main">
            <a:r>
              <a:t/>
            </a:r>
          </a:p>
          <a:p xmlns:a="http://schemas.openxmlformats.org/drawingml/2006/main">
            <a:r>
              <a:t>Hai cải thiện nằm ở selective selection và verification decision có protocol, không phải encoder mới. Evidence cho thấy MobileFaceNet có vùng phân tách hữu ích nhưng vẫn còn overlap và lỗi. Vì vậy nhóm giữ baseline, chưa có lý do buộc phải fine-tune. Synthetic data, self-confirm, pretraining overlap chưa audit toàn bộ và thiếu camera/thiết bị đích là các giới hạn. Chưa có một phép so full app B0 với full proposed trên cùng benchmark.</a:t>
            </a:r>
          </a:p>
          <a:p xmlns:a="http://schemas.openxmlformats.org/drawingml/2006/main">
            <a:r>
              <a:t/>
            </a:r>
          </a:p>
          <a:p xmlns:a="http://schemas.openxmlformats.org/drawingml/2006/main">
            <a:r>
              <a:t>Nguồn:</a:t>
            </a:r>
          </a:p>
          <a:p xmlns:a="http://schemas.openxmlformats.org/drawingml/2006/main">
            <a:r>
              <a:t>https://github.com/quocanwyf/doantotnghiep2nguoi/blob/codex/T-024-demo-policy/docs/05-evaluation/DECISION_LOGIC.md</a:t>
            </a:r>
          </a:p>
          <a:p xmlns:a="http://schemas.openxmlformats.org/drawingml/2006/main">
            <a:r>
              <a:t>https://github.com/quocanwyf/doantotnghiep2nguoi/blob/codex/T-024-demo-policy/docs/05-evaluation/T-023-encoder-evaluation-result.md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gian dự kiến: 45 giây.</a:t>
            </a:r>
          </a:p>
          <a:p xmlns:a="http://schemas.openxmlformats.org/drawingml/2006/main">
            <a:r>
              <a:t/>
            </a:r>
          </a:p>
          <a:p xmlns:a="http://schemas.openxmlformats.org/drawingml/2006/main">
            <a:r>
              <a:t>T-024 đã duyệt default demo, auto-check-in có điều kiện, ba tầng authority và cách đánh giá workflow/risk. Mọi capture chịu global cap 3; HUMAN không sửa AI. Auto-PASS chỉ sau business pre/final checks, AI verified, không duplicate/unresolved và write confirmed. Hy build/integrate app trước, rồi mới freeze test profile và chạy test cuối. Workflow có pass/fail; AI báo attempt-level errors vì risk cap vẫn TBD. PASS chỉ là check-in confirmed.</a:t>
            </a:r>
          </a:p>
          <a:p xmlns:a="http://schemas.openxmlformats.org/drawingml/2006/main">
            <a:r>
              <a:t/>
            </a:r>
          </a:p>
          <a:p xmlns:a="http://schemas.openxmlformats.org/drawingml/2006/main">
            <a:r>
              <a:t>Nguồn:</a:t>
            </a:r>
          </a:p>
          <a:p xmlns:a="http://schemas.openxmlformats.org/drawingml/2006/main">
            <a:r>
              <a:t>https://github.com/quocanwyf/doantotnghiep2nguoi/blob/codex/T-024-demo-policy/docs/00-project/decisions/T-024-D-008-ban-giao-va-build-app.md</a:t>
            </a:r>
          </a:p>
          <a:p xmlns:a="http://schemas.openxmlformats.org/drawingml/2006/main">
            <a:r>
              <a:t>https://github.com/quocanwyf/doantotnghiep2nguoi/blob/codex/T-024-demo-policy/docs/06-mobile/T-024-ban-giao-app-cho-hy/T-024-README.md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gian dự kiến: 0 giây.</a:t>
            </a:r>
          </a:p>
          <a:p xmlns:a="http://schemas.openxmlformats.org/drawingml/2006/main">
            <a:r>
              <a:t/>
            </a:r>
          </a:p>
          <a:p xmlns:a="http://schemas.openxmlformats.org/drawingml/2006/main">
            <a:r>
              <a:t>Phụ lục này không cần đọc trong phần 10–12 phút. Master Markdown và notes từng slide có link nguồn; reports gốc giữ freeze/hash và raw-output reference. Deck không chứa ảnh mặt hay checkpoint. Dùng appendix để đối chiếu khi thầy hỏi protocol hoặc phạm vi kết luận.</a:t>
            </a:r>
          </a:p>
          <a:p xmlns:a="http://schemas.openxmlformats.org/drawingml/2006/main">
            <a:r>
              <a:t/>
            </a:r>
          </a:p>
          <a:p xmlns:a="http://schemas.openxmlformats.org/drawingml/2006/main">
            <a:r>
              <a:t>Nguồn:</a:t>
            </a:r>
          </a:p>
          <a:p xmlns:a="http://schemas.openxmlformats.org/drawingml/2006/main">
            <a:r>
              <a:t>https://github.com/quocanwyf/doantotnghiep2nguoi/blob/codex/T-024-demo-policy/docs/07-report/T-024-research-logic.md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gian dự kiến: 0 giây.</a:t>
            </a:r>
          </a:p>
          <a:p xmlns:a="http://schemas.openxmlformats.org/drawingml/2006/main">
            <a:r>
              <a:t/>
            </a:r>
          </a:p>
          <a:p xmlns:a="http://schemas.openxmlformats.org/drawingml/2006/main">
            <a:r>
              <a:t>Nếu thầy hỏi đóng góp: trả lời selection/decision/pipeline và phương pháp thí nghiệm, không claim train encoder. Threshold lấy từ development rule trước evaluation. S8 không có signal độc lập nhưng rule chặn được một phần lỗi. Có ba nhóm kết quả, chưa có full-app accuracy. Chưa gọi demo an toàn cho kỳ thi thật; cần final frozen integration test và risk requirement nếu triển khai.</a:t>
            </a:r>
          </a:p>
          <a:p xmlns:a="http://schemas.openxmlformats.org/drawingml/2006/main">
            <a:r>
              <a:t/>
            </a:r>
          </a:p>
          <a:p xmlns:a="http://schemas.openxmlformats.org/drawingml/2006/main">
            <a:r>
              <a:t>Nguồn:</a:t>
            </a:r>
          </a:p>
          <a:p xmlns:a="http://schemas.openxmlformats.org/drawingml/2006/main">
            <a:r>
              <a:t>https://github.com/quocanwyf/doantotnghiep2nguoi/blob/codex/T-024-demo-policy/docs/07-report/T-024-research-logic.md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80dd93f01545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4953e2263446f9" /><Relationship Type="http://schemas.openxmlformats.org/officeDocument/2006/relationships/slideLayout" Target="/ppt/slideLayouts/slideLayout1.xml" Id="R0df95e9eb6614a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f95e9eb6614a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98b8f6914746cd" /><Relationship Type="http://schemas.openxmlformats.org/officeDocument/2006/relationships/notesSlide" Target="/ppt/notesSlides/notesSlide1.xml" Id="R88fa3f8eecf840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1c98a5443524a67" /><Relationship Type="http://schemas.openxmlformats.org/officeDocument/2006/relationships/notesSlide" Target="/ppt/notesSlides/notesSlide2.xml" Id="Rcb408d385c3748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963716ae694b60" /><Relationship Type="http://schemas.openxmlformats.org/officeDocument/2006/relationships/notesSlide" Target="/ppt/notesSlides/notesSlide3.xml" Id="R1fb8dcf1a3f949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8a9ede78a5247a6" /><Relationship Type="http://schemas.openxmlformats.org/officeDocument/2006/relationships/notesSlide" Target="/ppt/notesSlides/notesSlide4.xml" Id="Re7b897d9e74f485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abe60e60f4456a" /><Relationship Type="http://schemas.openxmlformats.org/officeDocument/2006/relationships/notesSlide" Target="/ppt/notesSlides/notesSlide5.xml" Id="R48a61082cb674f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8922acffbff48f9" /><Relationship Type="http://schemas.openxmlformats.org/officeDocument/2006/relationships/notesSlide" Target="/ppt/notesSlides/notesSlide6.xml" Id="R13497114d4de4c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9f0908671fd460f" /><Relationship Type="http://schemas.openxmlformats.org/officeDocument/2006/relationships/notesSlide" Target="/ppt/notesSlides/notesSlide7.xml" Id="R0f12f16befb44e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7b587ee3d404f4d" /><Relationship Type="http://schemas.openxmlformats.org/officeDocument/2006/relationships/notesSlide" Target="/ppt/notesSlides/notesSlide8.xml" Id="R0d8f6632322c4b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63b26be76fb4e2e" /><Relationship Type="http://schemas.openxmlformats.org/officeDocument/2006/relationships/chart" Target="/ppt/slides/charts/chart1.xml" Id="R5b6227420d4e4f21" /><Relationship Type="http://schemas.openxmlformats.org/officeDocument/2006/relationships/notesSlide" Target="/ppt/notesSlides/notesSlide9.xml" Id="R6fdb68715e794da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0509e444bb2497a" /><Relationship Type="http://schemas.openxmlformats.org/officeDocument/2006/relationships/chart" Target="/ppt/slides/charts/chart2.xml" Id="R65396f60df724241" /><Relationship Type="http://schemas.openxmlformats.org/officeDocument/2006/relationships/notesSlide" Target="/ppt/notesSlides/notesSlide10.xml" Id="R94c36ef4a2114a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0dc33d2d4334873" /><Relationship Type="http://schemas.openxmlformats.org/officeDocument/2006/relationships/notesSlide" Target="/ppt/notesSlides/notesSlide11.xml" Id="R9c3ef61b64a14d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27a84f377b84653" /><Relationship Type="http://schemas.openxmlformats.org/officeDocument/2006/relationships/notesSlide" Target="/ppt/notesSlides/notesSlide12.xml" Id="R0db51cc251de445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a30b269919e4c26" /><Relationship Type="http://schemas.openxmlformats.org/officeDocument/2006/relationships/notesSlide" Target="/ppt/notesSlides/notesSlide13.xml" Id="R28e9deb8f72a4bb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aa0b19a86364b56" /><Relationship Type="http://schemas.openxmlformats.org/officeDocument/2006/relationships/chart" Target="/ppt/slides/charts/chart3.xml" Id="R141d638b2c58443c" /><Relationship Type="http://schemas.openxmlformats.org/officeDocument/2006/relationships/notesSlide" Target="/ppt/notesSlides/notesSlide14.xml" Id="Re0ba4513f35e42d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0053a8dae1543e5" /><Relationship Type="http://schemas.openxmlformats.org/officeDocument/2006/relationships/notesSlide" Target="/ppt/notesSlides/notesSlide15.xml" Id="Ra8fe420f0a5e4b3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32984c585e74eda" /><Relationship Type="http://schemas.openxmlformats.org/officeDocument/2006/relationships/notesSlide" Target="/ppt/notesSlides/notesSlide16.xml" Id="R3db1b6c8f071411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6f528c2e64245c7" /><Relationship Type="http://schemas.openxmlformats.org/officeDocument/2006/relationships/notesSlide" Target="/ppt/notesSlides/notesSlide17.xml" Id="R90def742713f42c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e23fffc51064aa3" /><Relationship Type="http://schemas.openxmlformats.org/officeDocument/2006/relationships/notesSlide" Target="/ppt/notesSlides/notesSlide18.xml" Id="R674feb35234d47a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Correct</c:v>
          </c:tx>
          <c:spPr>
            <a:solidFill xmlns:a="http://schemas.openxmlformats.org/drawingml/2006/main">
              <a:srgbClr val="187D78"/>
            </a:solidFill>
          </c:spPr>
          <c:cat>
            <c:strRef>
              <c:f>'Chart Data'!$A$2:$A$4</c:f>
              <c:strCache>
                <c:ptCount val="3"/>
                <c:pt idx="0">
                  <c:v>B0</c:v>
                </c:pt>
                <c:pt idx="1">
                  <c:v>P1</c:v>
                </c:pt>
                <c:pt idx="2">
                  <c:v>P2</c:v>
                </c:pt>
              </c:strCache>
            </c:strRef>
          </c:cat>
          <c:val>
            <c:numRef>
              <c:f>'Chart Data'!$B$2:$B$4</c:f>
              <c:numCache>
                <c:formatCode>0</c:formatCode>
                <c:ptCount val="3"/>
                <c:pt idx="0">
                  <c:v>0</c:v>
                </c:pt>
                <c:pt idx="1">
                  <c:v>49</c:v>
                </c:pt>
                <c:pt idx="2">
                  <c:v>46</c:v>
                </c:pt>
              </c:numCache>
            </c:numRef>
          </c:val>
        </c:ser>
        <c:ser>
          <c:idx val="1"/>
          <c:order val="1"/>
          <c:tx>
            <c:v>Wrong</c:v>
          </c:tx>
          <c:spPr>
            <a:solidFill xmlns:a="http://schemas.openxmlformats.org/drawingml/2006/main">
              <a:srgbClr val="B44345"/>
            </a:solidFill>
          </c:spPr>
          <c:cat>
            <c:strRef>
              <c:f>'Chart Data'!$C$2:$C$4</c:f>
              <c:strCache>
                <c:ptCount val="3"/>
                <c:pt idx="0">
                  <c:v>B0</c:v>
                </c:pt>
                <c:pt idx="1">
                  <c:v>P1</c:v>
                </c:pt>
                <c:pt idx="2">
                  <c:v>P2</c:v>
                </c:pt>
              </c:strCache>
            </c:strRef>
          </c:cat>
          <c:val>
            <c:numRef>
              <c:f>'Chart Data'!$D$2:$D$4</c:f>
              <c:numCache>
                <c:formatCode>0</c:formatCode>
                <c:ptCount val="3"/>
                <c:pt idx="0">
                  <c:v>0</c:v>
                </c:pt>
                <c:pt idx="1">
                  <c:v>0</c:v>
                </c:pt>
                <c:pt idx="2">
                  <c:v>0</c:v>
                </c:pt>
              </c:numCache>
            </c:numRef>
          </c:val>
        </c:ser>
        <c:ser>
          <c:idx val="2"/>
          <c:order val="2"/>
          <c:tx>
            <c:v>Unresolved</c:v>
          </c:tx>
          <c:spPr>
            <a:solidFill xmlns:a="http://schemas.openxmlformats.org/drawingml/2006/main">
              <a:srgbClr val="BD7D20"/>
            </a:solidFill>
          </c:spPr>
          <c:cat>
            <c:strRef>
              <c:f>'Chart Data'!$E$2:$E$4</c:f>
              <c:strCache>
                <c:ptCount val="3"/>
                <c:pt idx="0">
                  <c:v>B0</c:v>
                </c:pt>
                <c:pt idx="1">
                  <c:v>P1</c:v>
                </c:pt>
                <c:pt idx="2">
                  <c:v>P2</c:v>
                </c:pt>
              </c:strCache>
            </c:strRef>
          </c:cat>
          <c:val>
            <c:numRef>
              <c:f>'Chart Data'!$F$2:$F$4</c:f>
              <c:numCache>
                <c:formatCode>0</c:formatCode>
                <c:ptCount val="3"/>
                <c:pt idx="0">
                  <c:v>49</c:v>
                </c:pt>
                <c:pt idx="1">
                  <c:v>0</c:v>
                </c:pt>
                <c:pt idx="2">
                  <c:v>3</c:v>
                </c:pt>
              </c:numCache>
            </c:numRef>
          </c:val>
        </c:ser>
        <c:dLbls>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0"/>
          <c:showCatName val="0"/>
          <c:showSerName val="0"/>
          <c:showPercent val="0"/>
          <c:showBubbleSize val="0"/>
          <c:showLeaderLines val="0"/>
        </c:dLbls>
        <c:gapWidth val="9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DDE4E9"/>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No-select</c:v>
          </c:tx>
          <c:spPr>
            <a:solidFill xmlns:a="http://schemas.openxmlformats.org/drawingml/2006/main">
              <a:srgbClr val="187D78"/>
            </a:solidFill>
          </c:spPr>
          <c:cat>
            <c:strRef>
              <c:f>'Chart Data'!$A$2:$A$4</c:f>
              <c:strCache>
                <c:ptCount val="3"/>
                <c:pt idx="0">
                  <c:v>B0</c:v>
                </c:pt>
                <c:pt idx="1">
                  <c:v>P1</c:v>
                </c:pt>
                <c:pt idx="2">
                  <c:v>P2</c:v>
                </c:pt>
              </c:strCache>
            </c:strRef>
          </c:cat>
          <c:val>
            <c:numRef>
              <c:f>'Chart Data'!$B$2:$B$4</c:f>
              <c:numCache>
                <c:formatCode>0</c:formatCode>
                <c:ptCount val="3"/>
                <c:pt idx="0">
                  <c:v>41</c:v>
                </c:pt>
                <c:pt idx="1">
                  <c:v>0</c:v>
                </c:pt>
                <c:pt idx="2">
                  <c:v>39</c:v>
                </c:pt>
              </c:numCache>
            </c:numRef>
          </c:val>
        </c:ser>
        <c:ser>
          <c:idx val="1"/>
          <c:order val="1"/>
          <c:tx>
            <c:v>False selection</c:v>
          </c:tx>
          <c:spPr>
            <a:solidFill xmlns:a="http://schemas.openxmlformats.org/drawingml/2006/main">
              <a:srgbClr val="B44345"/>
            </a:solidFill>
          </c:spPr>
          <c:cat>
            <c:strRef>
              <c:f>'Chart Data'!$C$2:$C$4</c:f>
              <c:strCache>
                <c:ptCount val="3"/>
                <c:pt idx="0">
                  <c:v>B0</c:v>
                </c:pt>
                <c:pt idx="1">
                  <c:v>P1</c:v>
                </c:pt>
                <c:pt idx="2">
                  <c:v>P2</c:v>
                </c:pt>
              </c:strCache>
            </c:strRef>
          </c:cat>
          <c:val>
            <c:numRef>
              <c:f>'Chart Data'!$D$2:$D$4</c:f>
              <c:numCache>
                <c:formatCode>0</c:formatCode>
                <c:ptCount val="3"/>
                <c:pt idx="0">
                  <c:v>0</c:v>
                </c:pt>
                <c:pt idx="1">
                  <c:v>41</c:v>
                </c:pt>
                <c:pt idx="2">
                  <c:v>2</c:v>
                </c:pt>
              </c:numCache>
            </c:numRef>
          </c:val>
        </c:ser>
        <c:dLbls>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0"/>
          <c:showCatName val="0"/>
          <c:showSerName val="0"/>
          <c:showPercent val="0"/>
          <c:showBubbleSize val="0"/>
          <c:showLeaderLines val="0"/>
        </c:dLbls>
        <c:gapWidth val="9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DDE4E9"/>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P2 no-select</c:v>
          </c:tx>
          <c:spPr>
            <a:solidFill xmlns:a="http://schemas.openxmlformats.org/drawingml/2006/main">
              <a:srgbClr val="526371"/>
            </a:solidFill>
          </c:spPr>
          <c:cat>
            <c:strRef>
              <c:f>'Chart Data'!$A$2:$A$3</c:f>
              <c:strCache>
                <c:ptCount val="2"/>
                <c:pt idx="0">
                  <c:v>P2 + S8 0,15</c:v>
                </c:pt>
                <c:pt idx="1">
                  <c:v>P2 + S8 0,23</c:v>
                </c:pt>
              </c:strCache>
            </c:strRef>
          </c:cat>
          <c:val>
            <c:numRef>
              <c:f>'Chart Data'!$B$2:$B$3</c:f>
              <c:numCache>
                <c:formatCode>0</c:formatCode>
                <c:ptCount val="2"/>
                <c:pt idx="0">
                  <c:v>200</c:v>
                </c:pt>
                <c:pt idx="1">
                  <c:v>200</c:v>
                </c:pt>
              </c:numCache>
            </c:numRef>
          </c:val>
        </c:ser>
        <c:ser>
          <c:idx val="1"/>
          <c:order val="1"/>
          <c:tx>
            <c:v>S8 reject</c:v>
          </c:tx>
          <c:spPr>
            <a:solidFill xmlns:a="http://schemas.openxmlformats.org/drawingml/2006/main">
              <a:srgbClr val="187D78"/>
            </a:solidFill>
          </c:spPr>
          <c:cat>
            <c:strRef>
              <c:f>'Chart Data'!$C$2:$C$3</c:f>
              <c:strCache>
                <c:ptCount val="2"/>
                <c:pt idx="0">
                  <c:v>P2 + S8 0,15</c:v>
                </c:pt>
                <c:pt idx="1">
                  <c:v>P2 + S8 0,23</c:v>
                </c:pt>
              </c:strCache>
            </c:strRef>
          </c:cat>
          <c:val>
            <c:numRef>
              <c:f>'Chart Data'!$D$2:$D$3</c:f>
              <c:numCache>
                <c:formatCode>0</c:formatCode>
                <c:ptCount val="2"/>
                <c:pt idx="0">
                  <c:v>2</c:v>
                </c:pt>
                <c:pt idx="1">
                  <c:v>30</c:v>
                </c:pt>
              </c:numCache>
            </c:numRef>
          </c:val>
        </c:ser>
        <c:ser>
          <c:idx val="2"/>
          <c:order val="2"/>
          <c:tx>
            <c:v>S8 accept</c:v>
          </c:tx>
          <c:spPr>
            <a:solidFill xmlns:a="http://schemas.openxmlformats.org/drawingml/2006/main">
              <a:srgbClr val="B44345"/>
            </a:solidFill>
          </c:spPr>
          <c:cat>
            <c:strRef>
              <c:f>'Chart Data'!$E$2:$E$3</c:f>
              <c:strCache>
                <c:ptCount val="2"/>
                <c:pt idx="0">
                  <c:v>P2 + S8 0,15</c:v>
                </c:pt>
                <c:pt idx="1">
                  <c:v>P2 + S8 0,23</c:v>
                </c:pt>
              </c:strCache>
            </c:strRef>
          </c:cat>
          <c:val>
            <c:numRef>
              <c:f>'Chart Data'!$F$2:$F$3</c:f>
              <c:numCache>
                <c:formatCode>0</c:formatCode>
                <c:ptCount val="2"/>
                <c:pt idx="0">
                  <c:v>36</c:v>
                </c:pt>
                <c:pt idx="1">
                  <c:v>8</c:v>
                </c:pt>
              </c:numCache>
            </c:numRef>
          </c:val>
        </c:ser>
        <c:dLbls>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0"/>
          <c:showCatName val="0"/>
          <c:showSerName val="0"/>
          <c:showPercent val="0"/>
          <c:showBubbleSize val="0"/>
          <c:showLeaderLines val="0"/>
        </c:dLbls>
        <c:gapWidth val="9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Arial"/>
                <a:ea typeface="Arial"/>
                <a:cs typeface="Arial"/>
              </a:defRPr>
            </a:pPr>
          </a:p>
        </c:txPr>
        <c:crossAx val="48672768"/>
      </c:catAx>
      <c:valAx>
        <c:axId val="48672768"/>
        <c:scaling>
          <c:orientation val="minMax"/>
          <c:max val="250"/>
          <c:min val="0"/>
        </c:scaling>
        <c:delete val="0"/>
        <c:axPos val="l"/>
        <c:majorGridlines>
          <c:spPr>
            <a:ln xmlns:a="http://schemas.openxmlformats.org/drawingml/2006/main" w="9525">
              <a:solidFill>
                <a:srgbClr val="DDE4E9"/>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66CCD4-9BD8-4B68-83CF-348211B7C6D1}"/>
              </a:ext>
            </a:extLst>
          </p:cNvPr>
          <p:cNvSpPr>
            <a:spLocks xmlns:a="http://schemas.openxmlformats.org/drawingml/2006/main" noGrp="1"/>
          </p:cNvSpPr>
          <p:nvPr/>
        </p:nvSpPr>
        <p:spPr>
          <a:xfrm xmlns:a="http://schemas.openxmlformats.org/drawingml/2006/main">
            <a:off x="609600" y="247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87D78"/>
                </a:solidFill>
                <a:latin typeface="Arial"/>
                <a:ea typeface="Arial"/>
                <a:cs typeface="Arial"/>
              </a:defRPr>
            </a:pPr>
            <a:r>
              <a:rPr sz="1350" b="1">
                <a:solidFill>
                  <a:srgbClr val="187D78"/>
                </a:solidFill>
                <a:latin typeface="Arial"/>
                <a:ea typeface="Arial"/>
                <a:cs typeface="Arial"/>
              </a:rPr>
              <a:t>BÁO CÁO TIẾN ĐỘ NGHIÊN CỨU</a:t>
            </a:r>
          </a:p>
        </p:txBody>
      </p:sp>
      <p:sp>
        <p:nvSpPr>
          <p:cNvPr id="2" name="">
            <a:extLst xmlns:a="http://schemas.openxmlformats.org/drawingml/2006/main">
              <a:ext uri="{FF2B5EF4-FFF2-40B4-BE49-F238E27FC236}">
                <a16:creationId xmlns:a16="http://schemas.microsoft.com/office/drawing/2014/main" id="{9C6DD1C8-5580-4532-A981-5709518C4628}"/>
              </a:ext>
            </a:extLst>
          </p:cNvPr>
          <p:cNvSpPr>
            <a:spLocks xmlns:a="http://schemas.openxmlformats.org/drawingml/2006/main" noGrp="1"/>
          </p:cNvSpPr>
          <p:nvPr/>
        </p:nvSpPr>
        <p:spPr>
          <a:xfrm xmlns:a="http://schemas.openxmlformats.org/drawingml/2006/main">
            <a:off x="609600" y="7239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2D40"/>
                </a:solidFill>
                <a:latin typeface="Arial"/>
                <a:ea typeface="Arial"/>
                <a:cs typeface="Arial"/>
              </a:defRPr>
            </a:pPr>
            <a:r>
              <a:rPr sz="3225" b="1">
                <a:solidFill>
                  <a:srgbClr val="182D40"/>
                </a:solidFill>
                <a:latin typeface="Arial"/>
                <a:ea typeface="Arial"/>
                <a:cs typeface="Arial"/>
              </a:rPr>
              <a:t>Từ bài toán cửa phòng thi</a:t>
            </a:r>
          </a:p>
          <a:p xmlns:a="http://schemas.openxmlformats.org/drawingml/2006/main">
            <a:pPr>
              <a:defRPr sz="3225" b="1">
                <a:solidFill>
                  <a:srgbClr val="182D40"/>
                </a:solidFill>
                <a:latin typeface="Arial"/>
                <a:ea typeface="Arial"/>
                <a:cs typeface="Arial"/>
              </a:defRPr>
            </a:pPr>
            <a:r>
              <a:rPr sz="3225" b="1">
                <a:solidFill>
                  <a:srgbClr val="182D40"/>
                </a:solidFill>
                <a:latin typeface="Arial"/>
                <a:ea typeface="Arial"/>
                <a:cs typeface="Arial"/>
              </a:rPr>
              <a:t>đến cải thiện S4 và S8</a:t>
            </a:r>
          </a:p>
        </p:txBody>
      </p:sp>
      <p:sp>
        <p:nvSpPr>
          <p:cNvPr id="3" name="">
            <a:extLst xmlns:a="http://schemas.openxmlformats.org/drawingml/2006/main">
              <a:ext uri="{FF2B5EF4-FFF2-40B4-BE49-F238E27FC236}">
                <a16:creationId xmlns:a16="http://schemas.microsoft.com/office/drawing/2014/main" id="{C23E431E-389E-46F4-BBD7-D27167D8E4FB}"/>
              </a:ext>
            </a:extLst>
          </p:cNvPr>
          <p:cNvSpPr>
            <a:spLocks xmlns:a="http://schemas.openxmlformats.org/drawingml/2006/main" noGrp="1"/>
          </p:cNvSpPr>
          <p:nvPr/>
        </p:nvSpPr>
        <p:spPr>
          <a:xfrm xmlns:a="http://schemas.openxmlformats.org/drawingml/2006/main">
            <a:off x="609600" y="63912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371"/>
                </a:solidFill>
                <a:latin typeface="Arial"/>
                <a:ea typeface="Arial"/>
                <a:cs typeface="Arial"/>
              </a:defRPr>
            </a:pPr>
            <a:r>
              <a:rPr sz="1200" b="0">
                <a:solidFill>
                  <a:srgbClr val="526371"/>
                </a:solidFill>
                <a:latin typeface="Arial"/>
                <a:ea typeface="Arial"/>
                <a:cs typeface="Arial"/>
              </a:rPr>
              <a:t>DATN • Quốc An &amp; Minh Hy  |  01.10.2026</a:t>
            </a:r>
          </a:p>
        </p:txBody>
      </p:sp>
      <p:sp>
        <p:nvSpPr>
          <p:cNvPr id="4" name="">
            <a:extLst xmlns:a="http://schemas.openxmlformats.org/drawingml/2006/main">
              <a:ext uri="{FF2B5EF4-FFF2-40B4-BE49-F238E27FC236}">
                <a16:creationId xmlns:a16="http://schemas.microsoft.com/office/drawing/2014/main" id="{2F4DB3C0-FBB4-4380-870D-7AFDCDC0BCA2}"/>
              </a:ext>
            </a:extLst>
          </p:cNvPr>
          <p:cNvSpPr>
            <a:spLocks xmlns:a="http://schemas.openxmlformats.org/drawingml/2006/main" noGrp="1"/>
          </p:cNvSpPr>
          <p:nvPr/>
        </p:nvSpPr>
        <p:spPr>
          <a:xfrm xmlns:a="http://schemas.openxmlformats.org/drawingml/2006/main">
            <a:off x="11049000" y="63722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371"/>
                </a:solidFill>
                <a:latin typeface="Arial"/>
                <a:ea typeface="Arial"/>
                <a:cs typeface="Arial"/>
              </a:defRPr>
            </a:pPr>
            <a:r>
              <a:rPr sz="1425" b="0">
                <a:solidFill>
                  <a:srgbClr val="526371"/>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384D411-8095-41FE-9BBC-124961CF36D2}"/>
              </a:ext>
            </a:extLst>
          </p:cNvPr>
          <p:cNvSpPr>
            <a:spLocks xmlns:a="http://schemas.openxmlformats.org/drawingml/2006/main" noGrp="1"/>
          </p:cNvSpPr>
          <p:nvPr/>
        </p:nvSpPr>
        <p:spPr>
          <a:xfrm xmlns:a="http://schemas.openxmlformats.org/drawingml/2006/main">
            <a:off x="60960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371"/>
                </a:solidFill>
                <a:latin typeface="Arial"/>
                <a:ea typeface="Arial"/>
                <a:cs typeface="Arial"/>
              </a:defRPr>
            </a:pPr>
            <a:r>
              <a:rPr sz="1125" b="0">
                <a:solidFill>
                  <a:srgbClr val="526371"/>
                </a:solidFill>
                <a:latin typeface="Arial"/>
                <a:ea typeface="Arial"/>
                <a:cs typeface="Arial"/>
              </a:rPr>
              <a:t>Nguồn: T-024-research-logic.md</a:t>
            </a:r>
          </a:p>
        </p:txBody>
      </p:sp>
      <p:sp>
        <p:nvSpPr>
          <p:cNvPr id="6" name="">
            <a:extLst xmlns:a="http://schemas.openxmlformats.org/drawingml/2006/main">
              <a:ext uri="{FF2B5EF4-FFF2-40B4-BE49-F238E27FC236}">
                <a16:creationId xmlns:a16="http://schemas.microsoft.com/office/drawing/2014/main" id="{7986CC75-2E08-4AA2-8D45-C6F61FC5C5B8}"/>
              </a:ext>
            </a:extLst>
          </p:cNvPr>
          <p:cNvSpPr>
            <a:spLocks xmlns:a="http://schemas.openxmlformats.org/drawingml/2006/main" noGrp="1"/>
          </p:cNvSpPr>
          <p:nvPr/>
        </p:nvSpPr>
        <p:spPr>
          <a:xfrm xmlns:a="http://schemas.openxmlformats.org/drawingml/2006/main">
            <a:off x="647700" y="262890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7D78"/>
                </a:solidFill>
                <a:latin typeface="Arial"/>
                <a:ea typeface="Arial"/>
                <a:cs typeface="Arial"/>
              </a:defRPr>
            </a:pPr>
            <a:r>
              <a:rPr sz="2550" b="1">
                <a:solidFill>
                  <a:srgbClr val="187D78"/>
                </a:solidFill>
                <a:latin typeface="Arial"/>
                <a:ea typeface="Arial"/>
                <a:cs typeface="Arial"/>
              </a:rPr>
              <a:t>Bài toán → baseline → failure → cải thiện → evidence → app</a:t>
            </a:r>
          </a:p>
        </p:txBody>
      </p:sp>
      <p:sp>
        <p:nvSpPr>
          <p:cNvPr id="7" name="">
            <a:extLst xmlns:a="http://schemas.openxmlformats.org/drawingml/2006/main">
              <a:ext uri="{FF2B5EF4-FFF2-40B4-BE49-F238E27FC236}">
                <a16:creationId xmlns:a16="http://schemas.microsoft.com/office/drawing/2014/main" id="{653F1C36-C0F5-4B28-B1DC-C324AB9EB58F}"/>
              </a:ext>
            </a:extLst>
          </p:cNvPr>
          <p:cNvSpPr>
            <a:spLocks xmlns:a="http://schemas.openxmlformats.org/drawingml/2006/main" noGrp="1"/>
          </p:cNvSpPr>
          <p:nvPr/>
        </p:nvSpPr>
        <p:spPr>
          <a:xfrm xmlns:a="http://schemas.openxmlformats.org/drawingml/2006/main">
            <a:off x="647700" y="409575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0"/>
                </a:solidFill>
                <a:latin typeface="Arial"/>
                <a:ea typeface="Arial"/>
                <a:cs typeface="Arial"/>
              </a:defRPr>
            </a:pPr>
            <a:r>
              <a:rPr sz="2175" b="0">
                <a:solidFill>
                  <a:srgbClr val="182D40"/>
                </a:solidFill>
                <a:latin typeface="Arial"/>
                <a:ea typeface="Arial"/>
                <a:cs typeface="Arial"/>
              </a:rPr>
              <a:t>Quốc An: nghiên cứu AI/pipeline</a:t>
            </a:r>
          </a:p>
          <a:p xmlns:a="http://schemas.openxmlformats.org/drawingml/2006/main">
            <a:pPr>
              <a:defRPr sz="2175" b="0">
                <a:solidFill>
                  <a:srgbClr val="182D40"/>
                </a:solidFill>
                <a:latin typeface="Arial"/>
                <a:ea typeface="Arial"/>
                <a:cs typeface="Arial"/>
              </a:defRPr>
            </a:pPr>
            <a:r>
              <a:rPr sz="2175" b="0">
                <a:solidFill>
                  <a:srgbClr val="182D40"/>
                </a:solidFill>
                <a:latin typeface="Arial"/>
                <a:ea typeface="Arial"/>
                <a:cs typeface="Arial"/>
              </a:rPr>
              <a:t>Minh Hy: application/integration</a:t>
            </a:r>
          </a:p>
        </p:txBody>
      </p:sp>
      <p:sp>
        <p:nvSpPr>
          <p:cNvPr id="8" name="">
            <a:extLst xmlns:a="http://schemas.openxmlformats.org/drawingml/2006/main">
              <a:ext uri="{FF2B5EF4-FFF2-40B4-BE49-F238E27FC236}">
                <a16:creationId xmlns:a16="http://schemas.microsoft.com/office/drawing/2014/main" id="{D48D8768-A9B7-4FD5-8B02-38AE8AC83F43}"/>
              </a:ext>
            </a:extLst>
          </p:cNvPr>
          <p:cNvSpPr>
            <a:spLocks xmlns:a="http://schemas.openxmlformats.org/drawingml/2006/main" noGrp="1"/>
          </p:cNvSpPr>
          <p:nvPr/>
        </p:nvSpPr>
        <p:spPr>
          <a:xfrm xmlns:a="http://schemas.openxmlformats.org/drawingml/2006/main">
            <a:off x="647700" y="53530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371"/>
                </a:solidFill>
                <a:latin typeface="Arial"/>
                <a:ea typeface="Arial"/>
                <a:cs typeface="Arial"/>
              </a:defRPr>
            </a:pPr>
            <a:r>
              <a:rPr sz="1800" b="0">
                <a:solidFill>
                  <a:srgbClr val="526371"/>
                </a:solidFill>
                <a:latin typeface="Arial"/>
                <a:ea typeface="Arial"/>
                <a:cs typeface="Arial"/>
              </a:rPr>
              <a:t>10–12 phút • Số liệu có mẫu số • Kết quả proxy, không FAR thực địa</a:t>
            </a:r>
          </a:p>
        </p:txBody>
      </p:sp>
    </p:spTree>
    <p:extLst>
      <p:ext uri="{BB962C8B-B14F-4D97-AF65-F5344CB8AC3E}">
        <p14:creationId xmlns:p14="http://schemas.microsoft.com/office/powerpoint/2010/main" val="590476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D9C122D-F2E3-46E2-91EA-86593A0CCEE0}"/>
              </a:ext>
            </a:extLst>
          </p:cNvPr>
          <p:cNvSpPr>
            <a:spLocks xmlns:a="http://schemas.openxmlformats.org/drawingml/2006/main" noGrp="1"/>
          </p:cNvSpPr>
          <p:nvPr/>
        </p:nvSpPr>
        <p:spPr>
          <a:xfrm xmlns:a="http://schemas.openxmlformats.org/drawingml/2006/main">
            <a:off x="609600" y="247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87D78"/>
                </a:solidFill>
                <a:latin typeface="Arial"/>
                <a:ea typeface="Arial"/>
                <a:cs typeface="Arial"/>
              </a:defRPr>
            </a:pPr>
            <a:r>
              <a:rPr sz="1350" b="1">
                <a:solidFill>
                  <a:srgbClr val="187D78"/>
                </a:solidFill>
                <a:latin typeface="Arial"/>
                <a:ea typeface="Arial"/>
                <a:cs typeface="Arial"/>
              </a:rPr>
              <a:t>01 • BUSINESS PROBLEM</a:t>
            </a:r>
          </a:p>
        </p:txBody>
      </p:sp>
      <p:sp>
        <p:nvSpPr>
          <p:cNvPr id="2" name="">
            <a:extLst xmlns:a="http://schemas.openxmlformats.org/drawingml/2006/main">
              <a:ext uri="{FF2B5EF4-FFF2-40B4-BE49-F238E27FC236}">
                <a16:creationId xmlns:a16="http://schemas.microsoft.com/office/drawing/2014/main" id="{018599AC-70D2-448A-B106-DD7E5DE1D446}"/>
              </a:ext>
            </a:extLst>
          </p:cNvPr>
          <p:cNvSpPr>
            <a:spLocks xmlns:a="http://schemas.openxmlformats.org/drawingml/2006/main" noGrp="1"/>
          </p:cNvSpPr>
          <p:nvPr/>
        </p:nvSpPr>
        <p:spPr>
          <a:xfrm xmlns:a="http://schemas.openxmlformats.org/drawingml/2006/main">
            <a:off x="609600" y="7239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2D40"/>
                </a:solidFill>
                <a:latin typeface="Arial"/>
                <a:ea typeface="Arial"/>
                <a:cs typeface="Arial"/>
              </a:defRPr>
            </a:pPr>
            <a:r>
              <a:rPr sz="3225" b="1">
                <a:solidFill>
                  <a:srgbClr val="182D40"/>
                </a:solidFill>
                <a:latin typeface="Arial"/>
                <a:ea typeface="Arial"/>
                <a:cs typeface="Arial"/>
              </a:rPr>
              <a:t>Thiết bị ở cửa phục vụ vấn đề gì?</a:t>
            </a:r>
          </a:p>
        </p:txBody>
      </p:sp>
      <p:sp>
        <p:nvSpPr>
          <p:cNvPr id="3" name="">
            <a:extLst xmlns:a="http://schemas.openxmlformats.org/drawingml/2006/main">
              <a:ext uri="{FF2B5EF4-FFF2-40B4-BE49-F238E27FC236}">
                <a16:creationId xmlns:a16="http://schemas.microsoft.com/office/drawing/2014/main" id="{E1E1831C-9E63-4A3A-93C5-2AFC0CA83823}"/>
              </a:ext>
            </a:extLst>
          </p:cNvPr>
          <p:cNvSpPr>
            <a:spLocks xmlns:a="http://schemas.openxmlformats.org/drawingml/2006/main" noGrp="1"/>
          </p:cNvSpPr>
          <p:nvPr/>
        </p:nvSpPr>
        <p:spPr>
          <a:xfrm xmlns:a="http://schemas.openxmlformats.org/drawingml/2006/main">
            <a:off x="609600" y="63912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371"/>
                </a:solidFill>
                <a:latin typeface="Arial"/>
                <a:ea typeface="Arial"/>
                <a:cs typeface="Arial"/>
              </a:defRPr>
            </a:pPr>
            <a:r>
              <a:rPr sz="1200" b="0">
                <a:solidFill>
                  <a:srgbClr val="526371"/>
                </a:solidFill>
                <a:latin typeface="Arial"/>
                <a:ea typeface="Arial"/>
                <a:cs typeface="Arial"/>
              </a:rPr>
              <a:t>DATN • Quốc An &amp; Minh Hy  |  01.10.2026</a:t>
            </a:r>
          </a:p>
        </p:txBody>
      </p:sp>
      <p:sp>
        <p:nvSpPr>
          <p:cNvPr id="4" name="">
            <a:extLst xmlns:a="http://schemas.openxmlformats.org/drawingml/2006/main">
              <a:ext uri="{FF2B5EF4-FFF2-40B4-BE49-F238E27FC236}">
                <a16:creationId xmlns:a16="http://schemas.microsoft.com/office/drawing/2014/main" id="{EA24BB6A-C087-4A53-84DD-D9444AB09193}"/>
              </a:ext>
            </a:extLst>
          </p:cNvPr>
          <p:cNvSpPr>
            <a:spLocks xmlns:a="http://schemas.openxmlformats.org/drawingml/2006/main" noGrp="1"/>
          </p:cNvSpPr>
          <p:nvPr/>
        </p:nvSpPr>
        <p:spPr>
          <a:xfrm xmlns:a="http://schemas.openxmlformats.org/drawingml/2006/main">
            <a:off x="11049000" y="63722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371"/>
                </a:solidFill>
                <a:latin typeface="Arial"/>
                <a:ea typeface="Arial"/>
                <a:cs typeface="Arial"/>
              </a:defRPr>
            </a:pPr>
            <a:r>
              <a:rPr sz="1425" b="0">
                <a:solidFill>
                  <a:srgbClr val="526371"/>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B6BEA3AB-FD9A-4474-8A91-8E61A8F970DA}"/>
              </a:ext>
            </a:extLst>
          </p:cNvPr>
          <p:cNvSpPr>
            <a:spLocks xmlns:a="http://schemas.openxmlformats.org/drawingml/2006/main" noGrp="1"/>
          </p:cNvSpPr>
          <p:nvPr/>
        </p:nvSpPr>
        <p:spPr>
          <a:xfrm xmlns:a="http://schemas.openxmlformats.org/drawingml/2006/main">
            <a:off x="60960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371"/>
                </a:solidFill>
                <a:latin typeface="Arial"/>
                <a:ea typeface="Arial"/>
                <a:cs typeface="Arial"/>
              </a:defRPr>
            </a:pPr>
            <a:r>
              <a:rPr sz="1125" b="0">
                <a:solidFill>
                  <a:srgbClr val="526371"/>
                </a:solidFill>
                <a:latin typeface="Arial"/>
                <a:ea typeface="Arial"/>
                <a:cs typeface="Arial"/>
              </a:rPr>
              <a:t>Nguồn: T-004-D-001-chon-bai-toan-cua-phong-thi.md</a:t>
            </a:r>
          </a:p>
        </p:txBody>
      </p:sp>
      <p:sp>
        <p:nvSpPr>
          <p:cNvPr id="6" name="">
            <a:extLst xmlns:a="http://schemas.openxmlformats.org/drawingml/2006/main">
              <a:ext uri="{FF2B5EF4-FFF2-40B4-BE49-F238E27FC236}">
                <a16:creationId xmlns:a16="http://schemas.microsoft.com/office/drawing/2014/main" id="{CAF5C313-1383-4B5C-8E0F-FA29FCD543A5}"/>
              </a:ext>
            </a:extLst>
          </p:cNvPr>
          <p:cNvSpPr>
            <a:spLocks xmlns:a="http://schemas.openxmlformats.org/drawingml/2006/main" noGrp="1"/>
          </p:cNvSpPr>
          <p:nvPr/>
        </p:nvSpPr>
        <p:spPr>
          <a:xfrm xmlns:a="http://schemas.openxmlformats.org/drawingml/2006/main">
            <a:off x="742950" y="20002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D40"/>
                </a:solidFill>
                <a:latin typeface="Arial"/>
                <a:ea typeface="Arial"/>
                <a:cs typeface="Arial"/>
              </a:defRPr>
            </a:pPr>
            <a:r>
              <a:rPr sz="2250" b="0">
                <a:solidFill>
                  <a:srgbClr val="182D40"/>
                </a:solidFill>
                <a:latin typeface="Arial"/>
                <a:ea typeface="Arial"/>
                <a:cs typeface="Arial"/>
              </a:rPr>
              <a:t>Đối chiếu người đến với hồ sơ, ca và phòng.</a:t>
            </a:r>
          </a:p>
        </p:txBody>
      </p:sp>
      <p:sp>
        <p:nvSpPr>
          <p:cNvPr id="7" name="">
            <a:extLst xmlns:a="http://schemas.openxmlformats.org/drawingml/2006/main">
              <a:ext uri="{FF2B5EF4-FFF2-40B4-BE49-F238E27FC236}">
                <a16:creationId xmlns:a16="http://schemas.microsoft.com/office/drawing/2014/main" id="{4AB39E43-B287-4A79-BAF3-D2A2F5078CB1}"/>
              </a:ext>
            </a:extLst>
          </p:cNvPr>
          <p:cNvSpPr>
            <a:spLocks xmlns:a="http://schemas.openxmlformats.org/drawingml/2006/main" noGrp="1"/>
          </p:cNvSpPr>
          <p:nvPr/>
        </p:nvSpPr>
        <p:spPr>
          <a:xfrm xmlns:a="http://schemas.openxmlformats.org/drawingml/2006/main">
            <a:off x="742950" y="2800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D40"/>
                </a:solidFill>
                <a:latin typeface="Arial"/>
                <a:ea typeface="Arial"/>
                <a:cs typeface="Arial"/>
              </a:defRPr>
            </a:pPr>
            <a:r>
              <a:rPr sz="2250" b="0">
                <a:solidFill>
                  <a:srgbClr val="182D40"/>
                </a:solidFill>
                <a:latin typeface="Arial"/>
                <a:ea typeface="Arial"/>
                <a:cs typeface="Arial"/>
              </a:rPr>
              <a:t>Hỗ trợ ghi check-in; xử lý sai phòng, đến muộn, ngoại lệ.</a:t>
            </a:r>
          </a:p>
        </p:txBody>
      </p:sp>
      <p:sp>
        <p:nvSpPr>
          <p:cNvPr id="8" name="">
            <a:extLst xmlns:a="http://schemas.openxmlformats.org/drawingml/2006/main">
              <a:ext uri="{FF2B5EF4-FFF2-40B4-BE49-F238E27FC236}">
                <a16:creationId xmlns:a16="http://schemas.microsoft.com/office/drawing/2014/main" id="{76D78050-699C-4B36-B2C8-AB9C9E903B15}"/>
              </a:ext>
            </a:extLst>
          </p:cNvPr>
          <p:cNvSpPr>
            <a:spLocks xmlns:a="http://schemas.openxmlformats.org/drawingml/2006/main" noGrp="1"/>
          </p:cNvSpPr>
          <p:nvPr/>
        </p:nvSpPr>
        <p:spPr>
          <a:xfrm xmlns:a="http://schemas.openxmlformats.org/drawingml/2006/main">
            <a:off x="742950" y="36004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D40"/>
                </a:solidFill>
                <a:latin typeface="Arial"/>
                <a:ea typeface="Arial"/>
                <a:cs typeface="Arial"/>
              </a:defRPr>
            </a:pPr>
            <a:r>
              <a:rPr sz="2250" b="0">
                <a:solidFill>
                  <a:srgbClr val="182D40"/>
                </a:solidFill>
                <a:latin typeface="Arial"/>
                <a:ea typeface="Arial"/>
                <a:cs typeface="Arial"/>
              </a:rPr>
              <a:t>Mục tiêu: giảm thao tác thủ công thường lệ, giữ khả năng truy vết.</a:t>
            </a:r>
          </a:p>
        </p:txBody>
      </p:sp>
      <p:sp>
        <p:nvSpPr>
          <p:cNvPr id="9" name="">
            <a:extLst xmlns:a="http://schemas.openxmlformats.org/drawingml/2006/main">
              <a:ext uri="{FF2B5EF4-FFF2-40B4-BE49-F238E27FC236}">
                <a16:creationId xmlns:a16="http://schemas.microsoft.com/office/drawing/2014/main" id="{DFB23A5E-319C-4E8A-9C03-7F2F1B1D61D3}"/>
              </a:ext>
            </a:extLst>
          </p:cNvPr>
          <p:cNvSpPr>
            <a:spLocks xmlns:a="http://schemas.openxmlformats.org/drawingml/2006/main" noGrp="1"/>
          </p:cNvSpPr>
          <p:nvPr/>
        </p:nvSpPr>
        <p:spPr>
          <a:xfrm xmlns:a="http://schemas.openxmlformats.org/drawingml/2006/main">
            <a:off x="742950" y="44005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D40"/>
                </a:solidFill>
                <a:latin typeface="Arial"/>
                <a:ea typeface="Arial"/>
                <a:cs typeface="Arial"/>
              </a:defRPr>
            </a:pPr>
            <a:r>
              <a:rPr sz="2250" b="0">
                <a:solidFill>
                  <a:srgbClr val="182D40"/>
                </a:solidFill>
                <a:latin typeface="Arial"/>
                <a:ea typeface="Arial"/>
                <a:cs typeface="Arial"/>
              </a:rPr>
              <a:t>Chưa chọn kỳ thi cụ thể; chưa đo mức giảm nhân sự.</a:t>
            </a:r>
          </a:p>
        </p:txBody>
      </p:sp>
    </p:spTree>
    <p:extLst>
      <p:ext uri="{BB962C8B-B14F-4D97-AF65-F5344CB8AC3E}">
        <p14:creationId xmlns:p14="http://schemas.microsoft.com/office/powerpoint/2010/main" val="149585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71854C1-3FB8-4DCB-8B45-C5ACB10C53BC}"/>
              </a:ext>
            </a:extLst>
          </p:cNvPr>
          <p:cNvSpPr>
            <a:spLocks xmlns:a="http://schemas.openxmlformats.org/drawingml/2006/main" noGrp="1"/>
          </p:cNvSpPr>
          <p:nvPr/>
        </p:nvSpPr>
        <p:spPr>
          <a:xfrm xmlns:a="http://schemas.openxmlformats.org/drawingml/2006/main">
            <a:off x="609600" y="247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87D78"/>
                </a:solidFill>
                <a:latin typeface="Arial"/>
                <a:ea typeface="Arial"/>
                <a:cs typeface="Arial"/>
              </a:defRPr>
            </a:pPr>
            <a:r>
              <a:rPr sz="1350" b="1">
                <a:solidFill>
                  <a:srgbClr val="187D78"/>
                </a:solidFill>
                <a:latin typeface="Arial"/>
                <a:ea typeface="Arial"/>
                <a:cs typeface="Arial"/>
              </a:rPr>
              <a:t>02 • SCOPE &amp; AUTHORITY</a:t>
            </a:r>
          </a:p>
        </p:txBody>
      </p:sp>
      <p:sp>
        <p:nvSpPr>
          <p:cNvPr id="2" name="">
            <a:extLst xmlns:a="http://schemas.openxmlformats.org/drawingml/2006/main">
              <a:ext uri="{FF2B5EF4-FFF2-40B4-BE49-F238E27FC236}">
                <a16:creationId xmlns:a16="http://schemas.microsoft.com/office/drawing/2014/main" id="{354994DE-C441-4D2B-B414-A98AC6F92507}"/>
              </a:ext>
            </a:extLst>
          </p:cNvPr>
          <p:cNvSpPr>
            <a:spLocks xmlns:a="http://schemas.openxmlformats.org/drawingml/2006/main" noGrp="1"/>
          </p:cNvSpPr>
          <p:nvPr/>
        </p:nvSpPr>
        <p:spPr>
          <a:xfrm xmlns:a="http://schemas.openxmlformats.org/drawingml/2006/main">
            <a:off x="609600" y="7239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2D40"/>
                </a:solidFill>
                <a:latin typeface="Arial"/>
                <a:ea typeface="Arial"/>
                <a:cs typeface="Arial"/>
              </a:defRPr>
            </a:pPr>
            <a:r>
              <a:rPr sz="3225" b="1">
                <a:solidFill>
                  <a:srgbClr val="182D40"/>
                </a:solidFill>
                <a:latin typeface="Arial"/>
                <a:ea typeface="Arial"/>
                <a:cs typeface="Arial"/>
              </a:rPr>
              <a:t>Khai SBD không đồng nghĩa xác minh danh tính</a:t>
            </a:r>
          </a:p>
        </p:txBody>
      </p:sp>
      <p:sp>
        <p:nvSpPr>
          <p:cNvPr id="3" name="">
            <a:extLst xmlns:a="http://schemas.openxmlformats.org/drawingml/2006/main">
              <a:ext uri="{FF2B5EF4-FFF2-40B4-BE49-F238E27FC236}">
                <a16:creationId xmlns:a16="http://schemas.microsoft.com/office/drawing/2014/main" id="{7FE2E529-3047-406A-A6F3-8C1D2817B8DF}"/>
              </a:ext>
            </a:extLst>
          </p:cNvPr>
          <p:cNvSpPr>
            <a:spLocks xmlns:a="http://schemas.openxmlformats.org/drawingml/2006/main" noGrp="1"/>
          </p:cNvSpPr>
          <p:nvPr/>
        </p:nvSpPr>
        <p:spPr>
          <a:xfrm xmlns:a="http://schemas.openxmlformats.org/drawingml/2006/main">
            <a:off x="609600" y="63912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371"/>
                </a:solidFill>
                <a:latin typeface="Arial"/>
                <a:ea typeface="Arial"/>
                <a:cs typeface="Arial"/>
              </a:defRPr>
            </a:pPr>
            <a:r>
              <a:rPr sz="1200" b="0">
                <a:solidFill>
                  <a:srgbClr val="526371"/>
                </a:solidFill>
                <a:latin typeface="Arial"/>
                <a:ea typeface="Arial"/>
                <a:cs typeface="Arial"/>
              </a:rPr>
              <a:t>DATN • Quốc An &amp; Minh Hy  |  01.10.2026</a:t>
            </a:r>
          </a:p>
        </p:txBody>
      </p:sp>
      <p:sp>
        <p:nvSpPr>
          <p:cNvPr id="4" name="">
            <a:extLst xmlns:a="http://schemas.openxmlformats.org/drawingml/2006/main">
              <a:ext uri="{FF2B5EF4-FFF2-40B4-BE49-F238E27FC236}">
                <a16:creationId xmlns:a16="http://schemas.microsoft.com/office/drawing/2014/main" id="{E809625A-A7C1-4522-B846-8956B8232641}"/>
              </a:ext>
            </a:extLst>
          </p:cNvPr>
          <p:cNvSpPr>
            <a:spLocks xmlns:a="http://schemas.openxmlformats.org/drawingml/2006/main" noGrp="1"/>
          </p:cNvSpPr>
          <p:nvPr/>
        </p:nvSpPr>
        <p:spPr>
          <a:xfrm xmlns:a="http://schemas.openxmlformats.org/drawingml/2006/main">
            <a:off x="11049000" y="63722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371"/>
                </a:solidFill>
                <a:latin typeface="Arial"/>
                <a:ea typeface="Arial"/>
                <a:cs typeface="Arial"/>
              </a:defRPr>
            </a:pPr>
            <a:r>
              <a:rPr sz="1425" b="0">
                <a:solidFill>
                  <a:srgbClr val="526371"/>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17F17907-6A7E-4076-AEE3-E4C3C3A481C6}"/>
              </a:ext>
            </a:extLst>
          </p:cNvPr>
          <p:cNvSpPr>
            <a:spLocks xmlns:a="http://schemas.openxmlformats.org/drawingml/2006/main" noGrp="1"/>
          </p:cNvSpPr>
          <p:nvPr/>
        </p:nvSpPr>
        <p:spPr>
          <a:xfrm xmlns:a="http://schemas.openxmlformats.org/drawingml/2006/main">
            <a:off x="60960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371"/>
                </a:solidFill>
                <a:latin typeface="Arial"/>
                <a:ea typeface="Arial"/>
                <a:cs typeface="Arial"/>
              </a:defRPr>
            </a:pPr>
            <a:r>
              <a:rPr sz="1125" b="0">
                <a:solidFill>
                  <a:srgbClr val="526371"/>
                </a:solidFill>
                <a:latin typeface="Arial"/>
                <a:ea typeface="Arial"/>
                <a:cs typeface="Arial"/>
              </a:rPr>
              <a:t>Nguồn: T-008-requirements.md  |  T-008-D-003-chap-nhan-baseline-nghien-cuu.md</a:t>
            </a:r>
          </a:p>
        </p:txBody>
      </p:sp>
      <p:sp>
        <p:nvSpPr>
          <p:cNvPr id="6" name="">
            <a:extLst xmlns:a="http://schemas.openxmlformats.org/drawingml/2006/main">
              <a:ext uri="{FF2B5EF4-FFF2-40B4-BE49-F238E27FC236}">
                <a16:creationId xmlns:a16="http://schemas.microsoft.com/office/drawing/2014/main" id="{16EA4B42-5E7D-4B1B-BF5A-28A915DB0BF6}"/>
              </a:ext>
            </a:extLst>
          </p:cNvPr>
          <p:cNvSpPr>
            <a:spLocks xmlns:a="http://schemas.openxmlformats.org/drawingml/2006/main" noGrp="1"/>
          </p:cNvSpPr>
          <p:nvPr/>
        </p:nvSpPr>
        <p:spPr>
          <a:xfrm xmlns:a="http://schemas.openxmlformats.org/drawingml/2006/main">
            <a:off x="609600" y="2276475"/>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7" name="">
            <a:extLst xmlns:a="http://schemas.openxmlformats.org/drawingml/2006/main">
              <a:ext uri="{FF2B5EF4-FFF2-40B4-BE49-F238E27FC236}">
                <a16:creationId xmlns:a16="http://schemas.microsoft.com/office/drawing/2014/main" id="{50ADF1BB-0614-42F5-AC6F-82D1E41AFA8C}"/>
              </a:ext>
            </a:extLst>
          </p:cNvPr>
          <p:cNvSpPr>
            <a:spLocks xmlns:a="http://schemas.openxmlformats.org/drawingml/2006/main" noGrp="1"/>
          </p:cNvSpPr>
          <p:nvPr/>
        </p:nvSpPr>
        <p:spPr>
          <a:xfrm xmlns:a="http://schemas.openxmlformats.org/drawingml/2006/main">
            <a:off x="723900" y="2438400"/>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Khai SBD</a:t>
            </a:r>
          </a:p>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chọn hồ sơ</a:t>
            </a:r>
          </a:p>
        </p:txBody>
      </p:sp>
      <p:sp>
        <p:nvSpPr>
          <p:cNvPr id="8" name="">
            <a:extLst xmlns:a="http://schemas.openxmlformats.org/drawingml/2006/main">
              <a:ext uri="{FF2B5EF4-FFF2-40B4-BE49-F238E27FC236}">
                <a16:creationId xmlns:a16="http://schemas.microsoft.com/office/drawing/2014/main" id="{B2D8BAA5-1ED8-4A68-A0EF-946B4273F8B4}"/>
              </a:ext>
            </a:extLst>
          </p:cNvPr>
          <p:cNvSpPr>
            <a:spLocks xmlns:a="http://schemas.openxmlformats.org/drawingml/2006/main" noGrp="1"/>
          </p:cNvSpPr>
          <p:nvPr/>
        </p:nvSpPr>
        <p:spPr>
          <a:xfrm xmlns:a="http://schemas.openxmlformats.org/drawingml/2006/main">
            <a:off x="3062288" y="25622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7D78"/>
                </a:solidFill>
                <a:latin typeface="Arial"/>
                <a:ea typeface="Arial"/>
                <a:cs typeface="Arial"/>
              </a:defRPr>
            </a:pPr>
            <a:r>
              <a:rPr sz="1875" b="1">
                <a:solidFill>
                  <a:srgbClr val="187D78"/>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BB01E45B-48CD-4947-9D3C-E119312AAB5E}"/>
              </a:ext>
            </a:extLst>
          </p:cNvPr>
          <p:cNvSpPr>
            <a:spLocks xmlns:a="http://schemas.openxmlformats.org/drawingml/2006/main" noGrp="1"/>
          </p:cNvSpPr>
          <p:nvPr/>
        </p:nvSpPr>
        <p:spPr>
          <a:xfrm xmlns:a="http://schemas.openxmlformats.org/drawingml/2006/main">
            <a:off x="3424238" y="2276475"/>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10" name="">
            <a:extLst xmlns:a="http://schemas.openxmlformats.org/drawingml/2006/main">
              <a:ext uri="{FF2B5EF4-FFF2-40B4-BE49-F238E27FC236}">
                <a16:creationId xmlns:a16="http://schemas.microsoft.com/office/drawing/2014/main" id="{67358D58-957B-48A0-8151-6FAE7F1E2C83}"/>
              </a:ext>
            </a:extLst>
          </p:cNvPr>
          <p:cNvSpPr>
            <a:spLocks xmlns:a="http://schemas.openxmlformats.org/drawingml/2006/main" noGrp="1"/>
          </p:cNvSpPr>
          <p:nvPr/>
        </p:nvSpPr>
        <p:spPr>
          <a:xfrm xmlns:a="http://schemas.openxmlformats.org/drawingml/2006/main">
            <a:off x="3538538" y="2438400"/>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Kiểm người</a:t>
            </a:r>
          </a:p>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1:1</a:t>
            </a:r>
          </a:p>
        </p:txBody>
      </p:sp>
      <p:sp>
        <p:nvSpPr>
          <p:cNvPr id="11" name="">
            <a:extLst xmlns:a="http://schemas.openxmlformats.org/drawingml/2006/main">
              <a:ext uri="{FF2B5EF4-FFF2-40B4-BE49-F238E27FC236}">
                <a16:creationId xmlns:a16="http://schemas.microsoft.com/office/drawing/2014/main" id="{EC34BA78-A788-4616-89B2-CE9887922A12}"/>
              </a:ext>
            </a:extLst>
          </p:cNvPr>
          <p:cNvSpPr>
            <a:spLocks xmlns:a="http://schemas.openxmlformats.org/drawingml/2006/main" noGrp="1"/>
          </p:cNvSpPr>
          <p:nvPr/>
        </p:nvSpPr>
        <p:spPr>
          <a:xfrm xmlns:a="http://schemas.openxmlformats.org/drawingml/2006/main">
            <a:off x="5876925" y="25622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7D78"/>
                </a:solidFill>
                <a:latin typeface="Arial"/>
                <a:ea typeface="Arial"/>
                <a:cs typeface="Arial"/>
              </a:defRPr>
            </a:pPr>
            <a:r>
              <a:rPr sz="1875" b="1">
                <a:solidFill>
                  <a:srgbClr val="187D78"/>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7FEC303B-C565-45AF-B418-5A21133238D5}"/>
              </a:ext>
            </a:extLst>
          </p:cNvPr>
          <p:cNvSpPr>
            <a:spLocks xmlns:a="http://schemas.openxmlformats.org/drawingml/2006/main" noGrp="1"/>
          </p:cNvSpPr>
          <p:nvPr/>
        </p:nvSpPr>
        <p:spPr>
          <a:xfrm xmlns:a="http://schemas.openxmlformats.org/drawingml/2006/main">
            <a:off x="6238875" y="2276475"/>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13" name="">
            <a:extLst xmlns:a="http://schemas.openxmlformats.org/drawingml/2006/main">
              <a:ext uri="{FF2B5EF4-FFF2-40B4-BE49-F238E27FC236}">
                <a16:creationId xmlns:a16="http://schemas.microsoft.com/office/drawing/2014/main" id="{D55EBAB6-7308-49B5-A5E4-E2BB19041456}"/>
              </a:ext>
            </a:extLst>
          </p:cNvPr>
          <p:cNvSpPr>
            <a:spLocks xmlns:a="http://schemas.openxmlformats.org/drawingml/2006/main" noGrp="1"/>
          </p:cNvSpPr>
          <p:nvPr/>
        </p:nvSpPr>
        <p:spPr>
          <a:xfrm xmlns:a="http://schemas.openxmlformats.org/drawingml/2006/main">
            <a:off x="6353175" y="2438400"/>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Business checks</a:t>
            </a:r>
          </a:p>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ca / phòng</a:t>
            </a:r>
          </a:p>
        </p:txBody>
      </p:sp>
      <p:sp>
        <p:nvSpPr>
          <p:cNvPr id="14" name="">
            <a:extLst xmlns:a="http://schemas.openxmlformats.org/drawingml/2006/main">
              <a:ext uri="{FF2B5EF4-FFF2-40B4-BE49-F238E27FC236}">
                <a16:creationId xmlns:a16="http://schemas.microsoft.com/office/drawing/2014/main" id="{E649F348-98F1-4A87-BBD8-61E798E97C66}"/>
              </a:ext>
            </a:extLst>
          </p:cNvPr>
          <p:cNvSpPr>
            <a:spLocks xmlns:a="http://schemas.openxmlformats.org/drawingml/2006/main" noGrp="1"/>
          </p:cNvSpPr>
          <p:nvPr/>
        </p:nvSpPr>
        <p:spPr>
          <a:xfrm xmlns:a="http://schemas.openxmlformats.org/drawingml/2006/main">
            <a:off x="8691563" y="25622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7D78"/>
                </a:solidFill>
                <a:latin typeface="Arial"/>
                <a:ea typeface="Arial"/>
                <a:cs typeface="Arial"/>
              </a:defRPr>
            </a:pPr>
            <a:r>
              <a:rPr sz="1875" b="1">
                <a:solidFill>
                  <a:srgbClr val="187D78"/>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C136DFD9-FF19-4914-81B1-F55042E469F3}"/>
              </a:ext>
            </a:extLst>
          </p:cNvPr>
          <p:cNvSpPr>
            <a:spLocks xmlns:a="http://schemas.openxmlformats.org/drawingml/2006/main" noGrp="1"/>
          </p:cNvSpPr>
          <p:nvPr/>
        </p:nvSpPr>
        <p:spPr>
          <a:xfrm xmlns:a="http://schemas.openxmlformats.org/drawingml/2006/main">
            <a:off x="9053513" y="2276475"/>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16" name="">
            <a:extLst xmlns:a="http://schemas.openxmlformats.org/drawingml/2006/main">
              <a:ext uri="{FF2B5EF4-FFF2-40B4-BE49-F238E27FC236}">
                <a16:creationId xmlns:a16="http://schemas.microsoft.com/office/drawing/2014/main" id="{94F13F22-A756-4A54-BD2F-D61C1F89490C}"/>
              </a:ext>
            </a:extLst>
          </p:cNvPr>
          <p:cNvSpPr>
            <a:spLocks xmlns:a="http://schemas.openxmlformats.org/drawingml/2006/main" noGrp="1"/>
          </p:cNvSpPr>
          <p:nvPr/>
        </p:nvSpPr>
        <p:spPr>
          <a:xfrm xmlns:a="http://schemas.openxmlformats.org/drawingml/2006/main">
            <a:off x="9167813" y="2438400"/>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Ghi check-in</a:t>
            </a:r>
          </a:p>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 audit</a:t>
            </a:r>
          </a:p>
        </p:txBody>
      </p:sp>
      <p:sp>
        <p:nvSpPr>
          <p:cNvPr id="17" name="">
            <a:extLst xmlns:a="http://schemas.openxmlformats.org/drawingml/2006/main">
              <a:ext uri="{FF2B5EF4-FFF2-40B4-BE49-F238E27FC236}">
                <a16:creationId xmlns:a16="http://schemas.microsoft.com/office/drawing/2014/main" id="{69B75E49-A685-46DA-B1DD-1CDEB5B74674}"/>
              </a:ext>
            </a:extLst>
          </p:cNvPr>
          <p:cNvSpPr>
            <a:spLocks xmlns:a="http://schemas.openxmlformats.org/drawingml/2006/main" noGrp="1"/>
          </p:cNvSpPr>
          <p:nvPr/>
        </p:nvSpPr>
        <p:spPr>
          <a:xfrm xmlns:a="http://schemas.openxmlformats.org/drawingml/2006/main">
            <a:off x="666750" y="38100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7D78"/>
                </a:solidFill>
                <a:latin typeface="Arial"/>
                <a:ea typeface="Arial"/>
                <a:cs typeface="Arial"/>
              </a:defRPr>
            </a:pPr>
            <a:r>
              <a:rPr sz="2325" b="1">
                <a:solidFill>
                  <a:srgbClr val="187D78"/>
                </a:solidFill>
                <a:latin typeface="Arial"/>
                <a:ea typeface="Arial"/>
                <a:cs typeface="Arial"/>
              </a:rPr>
              <a:t>Attempt ≠ check-in ≠ entry authorization ≠ attendance</a:t>
            </a:r>
          </a:p>
        </p:txBody>
      </p:sp>
      <p:sp>
        <p:nvSpPr>
          <p:cNvPr id="18" name="">
            <a:extLst xmlns:a="http://schemas.openxmlformats.org/drawingml/2006/main">
              <a:ext uri="{FF2B5EF4-FFF2-40B4-BE49-F238E27FC236}">
                <a16:creationId xmlns:a16="http://schemas.microsoft.com/office/drawing/2014/main" id="{F1D174FC-FD71-432D-B62D-A3F04E74D65D}"/>
              </a:ext>
            </a:extLst>
          </p:cNvPr>
          <p:cNvSpPr>
            <a:spLocks xmlns:a="http://schemas.openxmlformats.org/drawingml/2006/main" noGrp="1"/>
          </p:cNvSpPr>
          <p:nvPr/>
        </p:nvSpPr>
        <p:spPr>
          <a:xfrm xmlns:a="http://schemas.openxmlformats.org/drawingml/2006/main">
            <a:off x="666750" y="47148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0"/>
                </a:solidFill>
                <a:latin typeface="Arial"/>
                <a:ea typeface="Arial"/>
                <a:cs typeface="Arial"/>
              </a:defRPr>
            </a:pPr>
            <a:r>
              <a:rPr sz="2175" b="0">
                <a:solidFill>
                  <a:srgbClr val="182D40"/>
                </a:solidFill>
                <a:latin typeface="Arial"/>
                <a:ea typeface="Arial"/>
                <a:cs typeface="Arial"/>
              </a:rPr>
              <a:t>AI verdict không trực tiếp cấp mọi quyền nghiệp vụ.</a:t>
            </a:r>
          </a:p>
          <a:p xmlns:a="http://schemas.openxmlformats.org/drawingml/2006/main">
            <a:pPr>
              <a:defRPr sz="2175" b="0">
                <a:solidFill>
                  <a:srgbClr val="182D40"/>
                </a:solidFill>
                <a:latin typeface="Arial"/>
                <a:ea typeface="Arial"/>
                <a:cs typeface="Arial"/>
              </a:defRPr>
            </a:pPr>
            <a:r>
              <a:rPr sz="2175" b="0">
                <a:solidFill>
                  <a:srgbClr val="182D40"/>
                </a:solidFill>
                <a:latin typeface="Arial"/>
                <a:ea typeface="Arial"/>
                <a:cs typeface="Arial"/>
              </a:rPr>
              <a:t>Human decision được lưu riêng, không rewrite AI.</a:t>
            </a:r>
          </a:p>
        </p:txBody>
      </p:sp>
    </p:spTree>
    <p:extLst>
      <p:ext uri="{BB962C8B-B14F-4D97-AF65-F5344CB8AC3E}">
        <p14:creationId xmlns:p14="http://schemas.microsoft.com/office/powerpoint/2010/main" val="14836110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1D339DB-95C2-494A-8B24-E5732E5AA370}"/>
              </a:ext>
            </a:extLst>
          </p:cNvPr>
          <p:cNvSpPr>
            <a:spLocks xmlns:a="http://schemas.openxmlformats.org/drawingml/2006/main" noGrp="1"/>
          </p:cNvSpPr>
          <p:nvPr/>
        </p:nvSpPr>
        <p:spPr>
          <a:xfrm xmlns:a="http://schemas.openxmlformats.org/drawingml/2006/main">
            <a:off x="609600" y="247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87D78"/>
                </a:solidFill>
                <a:latin typeface="Arial"/>
                <a:ea typeface="Arial"/>
                <a:cs typeface="Arial"/>
              </a:defRPr>
            </a:pPr>
            <a:r>
              <a:rPr sz="1350" b="1">
                <a:solidFill>
                  <a:srgbClr val="187D78"/>
                </a:solidFill>
                <a:latin typeface="Arial"/>
                <a:ea typeface="Arial"/>
                <a:cs typeface="Arial"/>
              </a:rPr>
              <a:t>03 • PROBLEM DECOMPOSITION</a:t>
            </a:r>
          </a:p>
        </p:txBody>
      </p:sp>
      <p:sp>
        <p:nvSpPr>
          <p:cNvPr id="2" name="">
            <a:extLst xmlns:a="http://schemas.openxmlformats.org/drawingml/2006/main">
              <a:ext uri="{FF2B5EF4-FFF2-40B4-BE49-F238E27FC236}">
                <a16:creationId xmlns:a16="http://schemas.microsoft.com/office/drawing/2014/main" id="{E6386A89-71F6-4011-9795-4FFFE729CEF2}"/>
              </a:ext>
            </a:extLst>
          </p:cNvPr>
          <p:cNvSpPr>
            <a:spLocks xmlns:a="http://schemas.openxmlformats.org/drawingml/2006/main" noGrp="1"/>
          </p:cNvSpPr>
          <p:nvPr/>
        </p:nvSpPr>
        <p:spPr>
          <a:xfrm xmlns:a="http://schemas.openxmlformats.org/drawingml/2006/main">
            <a:off x="609600" y="7239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2D40"/>
                </a:solidFill>
                <a:latin typeface="Arial"/>
                <a:ea typeface="Arial"/>
                <a:cs typeface="Arial"/>
              </a:defRPr>
            </a:pPr>
            <a:r>
              <a:rPr sz="3225" b="1">
                <a:solidFill>
                  <a:srgbClr val="182D40"/>
                </a:solidFill>
                <a:latin typeface="Arial"/>
                <a:ea typeface="Arial"/>
                <a:cs typeface="Arial"/>
              </a:rPr>
              <a:t>Pipeline: model chỉ nằm ở capability cần model</a:t>
            </a:r>
          </a:p>
        </p:txBody>
      </p:sp>
      <p:sp>
        <p:nvSpPr>
          <p:cNvPr id="3" name="">
            <a:extLst xmlns:a="http://schemas.openxmlformats.org/drawingml/2006/main">
              <a:ext uri="{FF2B5EF4-FFF2-40B4-BE49-F238E27FC236}">
                <a16:creationId xmlns:a16="http://schemas.microsoft.com/office/drawing/2014/main" id="{2500BFB1-E6E5-48AA-8368-D7B705852E6D}"/>
              </a:ext>
            </a:extLst>
          </p:cNvPr>
          <p:cNvSpPr>
            <a:spLocks xmlns:a="http://schemas.openxmlformats.org/drawingml/2006/main" noGrp="1"/>
          </p:cNvSpPr>
          <p:nvPr/>
        </p:nvSpPr>
        <p:spPr>
          <a:xfrm xmlns:a="http://schemas.openxmlformats.org/drawingml/2006/main">
            <a:off x="609600" y="63912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371"/>
                </a:solidFill>
                <a:latin typeface="Arial"/>
                <a:ea typeface="Arial"/>
                <a:cs typeface="Arial"/>
              </a:defRPr>
            </a:pPr>
            <a:r>
              <a:rPr sz="1200" b="0">
                <a:solidFill>
                  <a:srgbClr val="526371"/>
                </a:solidFill>
                <a:latin typeface="Arial"/>
                <a:ea typeface="Arial"/>
                <a:cs typeface="Arial"/>
              </a:rPr>
              <a:t>DATN • Quốc An &amp; Minh Hy  |  01.10.2026</a:t>
            </a:r>
          </a:p>
        </p:txBody>
      </p:sp>
      <p:sp>
        <p:nvSpPr>
          <p:cNvPr id="4" name="">
            <a:extLst xmlns:a="http://schemas.openxmlformats.org/drawingml/2006/main">
              <a:ext uri="{FF2B5EF4-FFF2-40B4-BE49-F238E27FC236}">
                <a16:creationId xmlns:a16="http://schemas.microsoft.com/office/drawing/2014/main" id="{E95BE773-95B4-42F7-8970-F193B5E58AFA}"/>
              </a:ext>
            </a:extLst>
          </p:cNvPr>
          <p:cNvSpPr>
            <a:spLocks xmlns:a="http://schemas.openxmlformats.org/drawingml/2006/main" noGrp="1"/>
          </p:cNvSpPr>
          <p:nvPr/>
        </p:nvSpPr>
        <p:spPr>
          <a:xfrm xmlns:a="http://schemas.openxmlformats.org/drawingml/2006/main">
            <a:off x="11049000" y="63722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371"/>
                </a:solidFill>
                <a:latin typeface="Arial"/>
                <a:ea typeface="Arial"/>
                <a:cs typeface="Arial"/>
              </a:defRPr>
            </a:pPr>
            <a:r>
              <a:rPr sz="1425" b="0">
                <a:solidFill>
                  <a:srgbClr val="526371"/>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AE5057FA-7B1C-4AB3-9D33-85E8DFDBE499}"/>
              </a:ext>
            </a:extLst>
          </p:cNvPr>
          <p:cNvSpPr>
            <a:spLocks xmlns:a="http://schemas.openxmlformats.org/drawingml/2006/main" noGrp="1"/>
          </p:cNvSpPr>
          <p:nvPr/>
        </p:nvSpPr>
        <p:spPr>
          <a:xfrm xmlns:a="http://schemas.openxmlformats.org/drawingml/2006/main">
            <a:off x="60960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371"/>
                </a:solidFill>
                <a:latin typeface="Arial"/>
                <a:ea typeface="Arial"/>
                <a:cs typeface="Arial"/>
              </a:defRPr>
            </a:pPr>
            <a:r>
              <a:rPr sz="1125" b="0">
                <a:solidFill>
                  <a:srgbClr val="526371"/>
                </a:solidFill>
                <a:latin typeface="Arial"/>
                <a:ea typeface="Arial"/>
                <a:cs typeface="Arial"/>
              </a:rPr>
              <a:t>Nguồn: T-005-quoc-an-task-decomposition.md  |  T-012-B0-pipeline-choice.md</a:t>
            </a:r>
          </a:p>
        </p:txBody>
      </p:sp>
      <p:sp>
        <p:nvSpPr>
          <p:cNvPr id="6" name="">
            <a:extLst xmlns:a="http://schemas.openxmlformats.org/drawingml/2006/main">
              <a:ext uri="{FF2B5EF4-FFF2-40B4-BE49-F238E27FC236}">
                <a16:creationId xmlns:a16="http://schemas.microsoft.com/office/drawing/2014/main" id="{2BCBCBB7-B106-4FF4-984A-4416C4ABDC1C}"/>
              </a:ext>
            </a:extLst>
          </p:cNvPr>
          <p:cNvSpPr>
            <a:spLocks xmlns:a="http://schemas.openxmlformats.org/drawingml/2006/main" noGrp="1"/>
          </p:cNvSpPr>
          <p:nvPr/>
        </p:nvSpPr>
        <p:spPr>
          <a:xfrm xmlns:a="http://schemas.openxmlformats.org/drawingml/2006/main">
            <a:off x="609600" y="1981200"/>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7" name="">
            <a:extLst xmlns:a="http://schemas.openxmlformats.org/drawingml/2006/main">
              <a:ext uri="{FF2B5EF4-FFF2-40B4-BE49-F238E27FC236}">
                <a16:creationId xmlns:a16="http://schemas.microsoft.com/office/drawing/2014/main" id="{BF959C9F-E297-414B-AE48-0FD7749F5F27}"/>
              </a:ext>
            </a:extLst>
          </p:cNvPr>
          <p:cNvSpPr>
            <a:spLocks xmlns:a="http://schemas.openxmlformats.org/drawingml/2006/main" noGrp="1"/>
          </p:cNvSpPr>
          <p:nvPr/>
        </p:nvSpPr>
        <p:spPr>
          <a:xfrm xmlns:a="http://schemas.openxmlformats.org/drawingml/2006/main">
            <a:off x="723900" y="2143125"/>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S1 lookup</a:t>
            </a:r>
          </a:p>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reference A</a:t>
            </a:r>
          </a:p>
        </p:txBody>
      </p:sp>
      <p:sp>
        <p:nvSpPr>
          <p:cNvPr id="8" name="">
            <a:extLst xmlns:a="http://schemas.openxmlformats.org/drawingml/2006/main">
              <a:ext uri="{FF2B5EF4-FFF2-40B4-BE49-F238E27FC236}">
                <a16:creationId xmlns:a16="http://schemas.microsoft.com/office/drawing/2014/main" id="{20C76156-01A0-4C77-8AD9-39105FD56941}"/>
              </a:ext>
            </a:extLst>
          </p:cNvPr>
          <p:cNvSpPr>
            <a:spLocks xmlns:a="http://schemas.openxmlformats.org/drawingml/2006/main" noGrp="1"/>
          </p:cNvSpPr>
          <p:nvPr/>
        </p:nvSpPr>
        <p:spPr>
          <a:xfrm xmlns:a="http://schemas.openxmlformats.org/drawingml/2006/main">
            <a:off x="3062288" y="226695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7D78"/>
                </a:solidFill>
                <a:latin typeface="Arial"/>
                <a:ea typeface="Arial"/>
                <a:cs typeface="Arial"/>
              </a:defRPr>
            </a:pPr>
            <a:r>
              <a:rPr sz="1875" b="1">
                <a:solidFill>
                  <a:srgbClr val="187D78"/>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93359D19-2241-4878-92F7-FCD231AAA7DB}"/>
              </a:ext>
            </a:extLst>
          </p:cNvPr>
          <p:cNvSpPr>
            <a:spLocks xmlns:a="http://schemas.openxmlformats.org/drawingml/2006/main" noGrp="1"/>
          </p:cNvSpPr>
          <p:nvPr/>
        </p:nvSpPr>
        <p:spPr>
          <a:xfrm xmlns:a="http://schemas.openxmlformats.org/drawingml/2006/main">
            <a:off x="3424238" y="1981200"/>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10" name="">
            <a:extLst xmlns:a="http://schemas.openxmlformats.org/drawingml/2006/main">
              <a:ext uri="{FF2B5EF4-FFF2-40B4-BE49-F238E27FC236}">
                <a16:creationId xmlns:a16="http://schemas.microsoft.com/office/drawing/2014/main" id="{137CBA90-4152-431D-900F-CB35F2820EA4}"/>
              </a:ext>
            </a:extLst>
          </p:cNvPr>
          <p:cNvSpPr>
            <a:spLocks xmlns:a="http://schemas.openxmlformats.org/drawingml/2006/main" noGrp="1"/>
          </p:cNvSpPr>
          <p:nvPr/>
        </p:nvSpPr>
        <p:spPr>
          <a:xfrm xmlns:a="http://schemas.openxmlformats.org/drawingml/2006/main">
            <a:off x="3538538" y="2143125"/>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S3 detector</a:t>
            </a:r>
          </a:p>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bbox / landmark</a:t>
            </a:r>
          </a:p>
        </p:txBody>
      </p:sp>
      <p:sp>
        <p:nvSpPr>
          <p:cNvPr id="11" name="">
            <a:extLst xmlns:a="http://schemas.openxmlformats.org/drawingml/2006/main">
              <a:ext uri="{FF2B5EF4-FFF2-40B4-BE49-F238E27FC236}">
                <a16:creationId xmlns:a16="http://schemas.microsoft.com/office/drawing/2014/main" id="{2241B781-7438-4BA3-ABBB-52DA374B13B3}"/>
              </a:ext>
            </a:extLst>
          </p:cNvPr>
          <p:cNvSpPr>
            <a:spLocks xmlns:a="http://schemas.openxmlformats.org/drawingml/2006/main" noGrp="1"/>
          </p:cNvSpPr>
          <p:nvPr/>
        </p:nvSpPr>
        <p:spPr>
          <a:xfrm xmlns:a="http://schemas.openxmlformats.org/drawingml/2006/main">
            <a:off x="5876925" y="226695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7D78"/>
                </a:solidFill>
                <a:latin typeface="Arial"/>
                <a:ea typeface="Arial"/>
                <a:cs typeface="Arial"/>
              </a:defRPr>
            </a:pPr>
            <a:r>
              <a:rPr sz="1875" b="1">
                <a:solidFill>
                  <a:srgbClr val="187D78"/>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21CD72EE-B9CC-4494-BB97-7601460CD25E}"/>
              </a:ext>
            </a:extLst>
          </p:cNvPr>
          <p:cNvSpPr>
            <a:spLocks xmlns:a="http://schemas.openxmlformats.org/drawingml/2006/main" noGrp="1"/>
          </p:cNvSpPr>
          <p:nvPr/>
        </p:nvSpPr>
        <p:spPr>
          <a:xfrm xmlns:a="http://schemas.openxmlformats.org/drawingml/2006/main">
            <a:off x="6238875" y="1981200"/>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13" name="">
            <a:extLst xmlns:a="http://schemas.openxmlformats.org/drawingml/2006/main">
              <a:ext uri="{FF2B5EF4-FFF2-40B4-BE49-F238E27FC236}">
                <a16:creationId xmlns:a16="http://schemas.microsoft.com/office/drawing/2014/main" id="{34F4D0C3-EEE8-4675-A8E8-D05835523572}"/>
              </a:ext>
            </a:extLst>
          </p:cNvPr>
          <p:cNvSpPr>
            <a:spLocks xmlns:a="http://schemas.openxmlformats.org/drawingml/2006/main" noGrp="1"/>
          </p:cNvSpPr>
          <p:nvPr/>
        </p:nvSpPr>
        <p:spPr>
          <a:xfrm xmlns:a="http://schemas.openxmlformats.org/drawingml/2006/main">
            <a:off x="6353175" y="2143125"/>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S6 + S7</a:t>
            </a:r>
          </a:p>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align / encode</a:t>
            </a:r>
          </a:p>
        </p:txBody>
      </p:sp>
      <p:sp>
        <p:nvSpPr>
          <p:cNvPr id="14" name="">
            <a:extLst xmlns:a="http://schemas.openxmlformats.org/drawingml/2006/main">
              <a:ext uri="{FF2B5EF4-FFF2-40B4-BE49-F238E27FC236}">
                <a16:creationId xmlns:a16="http://schemas.microsoft.com/office/drawing/2014/main" id="{CF8B89F7-9D9A-4E74-8E93-5063A83442CA}"/>
              </a:ext>
            </a:extLst>
          </p:cNvPr>
          <p:cNvSpPr>
            <a:spLocks xmlns:a="http://schemas.openxmlformats.org/drawingml/2006/main" noGrp="1"/>
          </p:cNvSpPr>
          <p:nvPr/>
        </p:nvSpPr>
        <p:spPr>
          <a:xfrm xmlns:a="http://schemas.openxmlformats.org/drawingml/2006/main">
            <a:off x="8691563" y="226695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7D78"/>
                </a:solidFill>
                <a:latin typeface="Arial"/>
                <a:ea typeface="Arial"/>
                <a:cs typeface="Arial"/>
              </a:defRPr>
            </a:pPr>
            <a:r>
              <a:rPr sz="1875" b="1">
                <a:solidFill>
                  <a:srgbClr val="187D78"/>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0E3BD771-9925-462B-933C-EBFFEB26F166}"/>
              </a:ext>
            </a:extLst>
          </p:cNvPr>
          <p:cNvSpPr>
            <a:spLocks xmlns:a="http://schemas.openxmlformats.org/drawingml/2006/main" noGrp="1"/>
          </p:cNvSpPr>
          <p:nvPr/>
        </p:nvSpPr>
        <p:spPr>
          <a:xfrm xmlns:a="http://schemas.openxmlformats.org/drawingml/2006/main">
            <a:off x="9053513" y="1981200"/>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16" name="">
            <a:extLst xmlns:a="http://schemas.openxmlformats.org/drawingml/2006/main">
              <a:ext uri="{FF2B5EF4-FFF2-40B4-BE49-F238E27FC236}">
                <a16:creationId xmlns:a16="http://schemas.microsoft.com/office/drawing/2014/main" id="{242AE45C-2431-4311-BF94-2C02911C5DBC}"/>
              </a:ext>
            </a:extLst>
          </p:cNvPr>
          <p:cNvSpPr>
            <a:spLocks xmlns:a="http://schemas.openxmlformats.org/drawingml/2006/main" noGrp="1"/>
          </p:cNvSpPr>
          <p:nvPr/>
        </p:nvSpPr>
        <p:spPr>
          <a:xfrm xmlns:a="http://schemas.openxmlformats.org/drawingml/2006/main">
            <a:off x="9167813" y="2143125"/>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S4 selection</a:t>
            </a:r>
          </a:p>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score + margin</a:t>
            </a:r>
          </a:p>
        </p:txBody>
      </p:sp>
      <p:sp>
        <p:nvSpPr>
          <p:cNvPr id="17" name="">
            <a:extLst xmlns:a="http://schemas.openxmlformats.org/drawingml/2006/main">
              <a:ext uri="{FF2B5EF4-FFF2-40B4-BE49-F238E27FC236}">
                <a16:creationId xmlns:a16="http://schemas.microsoft.com/office/drawing/2014/main" id="{A7E486C5-BBFE-45CB-A7CC-FA2286324917}"/>
              </a:ext>
            </a:extLst>
          </p:cNvPr>
          <p:cNvSpPr>
            <a:spLocks xmlns:a="http://schemas.openxmlformats.org/drawingml/2006/main" noGrp="1"/>
          </p:cNvSpPr>
          <p:nvPr/>
        </p:nvSpPr>
        <p:spPr>
          <a:xfrm xmlns:a="http://schemas.openxmlformats.org/drawingml/2006/main">
            <a:off x="666750" y="31146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371"/>
                </a:solidFill>
                <a:latin typeface="Arial"/>
                <a:ea typeface="Arial"/>
                <a:cs typeface="Arial"/>
              </a:defRPr>
            </a:pPr>
            <a:r>
              <a:rPr sz="1650" b="0">
                <a:solidFill>
                  <a:srgbClr val="526371"/>
                </a:solidFill>
                <a:latin typeface="Arial"/>
                <a:ea typeface="Arial"/>
                <a:cs typeface="Arial"/>
              </a:rPr>
              <a:t>Camera → S3; reference → cosine   |   Sau S4, tiếp S8 ở hàng dưới ↓</a:t>
            </a:r>
          </a:p>
        </p:txBody>
      </p:sp>
      <p:sp>
        <p:nvSpPr>
          <p:cNvPr id="18" name="">
            <a:extLst xmlns:a="http://schemas.openxmlformats.org/drawingml/2006/main">
              <a:ext uri="{FF2B5EF4-FFF2-40B4-BE49-F238E27FC236}">
                <a16:creationId xmlns:a16="http://schemas.microsoft.com/office/drawing/2014/main" id="{6F661CCF-A825-46D4-B40B-632CA865634B}"/>
              </a:ext>
            </a:extLst>
          </p:cNvPr>
          <p:cNvSpPr>
            <a:spLocks xmlns:a="http://schemas.openxmlformats.org/drawingml/2006/main" noGrp="1"/>
          </p:cNvSpPr>
          <p:nvPr/>
        </p:nvSpPr>
        <p:spPr>
          <a:xfrm xmlns:a="http://schemas.openxmlformats.org/drawingml/2006/main">
            <a:off x="609600" y="3609975"/>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19" name="">
            <a:extLst xmlns:a="http://schemas.openxmlformats.org/drawingml/2006/main">
              <a:ext uri="{FF2B5EF4-FFF2-40B4-BE49-F238E27FC236}">
                <a16:creationId xmlns:a16="http://schemas.microsoft.com/office/drawing/2014/main" id="{6C4CD824-E638-44F2-BCF9-48A72F56307A}"/>
              </a:ext>
            </a:extLst>
          </p:cNvPr>
          <p:cNvSpPr>
            <a:spLocks xmlns:a="http://schemas.openxmlformats.org/drawingml/2006/main" noGrp="1"/>
          </p:cNvSpPr>
          <p:nvPr/>
        </p:nvSpPr>
        <p:spPr>
          <a:xfrm xmlns:a="http://schemas.openxmlformats.org/drawingml/2006/main">
            <a:off x="723900" y="3771900"/>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S8 verify</a:t>
            </a:r>
          </a:p>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selected score</a:t>
            </a:r>
          </a:p>
        </p:txBody>
      </p:sp>
      <p:sp>
        <p:nvSpPr>
          <p:cNvPr id="20" name="">
            <a:extLst xmlns:a="http://schemas.openxmlformats.org/drawingml/2006/main">
              <a:ext uri="{FF2B5EF4-FFF2-40B4-BE49-F238E27FC236}">
                <a16:creationId xmlns:a16="http://schemas.microsoft.com/office/drawing/2014/main" id="{71F4D726-D662-4090-8C1A-3A001D326EEE}"/>
              </a:ext>
            </a:extLst>
          </p:cNvPr>
          <p:cNvSpPr>
            <a:spLocks xmlns:a="http://schemas.openxmlformats.org/drawingml/2006/main" noGrp="1"/>
          </p:cNvSpPr>
          <p:nvPr/>
        </p:nvSpPr>
        <p:spPr>
          <a:xfrm xmlns:a="http://schemas.openxmlformats.org/drawingml/2006/main">
            <a:off x="3062288" y="38957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7D78"/>
                </a:solidFill>
                <a:latin typeface="Arial"/>
                <a:ea typeface="Arial"/>
                <a:cs typeface="Arial"/>
              </a:defRPr>
            </a:pPr>
            <a:r>
              <a:rPr sz="1875" b="1">
                <a:solidFill>
                  <a:srgbClr val="187D78"/>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839C00E8-9209-466F-8741-2AFAD33F2A03}"/>
              </a:ext>
            </a:extLst>
          </p:cNvPr>
          <p:cNvSpPr>
            <a:spLocks xmlns:a="http://schemas.openxmlformats.org/drawingml/2006/main" noGrp="1"/>
          </p:cNvSpPr>
          <p:nvPr/>
        </p:nvSpPr>
        <p:spPr>
          <a:xfrm xmlns:a="http://schemas.openxmlformats.org/drawingml/2006/main">
            <a:off x="3424238" y="3609975"/>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22" name="">
            <a:extLst xmlns:a="http://schemas.openxmlformats.org/drawingml/2006/main">
              <a:ext uri="{FF2B5EF4-FFF2-40B4-BE49-F238E27FC236}">
                <a16:creationId xmlns:a16="http://schemas.microsoft.com/office/drawing/2014/main" id="{55134640-9148-4353-B163-A55D9019333C}"/>
              </a:ext>
            </a:extLst>
          </p:cNvPr>
          <p:cNvSpPr>
            <a:spLocks xmlns:a="http://schemas.openxmlformats.org/drawingml/2006/main" noGrp="1"/>
          </p:cNvSpPr>
          <p:nvPr/>
        </p:nvSpPr>
        <p:spPr>
          <a:xfrm xmlns:a="http://schemas.openxmlformats.org/drawingml/2006/main">
            <a:off x="3538538" y="3771900"/>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S9 final check</a:t>
            </a:r>
          </a:p>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business rules</a:t>
            </a:r>
          </a:p>
        </p:txBody>
      </p:sp>
      <p:sp>
        <p:nvSpPr>
          <p:cNvPr id="23" name="">
            <a:extLst xmlns:a="http://schemas.openxmlformats.org/drawingml/2006/main">
              <a:ext uri="{FF2B5EF4-FFF2-40B4-BE49-F238E27FC236}">
                <a16:creationId xmlns:a16="http://schemas.microsoft.com/office/drawing/2014/main" id="{EBBA3820-AE99-4EE0-8131-2925BDA0ABCD}"/>
              </a:ext>
            </a:extLst>
          </p:cNvPr>
          <p:cNvSpPr>
            <a:spLocks xmlns:a="http://schemas.openxmlformats.org/drawingml/2006/main" noGrp="1"/>
          </p:cNvSpPr>
          <p:nvPr/>
        </p:nvSpPr>
        <p:spPr>
          <a:xfrm xmlns:a="http://schemas.openxmlformats.org/drawingml/2006/main">
            <a:off x="5876925" y="38957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7D78"/>
                </a:solidFill>
                <a:latin typeface="Arial"/>
                <a:ea typeface="Arial"/>
                <a:cs typeface="Arial"/>
              </a:defRPr>
            </a:pPr>
            <a:r>
              <a:rPr sz="1875" b="1">
                <a:solidFill>
                  <a:srgbClr val="187D78"/>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90CBBA02-0FE1-40DD-A941-C12F43B3F35D}"/>
              </a:ext>
            </a:extLst>
          </p:cNvPr>
          <p:cNvSpPr>
            <a:spLocks xmlns:a="http://schemas.openxmlformats.org/drawingml/2006/main" noGrp="1"/>
          </p:cNvSpPr>
          <p:nvPr/>
        </p:nvSpPr>
        <p:spPr>
          <a:xfrm xmlns:a="http://schemas.openxmlformats.org/drawingml/2006/main">
            <a:off x="6238875" y="3609975"/>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25" name="">
            <a:extLst xmlns:a="http://schemas.openxmlformats.org/drawingml/2006/main">
              <a:ext uri="{FF2B5EF4-FFF2-40B4-BE49-F238E27FC236}">
                <a16:creationId xmlns:a16="http://schemas.microsoft.com/office/drawing/2014/main" id="{1ED3429A-F526-49EB-88DC-B886C9491063}"/>
              </a:ext>
            </a:extLst>
          </p:cNvPr>
          <p:cNvSpPr>
            <a:spLocks xmlns:a="http://schemas.openxmlformats.org/drawingml/2006/main" noGrp="1"/>
          </p:cNvSpPr>
          <p:nvPr/>
        </p:nvSpPr>
        <p:spPr>
          <a:xfrm xmlns:a="http://schemas.openxmlformats.org/drawingml/2006/main">
            <a:off x="6353175" y="3771900"/>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S10 write</a:t>
            </a:r>
          </a:p>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confirmed</a:t>
            </a:r>
          </a:p>
        </p:txBody>
      </p:sp>
      <p:sp>
        <p:nvSpPr>
          <p:cNvPr id="26" name="">
            <a:extLst xmlns:a="http://schemas.openxmlformats.org/drawingml/2006/main">
              <a:ext uri="{FF2B5EF4-FFF2-40B4-BE49-F238E27FC236}">
                <a16:creationId xmlns:a16="http://schemas.microsoft.com/office/drawing/2014/main" id="{FAB7D06C-53FD-4854-B3AF-6DC6C316CA59}"/>
              </a:ext>
            </a:extLst>
          </p:cNvPr>
          <p:cNvSpPr>
            <a:spLocks xmlns:a="http://schemas.openxmlformats.org/drawingml/2006/main" noGrp="1"/>
          </p:cNvSpPr>
          <p:nvPr/>
        </p:nvSpPr>
        <p:spPr>
          <a:xfrm xmlns:a="http://schemas.openxmlformats.org/drawingml/2006/main">
            <a:off x="8691563" y="38957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7D78"/>
                </a:solidFill>
                <a:latin typeface="Arial"/>
                <a:ea typeface="Arial"/>
                <a:cs typeface="Arial"/>
              </a:defRPr>
            </a:pPr>
            <a:r>
              <a:rPr sz="1875" b="1">
                <a:solidFill>
                  <a:srgbClr val="187D78"/>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21457D56-DB52-4603-8568-F0B925B75BF2}"/>
              </a:ext>
            </a:extLst>
          </p:cNvPr>
          <p:cNvSpPr>
            <a:spLocks xmlns:a="http://schemas.openxmlformats.org/drawingml/2006/main" noGrp="1"/>
          </p:cNvSpPr>
          <p:nvPr/>
        </p:nvSpPr>
        <p:spPr>
          <a:xfrm xmlns:a="http://schemas.openxmlformats.org/drawingml/2006/main">
            <a:off x="9053513" y="3609975"/>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28" name="">
            <a:extLst xmlns:a="http://schemas.openxmlformats.org/drawingml/2006/main">
              <a:ext uri="{FF2B5EF4-FFF2-40B4-BE49-F238E27FC236}">
                <a16:creationId xmlns:a16="http://schemas.microsoft.com/office/drawing/2014/main" id="{E1E3B325-3535-4892-9209-5A76BCF3873E}"/>
              </a:ext>
            </a:extLst>
          </p:cNvPr>
          <p:cNvSpPr>
            <a:spLocks xmlns:a="http://schemas.openxmlformats.org/drawingml/2006/main" noGrp="1"/>
          </p:cNvSpPr>
          <p:nvPr/>
        </p:nvSpPr>
        <p:spPr>
          <a:xfrm xmlns:a="http://schemas.openxmlformats.org/drawingml/2006/main">
            <a:off x="9167813" y="3771900"/>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Outcome</a:t>
            </a:r>
          </a:p>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 audit</a:t>
            </a:r>
          </a:p>
        </p:txBody>
      </p:sp>
      <p:sp>
        <p:nvSpPr>
          <p:cNvPr id="29" name="">
            <a:extLst xmlns:a="http://schemas.openxmlformats.org/drawingml/2006/main">
              <a:ext uri="{FF2B5EF4-FFF2-40B4-BE49-F238E27FC236}">
                <a16:creationId xmlns:a16="http://schemas.microsoft.com/office/drawing/2014/main" id="{7A269766-6228-4B66-AF0A-DA1D51483B67}"/>
              </a:ext>
            </a:extLst>
          </p:cNvPr>
          <p:cNvSpPr>
            <a:spLocks xmlns:a="http://schemas.openxmlformats.org/drawingml/2006/main" noGrp="1"/>
          </p:cNvSpPr>
          <p:nvPr/>
        </p:nvSpPr>
        <p:spPr>
          <a:xfrm xmlns:a="http://schemas.openxmlformats.org/drawingml/2006/main">
            <a:off x="647700" y="5219700"/>
            <a:ext cx="1076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7D78"/>
                </a:solidFill>
                <a:latin typeface="Arial"/>
                <a:ea typeface="Arial"/>
                <a:cs typeface="Arial"/>
              </a:defRPr>
            </a:pPr>
            <a:r>
              <a:rPr sz="1950" b="1">
                <a:solidFill>
                  <a:srgbClr val="187D78"/>
                </a:solidFill>
                <a:latin typeface="Arial"/>
                <a:ea typeface="Arial"/>
                <a:cs typeface="Arial"/>
              </a:rPr>
              <a:t>Model: face detector + face encoder   |   Lookup / business / audit: rule &amp; query</a:t>
            </a:r>
          </a:p>
        </p:txBody>
      </p:sp>
    </p:spTree>
    <p:extLst>
      <p:ext uri="{BB962C8B-B14F-4D97-AF65-F5344CB8AC3E}">
        <p14:creationId xmlns:p14="http://schemas.microsoft.com/office/powerpoint/2010/main" val="8327032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F8EF9E1-F886-4A47-9B41-5FAA1D628381}"/>
              </a:ext>
            </a:extLst>
          </p:cNvPr>
          <p:cNvSpPr>
            <a:spLocks xmlns:a="http://schemas.openxmlformats.org/drawingml/2006/main" noGrp="1"/>
          </p:cNvSpPr>
          <p:nvPr/>
        </p:nvSpPr>
        <p:spPr>
          <a:xfrm xmlns:a="http://schemas.openxmlformats.org/drawingml/2006/main">
            <a:off x="609600" y="247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87D78"/>
                </a:solidFill>
                <a:latin typeface="Arial"/>
                <a:ea typeface="Arial"/>
                <a:cs typeface="Arial"/>
              </a:defRPr>
            </a:pPr>
            <a:r>
              <a:rPr sz="1350" b="1">
                <a:solidFill>
                  <a:srgbClr val="187D78"/>
                </a:solidFill>
                <a:latin typeface="Arial"/>
                <a:ea typeface="Arial"/>
                <a:cs typeface="Arial"/>
              </a:rPr>
              <a:t>04 • DATA REQUIREMENTS</a:t>
            </a:r>
          </a:p>
        </p:txBody>
      </p:sp>
      <p:sp>
        <p:nvSpPr>
          <p:cNvPr id="2" name="">
            <a:extLst xmlns:a="http://schemas.openxmlformats.org/drawingml/2006/main">
              <a:ext uri="{FF2B5EF4-FFF2-40B4-BE49-F238E27FC236}">
                <a16:creationId xmlns:a16="http://schemas.microsoft.com/office/drawing/2014/main" id="{F63E9FD4-B2F9-4207-AFE3-19FDDB3A86C8}"/>
              </a:ext>
            </a:extLst>
          </p:cNvPr>
          <p:cNvSpPr>
            <a:spLocks xmlns:a="http://schemas.openxmlformats.org/drawingml/2006/main" noGrp="1"/>
          </p:cNvSpPr>
          <p:nvPr/>
        </p:nvSpPr>
        <p:spPr>
          <a:xfrm xmlns:a="http://schemas.openxmlformats.org/drawingml/2006/main">
            <a:off x="609600" y="7239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2D40"/>
                </a:solidFill>
                <a:latin typeface="Arial"/>
                <a:ea typeface="Arial"/>
                <a:cs typeface="Arial"/>
              </a:defRPr>
            </a:pPr>
            <a:r>
              <a:rPr sz="3225" b="1">
                <a:solidFill>
                  <a:srgbClr val="182D40"/>
                </a:solidFill>
                <a:latin typeface="Arial"/>
                <a:ea typeface="Arial"/>
                <a:cs typeface="Arial"/>
              </a:rPr>
              <a:t>Dataset được gắn đúng câu hỏi cần đo</a:t>
            </a:r>
          </a:p>
        </p:txBody>
      </p:sp>
      <p:sp>
        <p:nvSpPr>
          <p:cNvPr id="3" name="">
            <a:extLst xmlns:a="http://schemas.openxmlformats.org/drawingml/2006/main">
              <a:ext uri="{FF2B5EF4-FFF2-40B4-BE49-F238E27FC236}">
                <a16:creationId xmlns:a16="http://schemas.microsoft.com/office/drawing/2014/main" id="{BE64C9A5-36B0-4906-9B1D-554D1648DEDA}"/>
              </a:ext>
            </a:extLst>
          </p:cNvPr>
          <p:cNvSpPr>
            <a:spLocks xmlns:a="http://schemas.openxmlformats.org/drawingml/2006/main" noGrp="1"/>
          </p:cNvSpPr>
          <p:nvPr/>
        </p:nvSpPr>
        <p:spPr>
          <a:xfrm xmlns:a="http://schemas.openxmlformats.org/drawingml/2006/main">
            <a:off x="609600" y="63912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371"/>
                </a:solidFill>
                <a:latin typeface="Arial"/>
                <a:ea typeface="Arial"/>
                <a:cs typeface="Arial"/>
              </a:defRPr>
            </a:pPr>
            <a:r>
              <a:rPr sz="1200" b="0">
                <a:solidFill>
                  <a:srgbClr val="526371"/>
                </a:solidFill>
                <a:latin typeface="Arial"/>
                <a:ea typeface="Arial"/>
                <a:cs typeface="Arial"/>
              </a:rPr>
              <a:t>DATN • Quốc An &amp; Minh Hy  |  01.10.2026</a:t>
            </a:r>
          </a:p>
        </p:txBody>
      </p:sp>
      <p:sp>
        <p:nvSpPr>
          <p:cNvPr id="4" name="">
            <a:extLst xmlns:a="http://schemas.openxmlformats.org/drawingml/2006/main">
              <a:ext uri="{FF2B5EF4-FFF2-40B4-BE49-F238E27FC236}">
                <a16:creationId xmlns:a16="http://schemas.microsoft.com/office/drawing/2014/main" id="{3D229815-D713-44F5-AB60-3AA07089F1D1}"/>
              </a:ext>
            </a:extLst>
          </p:cNvPr>
          <p:cNvSpPr>
            <a:spLocks xmlns:a="http://schemas.openxmlformats.org/drawingml/2006/main" noGrp="1"/>
          </p:cNvSpPr>
          <p:nvPr/>
        </p:nvSpPr>
        <p:spPr>
          <a:xfrm xmlns:a="http://schemas.openxmlformats.org/drawingml/2006/main">
            <a:off x="11049000" y="63722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371"/>
                </a:solidFill>
                <a:latin typeface="Arial"/>
                <a:ea typeface="Arial"/>
                <a:cs typeface="Arial"/>
              </a:defRPr>
            </a:pPr>
            <a:r>
              <a:rPr sz="1425" b="0">
                <a:solidFill>
                  <a:srgbClr val="526371"/>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03A784A0-6793-4053-A234-93FE29544883}"/>
              </a:ext>
            </a:extLst>
          </p:cNvPr>
          <p:cNvSpPr>
            <a:spLocks xmlns:a="http://schemas.openxmlformats.org/drawingml/2006/main" noGrp="1"/>
          </p:cNvSpPr>
          <p:nvPr/>
        </p:nvSpPr>
        <p:spPr>
          <a:xfrm xmlns:a="http://schemas.openxmlformats.org/drawingml/2006/main">
            <a:off x="60960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371"/>
                </a:solidFill>
                <a:latin typeface="Arial"/>
                <a:ea typeface="Arial"/>
                <a:cs typeface="Arial"/>
              </a:defRPr>
            </a:pPr>
            <a:r>
              <a:rPr sz="1125" b="0">
                <a:solidFill>
                  <a:srgbClr val="526371"/>
                </a:solidFill>
                <a:latin typeface="Arial"/>
                <a:ea typeface="Arial"/>
                <a:cs typeface="Arial"/>
              </a:rPr>
              <a:t>Nguồn: T-009-source-register.md  |  external-assets.md</a:t>
            </a:r>
          </a:p>
        </p:txBody>
      </p:sp>
      <p:graphicFrame>
        <p:nvGraphicFramePr>
          <p:cNvPr id="12" name=""/>
          <p:cNvGraphicFramePr/>
          <p:nvPr/>
        </p:nvGraphicFramePr>
        <p:xfrm>
          <a:off xmlns:a="http://schemas.openxmlformats.org/drawingml/2006/main" x="609600" y="2009775"/>
          <a:ext xmlns:a="http://schemas.openxmlformats.org/drawingml/2006/main" cx="10972800" cy="3409950"/>
        </p:xfrm>
        <a:graphic xmlns:a="http://schemas.openxmlformats.org/drawingml/2006/main">
          <a:graphicData uri="http://schemas.openxmlformats.org/drawingml/2006/table">
            <a:tbl>
              <a:tblPr firstRow="1" bandRow="0"/>
              <a:tblGrid>
                <a:gridCol w="2571750"/>
                <a:gridCol w="4286250"/>
                <a:gridCol w="4114800"/>
              </a:tblGrid>
              <a:tr h="681990">
                <a:tc>
                  <a:txBody>
                    <a:bodyPr/>
                    <a:lstStyle/>
                    <a:p>
                      <a:r>
                        <a:rPr sz="1725" b="1">
                          <a:solidFill>
                            <a:srgbClr val="FFFFFF"/>
                          </a:solidFill>
                          <a:latin typeface="Arial"/>
                          <a:ea typeface="Arial"/>
                          <a:cs typeface="Arial"/>
                        </a:rPr>
                        <a:t>Nguồn</a:t>
                      </a:r>
                    </a:p>
                  </a:txBody>
                  <a:tcPr marL="91440" marR="91440" marT="45720" marB="45720">
                    <a:solidFill>
                      <a:srgbClr val="182D40"/>
                    </a:solidFill>
                  </a:tcPr>
                </a:tc>
                <a:tc>
                  <a:txBody>
                    <a:bodyPr/>
                    <a:lstStyle/>
                    <a:p>
                      <a:r>
                        <a:rPr sz="1725" b="1">
                          <a:solidFill>
                            <a:srgbClr val="FFFFFF"/>
                          </a:solidFill>
                          <a:latin typeface="Arial"/>
                          <a:ea typeface="Arial"/>
                          <a:cs typeface="Arial"/>
                        </a:rPr>
                        <a:t>Đo được</a:t>
                      </a:r>
                    </a:p>
                  </a:txBody>
                  <a:tcPr marL="91440" marR="91440" marT="45720" marB="45720">
                    <a:solidFill>
                      <a:srgbClr val="182D40"/>
                    </a:solidFill>
                  </a:tcPr>
                </a:tc>
                <a:tc>
                  <a:txBody>
                    <a:bodyPr/>
                    <a:lstStyle/>
                    <a:p>
                      <a:r>
                        <a:rPr sz="1725" b="1">
                          <a:solidFill>
                            <a:srgbClr val="FFFFFF"/>
                          </a:solidFill>
                          <a:latin typeface="Arial"/>
                          <a:ea typeface="Arial"/>
                          <a:cs typeface="Arial"/>
                        </a:rPr>
                        <a:t>Không suy ra</a:t>
                      </a:r>
                    </a:p>
                  </a:txBody>
                  <a:tcPr marL="91440" marR="91440" marT="45720" marB="45720">
                    <a:solidFill>
                      <a:srgbClr val="182D40"/>
                    </a:solidFill>
                  </a:tcPr>
                </a:tc>
              </a:tr>
              <a:tr h="681990">
                <a:tc>
                  <a:txBody>
                    <a:bodyPr/>
                    <a:lstStyle/>
                    <a:p>
                      <a:r>
                        <a:rPr sz="1725" b="0">
                          <a:solidFill>
                            <a:srgbClr val="182D40"/>
                          </a:solidFill>
                          <a:latin typeface="Arial"/>
                          <a:ea typeface="Arial"/>
                          <a:cs typeface="Arial"/>
                        </a:rPr>
                        <a:t>WIDER FACE</a:t>
                      </a:r>
                    </a:p>
                  </a:txBody>
                  <a:tcPr marL="91440" marR="91440" marT="45720" marB="45720">
                    <a:solidFill>
                      <a:srgbClr val="F1F5F7"/>
                    </a:solidFill>
                  </a:tcPr>
                </a:tc>
                <a:tc>
                  <a:txBody>
                    <a:bodyPr/>
                    <a:lstStyle/>
                    <a:p>
                      <a:r>
                        <a:rPr sz="1725" b="0">
                          <a:solidFill>
                            <a:srgbClr val="182D40"/>
                          </a:solidFill>
                          <a:latin typeface="Arial"/>
                          <a:ea typeface="Arial"/>
                          <a:cs typeface="Arial"/>
                        </a:rPr>
                        <a:t>Face detection với bbox GT</a:t>
                      </a:r>
                    </a:p>
                  </a:txBody>
                  <a:tcPr marL="91440" marR="91440" marT="45720" marB="45720">
                    <a:solidFill>
                      <a:srgbClr val="F1F5F7"/>
                    </a:solidFill>
                  </a:tcPr>
                </a:tc>
                <a:tc>
                  <a:txBody>
                    <a:bodyPr/>
                    <a:lstStyle/>
                    <a:p>
                      <a:r>
                        <a:rPr sz="1725" b="0">
                          <a:solidFill>
                            <a:srgbClr val="182D40"/>
                          </a:solidFill>
                          <a:latin typeface="Arial"/>
                          <a:ea typeface="Arial"/>
                          <a:cs typeface="Arial"/>
                        </a:rPr>
                        <a:t>Identity / check-in</a:t>
                      </a:r>
                    </a:p>
                  </a:txBody>
                  <a:tcPr marL="91440" marR="91440" marT="45720" marB="45720">
                    <a:solidFill>
                      <a:srgbClr val="F1F5F7"/>
                    </a:solidFill>
                  </a:tcPr>
                </a:tc>
              </a:tr>
              <a:tr h="681990">
                <a:tc>
                  <a:txBody>
                    <a:bodyPr/>
                    <a:lstStyle/>
                    <a:p>
                      <a:r>
                        <a:rPr sz="1725" b="0">
                          <a:solidFill>
                            <a:srgbClr val="182D40"/>
                          </a:solidFill>
                          <a:latin typeface="Arial"/>
                          <a:ea typeface="Arial"/>
                          <a:cs typeface="Arial"/>
                        </a:rPr>
                        <a:t>XQLFW</a:t>
                      </a:r>
                    </a:p>
                  </a:txBody>
                  <a:tcPr marL="91440" marR="91440" marT="45720" marB="45720">
                    <a:solidFill>
                      <a:srgbClr val="FFFFFF"/>
                    </a:solidFill>
                  </a:tcPr>
                </a:tc>
                <a:tc>
                  <a:txBody>
                    <a:bodyPr/>
                    <a:lstStyle/>
                    <a:p>
                      <a:r>
                        <a:rPr sz="1725" b="0">
                          <a:solidFill>
                            <a:srgbClr val="182D40"/>
                          </a:solidFill>
                          <a:latin typeface="Arial"/>
                          <a:ea typeface="Arial"/>
                          <a:cs typeface="Arial"/>
                        </a:rPr>
                        <a:t>Verification pair; target pilot/holdout</a:t>
                      </a:r>
                    </a:p>
                  </a:txBody>
                  <a:tcPr marL="91440" marR="91440" marT="45720" marB="45720">
                    <a:solidFill>
                      <a:srgbClr val="FFFFFF"/>
                    </a:solidFill>
                  </a:tcPr>
                </a:tc>
                <a:tc>
                  <a:txBody>
                    <a:bodyPr/>
                    <a:lstStyle/>
                    <a:p>
                      <a:r>
                        <a:rPr sz="1725" b="0">
                          <a:solidFill>
                            <a:srgbClr val="182D40"/>
                          </a:solidFill>
                          <a:latin typeface="Arial"/>
                          <a:ea typeface="Arial"/>
                          <a:cs typeface="Arial"/>
                        </a:rPr>
                        <a:t>Camera cửa phòng thật</a:t>
                      </a:r>
                    </a:p>
                  </a:txBody>
                  <a:tcPr marL="91440" marR="91440" marT="45720" marB="45720">
                    <a:solidFill>
                      <a:srgbClr val="FFFFFF"/>
                    </a:solidFill>
                  </a:tcPr>
                </a:tc>
              </a:tr>
              <a:tr h="681990">
                <a:tc>
                  <a:txBody>
                    <a:bodyPr/>
                    <a:lstStyle/>
                    <a:p>
                      <a:r>
                        <a:rPr sz="1725" b="0">
                          <a:solidFill>
                            <a:srgbClr val="182D40"/>
                          </a:solidFill>
                          <a:latin typeface="Arial"/>
                          <a:ea typeface="Arial"/>
                          <a:cs typeface="Arial"/>
                        </a:rPr>
                        <a:t>BFW controlled proxy</a:t>
                      </a:r>
                    </a:p>
                  </a:txBody>
                  <a:tcPr marL="91440" marR="91440" marT="45720" marB="45720">
                    <a:solidFill>
                      <a:srgbClr val="F1F5F7"/>
                    </a:solidFill>
                  </a:tcPr>
                </a:tc>
                <a:tc>
                  <a:txBody>
                    <a:bodyPr/>
                    <a:lstStyle/>
                    <a:p>
                      <a:r>
                        <a:rPr sz="1725" b="0">
                          <a:solidFill>
                            <a:srgbClr val="182D40"/>
                          </a:solidFill>
                          <a:latin typeface="Arial"/>
                          <a:ea typeface="Arial"/>
                          <a:cs typeface="Arial"/>
                        </a:rPr>
                        <a:t>Known-ID genuine / negative / hard</a:t>
                      </a:r>
                    </a:p>
                  </a:txBody>
                  <a:tcPr marL="91440" marR="91440" marT="45720" marB="45720">
                    <a:solidFill>
                      <a:srgbClr val="F1F5F7"/>
                    </a:solidFill>
                  </a:tcPr>
                </a:tc>
                <a:tc>
                  <a:txBody>
                    <a:bodyPr/>
                    <a:lstStyle/>
                    <a:p>
                      <a:r>
                        <a:rPr sz="1725" b="0">
                          <a:solidFill>
                            <a:srgbClr val="182D40"/>
                          </a:solidFill>
                          <a:latin typeface="Arial"/>
                          <a:ea typeface="Arial"/>
                          <a:cs typeface="Arial"/>
                        </a:rPr>
                        <a:t>Tần suất lỗi tự nhiên</a:t>
                      </a:r>
                    </a:p>
                  </a:txBody>
                  <a:tcPr marL="91440" marR="91440" marT="45720" marB="45720">
                    <a:solidFill>
                      <a:srgbClr val="F1F5F7"/>
                    </a:solidFill>
                  </a:tcPr>
                </a:tc>
              </a:tr>
              <a:tr h="681990">
                <a:tc>
                  <a:txBody>
                    <a:bodyPr/>
                    <a:lstStyle/>
                    <a:p>
                      <a:r>
                        <a:rPr sz="1725" b="0">
                          <a:solidFill>
                            <a:srgbClr val="182D40"/>
                          </a:solidFill>
                          <a:latin typeface="Arial"/>
                          <a:ea typeface="Arial"/>
                          <a:cs typeface="Arial"/>
                        </a:rPr>
                        <a:t>Fixture / replay</a:t>
                      </a:r>
                    </a:p>
                  </a:txBody>
                  <a:tcPr marL="91440" marR="91440" marT="45720" marB="45720">
                    <a:solidFill>
                      <a:srgbClr val="FFFFFF"/>
                    </a:solidFill>
                  </a:tcPr>
                </a:tc>
                <a:tc>
                  <a:txBody>
                    <a:bodyPr/>
                    <a:lstStyle/>
                    <a:p>
                      <a:r>
                        <a:rPr sz="1725" b="0">
                          <a:solidFill>
                            <a:srgbClr val="182D40"/>
                          </a:solidFill>
                          <a:latin typeface="Arial"/>
                          <a:ea typeface="Arial"/>
                          <a:cs typeface="Arial"/>
                        </a:rPr>
                        <a:t>Business flow, role, retry, write</a:t>
                      </a:r>
                    </a:p>
                  </a:txBody>
                  <a:tcPr marL="91440" marR="91440" marT="45720" marB="45720">
                    <a:solidFill>
                      <a:srgbClr val="FFFFFF"/>
                    </a:solidFill>
                  </a:tcPr>
                </a:tc>
                <a:tc>
                  <a:txBody>
                    <a:bodyPr/>
                    <a:lstStyle/>
                    <a:p>
                      <a:r>
                        <a:rPr sz="1725" b="0">
                          <a:solidFill>
                            <a:srgbClr val="182D40"/>
                          </a:solidFill>
                          <a:latin typeface="Arial"/>
                          <a:ea typeface="Arial"/>
                          <a:cs typeface="Arial"/>
                        </a:rPr>
                        <a:t>Hiệu quả camera thực địa</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62964415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C10BC3A-B9B0-40D5-B477-3116866E6EAC}"/>
              </a:ext>
            </a:extLst>
          </p:cNvPr>
          <p:cNvSpPr>
            <a:spLocks xmlns:a="http://schemas.openxmlformats.org/drawingml/2006/main" noGrp="1"/>
          </p:cNvSpPr>
          <p:nvPr/>
        </p:nvSpPr>
        <p:spPr>
          <a:xfrm xmlns:a="http://schemas.openxmlformats.org/drawingml/2006/main">
            <a:off x="609600" y="247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87D78"/>
                </a:solidFill>
                <a:latin typeface="Arial"/>
                <a:ea typeface="Arial"/>
                <a:cs typeface="Arial"/>
              </a:defRPr>
            </a:pPr>
            <a:r>
              <a:rPr sz="1350" b="1">
                <a:solidFill>
                  <a:srgbClr val="187D78"/>
                </a:solidFill>
                <a:latin typeface="Arial"/>
                <a:ea typeface="Arial"/>
                <a:cs typeface="Arial"/>
              </a:rPr>
              <a:t>05 • CANDIDATE → EXPERIMENT</a:t>
            </a:r>
          </a:p>
        </p:txBody>
      </p:sp>
      <p:sp>
        <p:nvSpPr>
          <p:cNvPr id="2" name="">
            <a:extLst xmlns:a="http://schemas.openxmlformats.org/drawingml/2006/main">
              <a:ext uri="{FF2B5EF4-FFF2-40B4-BE49-F238E27FC236}">
                <a16:creationId xmlns:a16="http://schemas.microsoft.com/office/drawing/2014/main" id="{8FAF0CAC-23E0-4C45-A77A-1928381ED2C4}"/>
              </a:ext>
            </a:extLst>
          </p:cNvPr>
          <p:cNvSpPr>
            <a:spLocks xmlns:a="http://schemas.openxmlformats.org/drawingml/2006/main" noGrp="1"/>
          </p:cNvSpPr>
          <p:nvPr/>
        </p:nvSpPr>
        <p:spPr>
          <a:xfrm xmlns:a="http://schemas.openxmlformats.org/drawingml/2006/main">
            <a:off x="609600" y="7239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2D40"/>
                </a:solidFill>
                <a:latin typeface="Arial"/>
                <a:ea typeface="Arial"/>
                <a:cs typeface="Arial"/>
              </a:defRPr>
            </a:pPr>
            <a:r>
              <a:rPr sz="3225" b="1">
                <a:solidFill>
                  <a:srgbClr val="182D40"/>
                </a:solidFill>
                <a:latin typeface="Arial"/>
                <a:ea typeface="Arial"/>
                <a:cs typeface="Arial"/>
              </a:rPr>
              <a:t>Chọn baseline vừa đủ, rồi chạy trước khi tối ưu</a:t>
            </a:r>
          </a:p>
        </p:txBody>
      </p:sp>
      <p:sp>
        <p:nvSpPr>
          <p:cNvPr id="3" name="">
            <a:extLst xmlns:a="http://schemas.openxmlformats.org/drawingml/2006/main">
              <a:ext uri="{FF2B5EF4-FFF2-40B4-BE49-F238E27FC236}">
                <a16:creationId xmlns:a16="http://schemas.microsoft.com/office/drawing/2014/main" id="{5DE29047-ADF8-4E1F-8EB1-6CFE25994A02}"/>
              </a:ext>
            </a:extLst>
          </p:cNvPr>
          <p:cNvSpPr>
            <a:spLocks xmlns:a="http://schemas.openxmlformats.org/drawingml/2006/main" noGrp="1"/>
          </p:cNvSpPr>
          <p:nvPr/>
        </p:nvSpPr>
        <p:spPr>
          <a:xfrm xmlns:a="http://schemas.openxmlformats.org/drawingml/2006/main">
            <a:off x="609600" y="63912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371"/>
                </a:solidFill>
                <a:latin typeface="Arial"/>
                <a:ea typeface="Arial"/>
                <a:cs typeface="Arial"/>
              </a:defRPr>
            </a:pPr>
            <a:r>
              <a:rPr sz="1200" b="0">
                <a:solidFill>
                  <a:srgbClr val="526371"/>
                </a:solidFill>
                <a:latin typeface="Arial"/>
                <a:ea typeface="Arial"/>
                <a:cs typeface="Arial"/>
              </a:rPr>
              <a:t>DATN • Quốc An &amp; Minh Hy  |  01.10.2026</a:t>
            </a:r>
          </a:p>
        </p:txBody>
      </p:sp>
      <p:sp>
        <p:nvSpPr>
          <p:cNvPr id="4" name="">
            <a:extLst xmlns:a="http://schemas.openxmlformats.org/drawingml/2006/main">
              <a:ext uri="{FF2B5EF4-FFF2-40B4-BE49-F238E27FC236}">
                <a16:creationId xmlns:a16="http://schemas.microsoft.com/office/drawing/2014/main" id="{7BFEC932-2930-4E4D-A245-F474F845481C}"/>
              </a:ext>
            </a:extLst>
          </p:cNvPr>
          <p:cNvSpPr>
            <a:spLocks xmlns:a="http://schemas.openxmlformats.org/drawingml/2006/main" noGrp="1"/>
          </p:cNvSpPr>
          <p:nvPr/>
        </p:nvSpPr>
        <p:spPr>
          <a:xfrm xmlns:a="http://schemas.openxmlformats.org/drawingml/2006/main">
            <a:off x="11049000" y="63722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371"/>
                </a:solidFill>
                <a:latin typeface="Arial"/>
                <a:ea typeface="Arial"/>
                <a:cs typeface="Arial"/>
              </a:defRPr>
            </a:pPr>
            <a:r>
              <a:rPr sz="1425" b="0">
                <a:solidFill>
                  <a:srgbClr val="526371"/>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BE761A89-B09B-42DE-B311-64B22D230572}"/>
              </a:ext>
            </a:extLst>
          </p:cNvPr>
          <p:cNvSpPr>
            <a:spLocks xmlns:a="http://schemas.openxmlformats.org/drawingml/2006/main" noGrp="1"/>
          </p:cNvSpPr>
          <p:nvPr/>
        </p:nvSpPr>
        <p:spPr>
          <a:xfrm xmlns:a="http://schemas.openxmlformats.org/drawingml/2006/main">
            <a:off x="60960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371"/>
                </a:solidFill>
                <a:latin typeface="Arial"/>
                <a:ea typeface="Arial"/>
                <a:cs typeface="Arial"/>
              </a:defRPr>
            </a:pPr>
            <a:r>
              <a:rPr sz="1125" b="0">
                <a:solidFill>
                  <a:srgbClr val="526371"/>
                </a:solidFill>
                <a:latin typeface="Arial"/>
                <a:ea typeface="Arial"/>
                <a:cs typeface="Arial"/>
              </a:rPr>
              <a:t>Nguồn: T-012-B0-pipeline-choice.md  |  T-010-protocol.md</a:t>
            </a:r>
          </a:p>
        </p:txBody>
      </p:sp>
      <p:sp>
        <p:nvSpPr>
          <p:cNvPr id="6" name="">
            <a:extLst xmlns:a="http://schemas.openxmlformats.org/drawingml/2006/main">
              <a:ext uri="{FF2B5EF4-FFF2-40B4-BE49-F238E27FC236}">
                <a16:creationId xmlns:a16="http://schemas.microsoft.com/office/drawing/2014/main" id="{DA764083-5398-4EA4-BCE7-0522A679D27E}"/>
              </a:ext>
            </a:extLst>
          </p:cNvPr>
          <p:cNvSpPr>
            <a:spLocks xmlns:a="http://schemas.openxmlformats.org/drawingml/2006/main" noGrp="1"/>
          </p:cNvSpPr>
          <p:nvPr/>
        </p:nvSpPr>
        <p:spPr>
          <a:xfrm xmlns:a="http://schemas.openxmlformats.org/drawingml/2006/main">
            <a:off x="742950" y="20002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D40"/>
                </a:solidFill>
                <a:latin typeface="Arial"/>
                <a:ea typeface="Arial"/>
                <a:cs typeface="Arial"/>
              </a:defRPr>
            </a:pPr>
            <a:r>
              <a:rPr sz="2250" b="0">
                <a:solidFill>
                  <a:srgbClr val="182D40"/>
                </a:solidFill>
                <a:latin typeface="Arial"/>
                <a:ea typeface="Arial"/>
                <a:cs typeface="Arial"/>
              </a:rPr>
              <a:t>B0: SCRFD 500MF → alignment → MobileFaceNet → cosine.</a:t>
            </a:r>
          </a:p>
        </p:txBody>
      </p:sp>
      <p:sp>
        <p:nvSpPr>
          <p:cNvPr id="7" name="">
            <a:extLst xmlns:a="http://schemas.openxmlformats.org/drawingml/2006/main">
              <a:ext uri="{FF2B5EF4-FFF2-40B4-BE49-F238E27FC236}">
                <a16:creationId xmlns:a16="http://schemas.microsoft.com/office/drawing/2014/main" id="{6AF05973-EE47-4527-9579-023F9DEBBD38}"/>
              </a:ext>
            </a:extLst>
          </p:cNvPr>
          <p:cNvSpPr>
            <a:spLocks xmlns:a="http://schemas.openxmlformats.org/drawingml/2006/main" noGrp="1"/>
          </p:cNvSpPr>
          <p:nvPr/>
        </p:nvSpPr>
        <p:spPr>
          <a:xfrm xmlns:a="http://schemas.openxmlformats.org/drawingml/2006/main">
            <a:off x="742950" y="2800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D40"/>
                </a:solidFill>
                <a:latin typeface="Arial"/>
                <a:ea typeface="Arial"/>
                <a:cs typeface="Arial"/>
              </a:defRPr>
            </a:pPr>
            <a:r>
              <a:rPr sz="2250" b="0">
                <a:solidFill>
                  <a:srgbClr val="182D40"/>
                </a:solidFill>
                <a:latin typeface="Arial"/>
                <a:ea typeface="Arial"/>
                <a:cs typeface="Arial"/>
              </a:rPr>
              <a:t>R50: reference encoder mạnh hơn, chi phí lớn hơn.</a:t>
            </a:r>
          </a:p>
        </p:txBody>
      </p:sp>
      <p:sp>
        <p:nvSpPr>
          <p:cNvPr id="8" name="">
            <a:extLst xmlns:a="http://schemas.openxmlformats.org/drawingml/2006/main">
              <a:ext uri="{FF2B5EF4-FFF2-40B4-BE49-F238E27FC236}">
                <a16:creationId xmlns:a16="http://schemas.microsoft.com/office/drawing/2014/main" id="{84AF4256-B420-41A3-893F-F80814C3E1B1}"/>
              </a:ext>
            </a:extLst>
          </p:cNvPr>
          <p:cNvSpPr>
            <a:spLocks xmlns:a="http://schemas.openxmlformats.org/drawingml/2006/main" noGrp="1"/>
          </p:cNvSpPr>
          <p:nvPr/>
        </p:nvSpPr>
        <p:spPr>
          <a:xfrm xmlns:a="http://schemas.openxmlformats.org/drawingml/2006/main">
            <a:off x="742950" y="36004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D40"/>
                </a:solidFill>
                <a:latin typeface="Arial"/>
                <a:ea typeface="Arial"/>
                <a:cs typeface="Arial"/>
              </a:defRPr>
            </a:pPr>
            <a:r>
              <a:rPr sz="2250" b="0">
                <a:solidFill>
                  <a:srgbClr val="182D40"/>
                </a:solidFill>
                <a:latin typeface="Arial"/>
                <a:ea typeface="Arial"/>
                <a:cs typeface="Arial"/>
              </a:rPr>
              <a:t>Không chọn bằng benchmark cao nhất; xét interface và compute.</a:t>
            </a:r>
          </a:p>
        </p:txBody>
      </p:sp>
      <p:sp>
        <p:nvSpPr>
          <p:cNvPr id="9" name="">
            <a:extLst xmlns:a="http://schemas.openxmlformats.org/drawingml/2006/main">
              <a:ext uri="{FF2B5EF4-FFF2-40B4-BE49-F238E27FC236}">
                <a16:creationId xmlns:a16="http://schemas.microsoft.com/office/drawing/2014/main" id="{EBF984CF-A9F9-421E-B960-AB90B80C3A21}"/>
              </a:ext>
            </a:extLst>
          </p:cNvPr>
          <p:cNvSpPr>
            <a:spLocks xmlns:a="http://schemas.openxmlformats.org/drawingml/2006/main" noGrp="1"/>
          </p:cNvSpPr>
          <p:nvPr/>
        </p:nvSpPr>
        <p:spPr>
          <a:xfrm xmlns:a="http://schemas.openxmlformats.org/drawingml/2006/main">
            <a:off x="742950" y="44005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D40"/>
                </a:solidFill>
                <a:latin typeface="Arial"/>
                <a:ea typeface="Arial"/>
                <a:cs typeface="Arial"/>
              </a:defRPr>
            </a:pPr>
            <a:r>
              <a:rPr sz="2250" b="0">
                <a:solidFill>
                  <a:srgbClr val="182D40"/>
                </a:solidFill>
                <a:latin typeface="Arial"/>
                <a:ea typeface="Arial"/>
                <a:cs typeface="Arial"/>
              </a:rPr>
              <a:t>Chạy B0 → xem coverage/failure → mới đặt câu hỏi cải thiện.</a:t>
            </a:r>
          </a:p>
        </p:txBody>
      </p:sp>
    </p:spTree>
    <p:extLst>
      <p:ext uri="{BB962C8B-B14F-4D97-AF65-F5344CB8AC3E}">
        <p14:creationId xmlns:p14="http://schemas.microsoft.com/office/powerpoint/2010/main" val="203964139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258483A-9A62-416B-879C-A0C488353D4C}"/>
              </a:ext>
            </a:extLst>
          </p:cNvPr>
          <p:cNvSpPr>
            <a:spLocks xmlns:a="http://schemas.openxmlformats.org/drawingml/2006/main" noGrp="1"/>
          </p:cNvSpPr>
          <p:nvPr/>
        </p:nvSpPr>
        <p:spPr>
          <a:xfrm xmlns:a="http://schemas.openxmlformats.org/drawingml/2006/main">
            <a:off x="609600" y="247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87D78"/>
                </a:solidFill>
                <a:latin typeface="Arial"/>
                <a:ea typeface="Arial"/>
                <a:cs typeface="Arial"/>
              </a:defRPr>
            </a:pPr>
            <a:r>
              <a:rPr sz="1350" b="1">
                <a:solidFill>
                  <a:srgbClr val="187D78"/>
                </a:solidFill>
                <a:latin typeface="Arial"/>
                <a:ea typeface="Arial"/>
                <a:cs typeface="Arial"/>
              </a:rPr>
              <a:t>06 • OBSERVATION FROM BASELINE</a:t>
            </a:r>
          </a:p>
        </p:txBody>
      </p:sp>
      <p:sp>
        <p:nvSpPr>
          <p:cNvPr id="2" name="">
            <a:extLst xmlns:a="http://schemas.openxmlformats.org/drawingml/2006/main">
              <a:ext uri="{FF2B5EF4-FFF2-40B4-BE49-F238E27FC236}">
                <a16:creationId xmlns:a16="http://schemas.microsoft.com/office/drawing/2014/main" id="{8F62F793-17C3-435F-AA17-53B95714BD06}"/>
              </a:ext>
            </a:extLst>
          </p:cNvPr>
          <p:cNvSpPr>
            <a:spLocks xmlns:a="http://schemas.openxmlformats.org/drawingml/2006/main" noGrp="1"/>
          </p:cNvSpPr>
          <p:nvPr/>
        </p:nvSpPr>
        <p:spPr>
          <a:xfrm xmlns:a="http://schemas.openxmlformats.org/drawingml/2006/main">
            <a:off x="609600" y="7239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2D40"/>
                </a:solidFill>
                <a:latin typeface="Arial"/>
                <a:ea typeface="Arial"/>
                <a:cs typeface="Arial"/>
              </a:defRPr>
            </a:pPr>
            <a:r>
              <a:rPr sz="3225" b="1">
                <a:solidFill>
                  <a:srgbClr val="182D40"/>
                </a:solidFill>
                <a:latin typeface="Arial"/>
                <a:ea typeface="Arial"/>
                <a:cs typeface="Arial"/>
              </a:rPr>
              <a:t>B0 chạy được, nhưng coverage còn thiếu</a:t>
            </a:r>
          </a:p>
        </p:txBody>
      </p:sp>
      <p:sp>
        <p:nvSpPr>
          <p:cNvPr id="3" name="">
            <a:extLst xmlns:a="http://schemas.openxmlformats.org/drawingml/2006/main">
              <a:ext uri="{FF2B5EF4-FFF2-40B4-BE49-F238E27FC236}">
                <a16:creationId xmlns:a16="http://schemas.microsoft.com/office/drawing/2014/main" id="{6C25507D-67E1-490C-A7F0-53064FAF1DD6}"/>
              </a:ext>
            </a:extLst>
          </p:cNvPr>
          <p:cNvSpPr>
            <a:spLocks xmlns:a="http://schemas.openxmlformats.org/drawingml/2006/main" noGrp="1"/>
          </p:cNvSpPr>
          <p:nvPr/>
        </p:nvSpPr>
        <p:spPr>
          <a:xfrm xmlns:a="http://schemas.openxmlformats.org/drawingml/2006/main">
            <a:off x="609600" y="63912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371"/>
                </a:solidFill>
                <a:latin typeface="Arial"/>
                <a:ea typeface="Arial"/>
                <a:cs typeface="Arial"/>
              </a:defRPr>
            </a:pPr>
            <a:r>
              <a:rPr sz="1200" b="0">
                <a:solidFill>
                  <a:srgbClr val="526371"/>
                </a:solidFill>
                <a:latin typeface="Arial"/>
                <a:ea typeface="Arial"/>
                <a:cs typeface="Arial"/>
              </a:rPr>
              <a:t>DATN • Quốc An &amp; Minh Hy  |  01.10.2026</a:t>
            </a:r>
          </a:p>
        </p:txBody>
      </p:sp>
      <p:sp>
        <p:nvSpPr>
          <p:cNvPr id="4" name="">
            <a:extLst xmlns:a="http://schemas.openxmlformats.org/drawingml/2006/main">
              <a:ext uri="{FF2B5EF4-FFF2-40B4-BE49-F238E27FC236}">
                <a16:creationId xmlns:a16="http://schemas.microsoft.com/office/drawing/2014/main" id="{EFEE4F8A-D688-40C0-9028-078381060976}"/>
              </a:ext>
            </a:extLst>
          </p:cNvPr>
          <p:cNvSpPr>
            <a:spLocks xmlns:a="http://schemas.openxmlformats.org/drawingml/2006/main" noGrp="1"/>
          </p:cNvSpPr>
          <p:nvPr/>
        </p:nvSpPr>
        <p:spPr>
          <a:xfrm xmlns:a="http://schemas.openxmlformats.org/drawingml/2006/main">
            <a:off x="11049000" y="63722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371"/>
                </a:solidFill>
                <a:latin typeface="Arial"/>
                <a:ea typeface="Arial"/>
                <a:cs typeface="Arial"/>
              </a:defRPr>
            </a:pPr>
            <a:r>
              <a:rPr sz="1425" b="0">
                <a:solidFill>
                  <a:srgbClr val="526371"/>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03463E1E-1830-4286-88DF-0896AC9D9F2A}"/>
              </a:ext>
            </a:extLst>
          </p:cNvPr>
          <p:cNvSpPr>
            <a:spLocks xmlns:a="http://schemas.openxmlformats.org/drawingml/2006/main" noGrp="1"/>
          </p:cNvSpPr>
          <p:nvPr/>
        </p:nvSpPr>
        <p:spPr>
          <a:xfrm xmlns:a="http://schemas.openxmlformats.org/drawingml/2006/main">
            <a:off x="60960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371"/>
                </a:solidFill>
                <a:latin typeface="Arial"/>
                <a:ea typeface="Arial"/>
                <a:cs typeface="Arial"/>
              </a:defRPr>
            </a:pPr>
            <a:r>
              <a:rPr sz="1125" b="0">
                <a:solidFill>
                  <a:srgbClr val="526371"/>
                </a:solidFill>
                <a:latin typeface="Arial"/>
                <a:ea typeface="Arial"/>
                <a:cs typeface="Arial"/>
              </a:rPr>
              <a:t>Nguồn: T-012-B0-freeze-and-stage-diagnosis.md  |  T-011-baseline-summary.md</a:t>
            </a:r>
          </a:p>
        </p:txBody>
      </p:sp>
      <p:sp>
        <p:nvSpPr>
          <p:cNvPr id="6" name="">
            <a:extLst xmlns:a="http://schemas.openxmlformats.org/drawingml/2006/main">
              <a:ext uri="{FF2B5EF4-FFF2-40B4-BE49-F238E27FC236}">
                <a16:creationId xmlns:a16="http://schemas.microsoft.com/office/drawing/2014/main" id="{03490484-D5D7-42AF-A4CC-79AE78FBFE65}"/>
              </a:ext>
            </a:extLst>
          </p:cNvPr>
          <p:cNvSpPr>
            <a:spLocks xmlns:a="http://schemas.openxmlformats.org/drawingml/2006/main" noGrp="1"/>
          </p:cNvSpPr>
          <p:nvPr/>
        </p:nvSpPr>
        <p:spPr>
          <a:xfrm xmlns:a="http://schemas.openxmlformats.org/drawingml/2006/main">
            <a:off x="666750" y="20193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7D78"/>
                </a:solidFill>
                <a:latin typeface="Arial"/>
                <a:ea typeface="Arial"/>
                <a:cs typeface="Arial"/>
              </a:defRPr>
            </a:pPr>
            <a:r>
              <a:rPr sz="3450" b="1">
                <a:solidFill>
                  <a:srgbClr val="187D78"/>
                </a:solidFill>
                <a:latin typeface="Arial"/>
                <a:ea typeface="Arial"/>
                <a:cs typeface="Arial"/>
              </a:rPr>
              <a:t>4.215 / 6.000 pair chấm được</a:t>
            </a:r>
          </a:p>
        </p:txBody>
      </p:sp>
      <p:sp>
        <p:nvSpPr>
          <p:cNvPr id="7" name="">
            <a:extLst xmlns:a="http://schemas.openxmlformats.org/drawingml/2006/main">
              <a:ext uri="{FF2B5EF4-FFF2-40B4-BE49-F238E27FC236}">
                <a16:creationId xmlns:a16="http://schemas.microsoft.com/office/drawing/2014/main" id="{15901F88-392D-4DE8-8190-E19AFC2E59B7}"/>
              </a:ext>
            </a:extLst>
          </p:cNvPr>
          <p:cNvSpPr>
            <a:spLocks xmlns:a="http://schemas.openxmlformats.org/drawingml/2006/main" noGrp="1"/>
          </p:cNvSpPr>
          <p:nvPr/>
        </p:nvSpPr>
        <p:spPr>
          <a:xfrm xmlns:a="http://schemas.openxmlformats.org/drawingml/2006/main">
            <a:off x="666750" y="28098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2D40"/>
                </a:solidFill>
                <a:latin typeface="Arial"/>
                <a:ea typeface="Arial"/>
                <a:cs typeface="Arial"/>
              </a:defRPr>
            </a:pPr>
            <a:r>
              <a:rPr sz="2400" b="0">
                <a:solidFill>
                  <a:srgbClr val="182D40"/>
                </a:solidFill>
                <a:latin typeface="Arial"/>
                <a:ea typeface="Arial"/>
                <a:cs typeface="Arial"/>
              </a:rPr>
              <a:t>1.785 unresolved  •  coverage 70,25%</a:t>
            </a:r>
          </a:p>
        </p:txBody>
      </p:sp>
      <p:sp>
        <p:nvSpPr>
          <p:cNvPr id="8" name="">
            <a:extLst xmlns:a="http://schemas.openxmlformats.org/drawingml/2006/main">
              <a:ext uri="{FF2B5EF4-FFF2-40B4-BE49-F238E27FC236}">
                <a16:creationId xmlns:a16="http://schemas.microsoft.com/office/drawing/2014/main" id="{D4DAC308-28B3-4EE8-9D3C-A9B16EAC65F0}"/>
              </a:ext>
            </a:extLst>
          </p:cNvPr>
          <p:cNvSpPr>
            <a:spLocks xmlns:a="http://schemas.openxmlformats.org/drawingml/2006/main" noGrp="1"/>
          </p:cNvSpPr>
          <p:nvPr/>
        </p:nvSpPr>
        <p:spPr>
          <a:xfrm xmlns:a="http://schemas.openxmlformats.org/drawingml/2006/main">
            <a:off x="666750" y="37052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D40"/>
                </a:solidFill>
                <a:latin typeface="Arial"/>
                <a:ea typeface="Arial"/>
                <a:cs typeface="Arial"/>
              </a:defRPr>
            </a:pPr>
            <a:r>
              <a:rPr sz="2175" b="0">
                <a:solidFill>
                  <a:srgbClr val="182D40"/>
                </a:solidFill>
                <a:latin typeface="Arial"/>
                <a:ea typeface="Arial"/>
                <a:cs typeface="Arial"/>
              </a:rPr>
              <a:t>Trong pair hợp lệ: FNMR 125/2.046  |  FMR 133/2.169</a:t>
            </a:r>
          </a:p>
        </p:txBody>
      </p:sp>
      <p:sp>
        <p:nvSpPr>
          <p:cNvPr id="9" name="">
            <a:extLst xmlns:a="http://schemas.openxmlformats.org/drawingml/2006/main">
              <a:ext uri="{FF2B5EF4-FFF2-40B4-BE49-F238E27FC236}">
                <a16:creationId xmlns:a16="http://schemas.microsoft.com/office/drawing/2014/main" id="{E90C6FE5-E408-460F-9CDD-E3228A5A7536}"/>
              </a:ext>
            </a:extLst>
          </p:cNvPr>
          <p:cNvSpPr>
            <a:spLocks xmlns:a="http://schemas.openxmlformats.org/drawingml/2006/main" noGrp="1"/>
          </p:cNvSpPr>
          <p:nvPr/>
        </p:nvSpPr>
        <p:spPr>
          <a:xfrm xmlns:a="http://schemas.openxmlformats.org/drawingml/2006/main">
            <a:off x="666750" y="4543425"/>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D40"/>
                </a:solidFill>
                <a:latin typeface="Arial"/>
                <a:ea typeface="Arial"/>
                <a:cs typeface="Arial"/>
              </a:defRPr>
            </a:pPr>
            <a:r>
              <a:rPr sz="2100" b="0">
                <a:solidFill>
                  <a:srgbClr val="182D40"/>
                </a:solidFill>
                <a:latin typeface="Arial"/>
                <a:ea typeface="Arial"/>
                <a:cs typeface="Arial"/>
              </a:rPr>
              <a:t>7.263 ảnh: 6.064 single / 291 no detection / 908 multiple detections</a:t>
            </a:r>
          </a:p>
        </p:txBody>
      </p:sp>
      <p:sp>
        <p:nvSpPr>
          <p:cNvPr id="10" name="">
            <a:extLst xmlns:a="http://schemas.openxmlformats.org/drawingml/2006/main">
              <a:ext uri="{FF2B5EF4-FFF2-40B4-BE49-F238E27FC236}">
                <a16:creationId xmlns:a16="http://schemas.microsoft.com/office/drawing/2014/main" id="{41ECA945-9E7C-4B3E-A09A-B5CBBA1DDF04}"/>
              </a:ext>
            </a:extLst>
          </p:cNvPr>
          <p:cNvSpPr>
            <a:spLocks xmlns:a="http://schemas.openxmlformats.org/drawingml/2006/main" noGrp="1"/>
          </p:cNvSpPr>
          <p:nvPr/>
        </p:nvSpPr>
        <p:spPr>
          <a:xfrm xmlns:a="http://schemas.openxmlformats.org/drawingml/2006/main">
            <a:off x="666750" y="53625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7D78"/>
                </a:solidFill>
                <a:latin typeface="Arial"/>
                <a:ea typeface="Arial"/>
                <a:cs typeface="Arial"/>
              </a:defRPr>
            </a:pPr>
            <a:r>
              <a:rPr sz="2100" b="1">
                <a:solidFill>
                  <a:srgbClr val="187D78"/>
                </a:solidFill>
                <a:latin typeface="Arial"/>
                <a:ea typeface="Arial"/>
                <a:cs typeface="Arial"/>
              </a:rPr>
              <a:t>Câu hỏi tiếp: đã khai A, có chọn đúng mặt A và abstain khi A absent?</a:t>
            </a:r>
          </a:p>
        </p:txBody>
      </p:sp>
    </p:spTree>
    <p:extLst>
      <p:ext uri="{BB962C8B-B14F-4D97-AF65-F5344CB8AC3E}">
        <p14:creationId xmlns:p14="http://schemas.microsoft.com/office/powerpoint/2010/main" val="16665072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5B2CBAA-C9F2-46E9-9204-F7ABD263D3C0}"/>
              </a:ext>
            </a:extLst>
          </p:cNvPr>
          <p:cNvSpPr>
            <a:spLocks xmlns:a="http://schemas.openxmlformats.org/drawingml/2006/main" noGrp="1"/>
          </p:cNvSpPr>
          <p:nvPr/>
        </p:nvSpPr>
        <p:spPr>
          <a:xfrm xmlns:a="http://schemas.openxmlformats.org/drawingml/2006/main">
            <a:off x="609600" y="247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87D78"/>
                </a:solidFill>
                <a:latin typeface="Arial"/>
                <a:ea typeface="Arial"/>
                <a:cs typeface="Arial"/>
              </a:defRPr>
            </a:pPr>
            <a:r>
              <a:rPr sz="1350" b="1">
                <a:solidFill>
                  <a:srgbClr val="187D78"/>
                </a:solidFill>
                <a:latin typeface="Arial"/>
                <a:ea typeface="Arial"/>
                <a:cs typeface="Arial"/>
              </a:rPr>
              <a:t>07 • IMPROVEMENT 1</a:t>
            </a:r>
          </a:p>
        </p:txBody>
      </p:sp>
      <p:sp>
        <p:nvSpPr>
          <p:cNvPr id="2" name="">
            <a:extLst xmlns:a="http://schemas.openxmlformats.org/drawingml/2006/main">
              <a:ext uri="{FF2B5EF4-FFF2-40B4-BE49-F238E27FC236}">
                <a16:creationId xmlns:a16="http://schemas.microsoft.com/office/drawing/2014/main" id="{4A931396-8A44-4BDC-89B9-CA9490C4A276}"/>
              </a:ext>
            </a:extLst>
          </p:cNvPr>
          <p:cNvSpPr>
            <a:spLocks xmlns:a="http://schemas.openxmlformats.org/drawingml/2006/main" noGrp="1"/>
          </p:cNvSpPr>
          <p:nvPr/>
        </p:nvSpPr>
        <p:spPr>
          <a:xfrm xmlns:a="http://schemas.openxmlformats.org/drawingml/2006/main">
            <a:off x="609600" y="7239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2D40"/>
                </a:solidFill>
                <a:latin typeface="Arial"/>
                <a:ea typeface="Arial"/>
                <a:cs typeface="Arial"/>
              </a:defRPr>
            </a:pPr>
            <a:r>
              <a:rPr sz="3225" b="1">
                <a:solidFill>
                  <a:srgbClr val="182D40"/>
                </a:solidFill>
                <a:latin typeface="Arial"/>
                <a:ea typeface="Arial"/>
                <a:cs typeface="Arial"/>
              </a:rPr>
              <a:t>S4: từ unresolved sang selective selection</a:t>
            </a:r>
          </a:p>
        </p:txBody>
      </p:sp>
      <p:sp>
        <p:nvSpPr>
          <p:cNvPr id="3" name="">
            <a:extLst xmlns:a="http://schemas.openxmlformats.org/drawingml/2006/main">
              <a:ext uri="{FF2B5EF4-FFF2-40B4-BE49-F238E27FC236}">
                <a16:creationId xmlns:a16="http://schemas.microsoft.com/office/drawing/2014/main" id="{2CB5BB76-8AEB-4D23-82C0-440F4D2DB3D6}"/>
              </a:ext>
            </a:extLst>
          </p:cNvPr>
          <p:cNvSpPr>
            <a:spLocks xmlns:a="http://schemas.openxmlformats.org/drawingml/2006/main" noGrp="1"/>
          </p:cNvSpPr>
          <p:nvPr/>
        </p:nvSpPr>
        <p:spPr>
          <a:xfrm xmlns:a="http://schemas.openxmlformats.org/drawingml/2006/main">
            <a:off x="609600" y="63912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371"/>
                </a:solidFill>
                <a:latin typeface="Arial"/>
                <a:ea typeface="Arial"/>
                <a:cs typeface="Arial"/>
              </a:defRPr>
            </a:pPr>
            <a:r>
              <a:rPr sz="1200" b="0">
                <a:solidFill>
                  <a:srgbClr val="526371"/>
                </a:solidFill>
                <a:latin typeface="Arial"/>
                <a:ea typeface="Arial"/>
                <a:cs typeface="Arial"/>
              </a:rPr>
              <a:t>DATN • Quốc An &amp; Minh Hy  |  01.10.2026</a:t>
            </a:r>
          </a:p>
        </p:txBody>
      </p:sp>
      <p:sp>
        <p:nvSpPr>
          <p:cNvPr id="4" name="">
            <a:extLst xmlns:a="http://schemas.openxmlformats.org/drawingml/2006/main">
              <a:ext uri="{FF2B5EF4-FFF2-40B4-BE49-F238E27FC236}">
                <a16:creationId xmlns:a16="http://schemas.microsoft.com/office/drawing/2014/main" id="{F5B03A32-62E0-4981-BC87-B0AB0999E08F}"/>
              </a:ext>
            </a:extLst>
          </p:cNvPr>
          <p:cNvSpPr>
            <a:spLocks xmlns:a="http://schemas.openxmlformats.org/drawingml/2006/main" noGrp="1"/>
          </p:cNvSpPr>
          <p:nvPr/>
        </p:nvSpPr>
        <p:spPr>
          <a:xfrm xmlns:a="http://schemas.openxmlformats.org/drawingml/2006/main">
            <a:off x="11049000" y="63722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371"/>
                </a:solidFill>
                <a:latin typeface="Arial"/>
                <a:ea typeface="Arial"/>
                <a:cs typeface="Arial"/>
              </a:defRPr>
            </a:pPr>
            <a:r>
              <a:rPr sz="1425" b="0">
                <a:solidFill>
                  <a:srgbClr val="526371"/>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376859BE-7306-47D1-8B65-8146EF31B02E}"/>
              </a:ext>
            </a:extLst>
          </p:cNvPr>
          <p:cNvSpPr>
            <a:spLocks xmlns:a="http://schemas.openxmlformats.org/drawingml/2006/main" noGrp="1"/>
          </p:cNvSpPr>
          <p:nvPr/>
        </p:nvSpPr>
        <p:spPr>
          <a:xfrm xmlns:a="http://schemas.openxmlformats.org/drawingml/2006/main">
            <a:off x="60960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371"/>
                </a:solidFill>
                <a:latin typeface="Arial"/>
                <a:ea typeface="Arial"/>
                <a:cs typeface="Arial"/>
              </a:defRPr>
            </a:pPr>
            <a:r>
              <a:rPr sz="1125" b="0">
                <a:solidFill>
                  <a:srgbClr val="526371"/>
                </a:solidFill>
                <a:latin typeface="Arial"/>
                <a:ea typeface="Arial"/>
                <a:cs typeface="Arial"/>
              </a:rPr>
              <a:t>Nguồn: T-014-method-protocol.md  |  T-017-clean-confirmation.md</a:t>
            </a:r>
          </a:p>
        </p:txBody>
      </p:sp>
      <p:graphicFrame>
        <p:nvGraphicFramePr>
          <p:cNvPr id="14" name=""/>
          <p:cNvGraphicFramePr/>
          <p:nvPr/>
        </p:nvGraphicFramePr>
        <p:xfrm>
          <a:off xmlns:a="http://schemas.openxmlformats.org/drawingml/2006/main" x="609600" y="2000250"/>
          <a:ext xmlns:a="http://schemas.openxmlformats.org/drawingml/2006/main" cx="10972800" cy="2428875"/>
        </p:xfrm>
        <a:graphic xmlns:a="http://schemas.openxmlformats.org/drawingml/2006/main">
          <a:graphicData uri="http://schemas.openxmlformats.org/drawingml/2006/table">
            <a:tbl>
              <a:tblPr firstRow="1" bandRow="0"/>
              <a:tblGrid>
                <a:gridCol w="2476500"/>
                <a:gridCol w="8496300"/>
              </a:tblGrid>
              <a:tr h="607219">
                <a:tc>
                  <a:txBody>
                    <a:bodyPr/>
                    <a:lstStyle/>
                    <a:p>
                      <a:r>
                        <a:rPr sz="1725" b="1">
                          <a:solidFill>
                            <a:srgbClr val="FFFFFF"/>
                          </a:solidFill>
                          <a:latin typeface="Arial"/>
                          <a:ea typeface="Arial"/>
                          <a:cs typeface="Arial"/>
                        </a:rPr>
                        <a:t>Method</a:t>
                      </a:r>
                    </a:p>
                  </a:txBody>
                  <a:tcPr marL="91440" marR="91440" marT="45720" marB="45720">
                    <a:solidFill>
                      <a:srgbClr val="182D40"/>
                    </a:solidFill>
                  </a:tcPr>
                </a:tc>
                <a:tc>
                  <a:txBody>
                    <a:bodyPr/>
                    <a:lstStyle/>
                    <a:p>
                      <a:r>
                        <a:rPr sz="1725" b="1">
                          <a:solidFill>
                            <a:srgbClr val="FFFFFF"/>
                          </a:solidFill>
                          <a:latin typeface="Arial"/>
                          <a:ea typeface="Arial"/>
                          <a:cs typeface="Arial"/>
                        </a:rPr>
                        <a:t>Multi-face decision</a:t>
                      </a:r>
                    </a:p>
                  </a:txBody>
                  <a:tcPr marL="91440" marR="91440" marT="45720" marB="45720">
                    <a:solidFill>
                      <a:srgbClr val="182D40"/>
                    </a:solidFill>
                  </a:tcPr>
                </a:tc>
              </a:tr>
              <a:tr h="607219">
                <a:tc>
                  <a:txBody>
                    <a:bodyPr/>
                    <a:lstStyle/>
                    <a:p>
                      <a:r>
                        <a:rPr sz="1725" b="0">
                          <a:solidFill>
                            <a:srgbClr val="182D40"/>
                          </a:solidFill>
                          <a:latin typeface="Arial"/>
                          <a:ea typeface="Arial"/>
                          <a:cs typeface="Arial"/>
                        </a:rPr>
                        <a:t>B0</a:t>
                      </a:r>
                    </a:p>
                  </a:txBody>
                  <a:tcPr marL="91440" marR="91440" marT="45720" marB="45720">
                    <a:solidFill>
                      <a:srgbClr val="F1F5F7"/>
                    </a:solidFill>
                  </a:tcPr>
                </a:tc>
                <a:tc>
                  <a:txBody>
                    <a:bodyPr/>
                    <a:lstStyle/>
                    <a:p>
                      <a:r>
                        <a:rPr sz="1725" b="0">
                          <a:solidFill>
                            <a:srgbClr val="182D40"/>
                          </a:solidFill>
                          <a:latin typeface="Arial"/>
                          <a:ea typeface="Arial"/>
                          <a:cs typeface="Arial"/>
                        </a:rPr>
                        <a:t>Unresolved</a:t>
                      </a:r>
                    </a:p>
                  </a:txBody>
                  <a:tcPr marL="91440" marR="91440" marT="45720" marB="45720">
                    <a:solidFill>
                      <a:srgbClr val="F1F5F7"/>
                    </a:solidFill>
                  </a:tcPr>
                </a:tc>
              </a:tr>
              <a:tr h="607219">
                <a:tc>
                  <a:txBody>
                    <a:bodyPr/>
                    <a:lstStyle/>
                    <a:p>
                      <a:r>
                        <a:rPr sz="1725" b="0">
                          <a:solidFill>
                            <a:srgbClr val="182D40"/>
                          </a:solidFill>
                          <a:latin typeface="Arial"/>
                          <a:ea typeface="Arial"/>
                          <a:cs typeface="Arial"/>
                        </a:rPr>
                        <a:t>P1</a:t>
                      </a:r>
                    </a:p>
                  </a:txBody>
                  <a:tcPr marL="91440" marR="91440" marT="45720" marB="45720">
                    <a:solidFill>
                      <a:srgbClr val="FFFFFF"/>
                    </a:solidFill>
                  </a:tcPr>
                </a:tc>
                <a:tc>
                  <a:txBody>
                    <a:bodyPr/>
                    <a:lstStyle/>
                    <a:p>
                      <a:r>
                        <a:rPr sz="1725" b="0">
                          <a:solidFill>
                            <a:srgbClr val="182D40"/>
                          </a:solidFill>
                          <a:latin typeface="Arial"/>
                          <a:ea typeface="Arial"/>
                          <a:cs typeface="Arial"/>
                        </a:rPr>
                        <a:t>Chọn face có cosine lớn nhất</a:t>
                      </a:r>
                    </a:p>
                  </a:txBody>
                  <a:tcPr marL="91440" marR="91440" marT="45720" marB="45720">
                    <a:solidFill>
                      <a:srgbClr val="FFFFFF"/>
                    </a:solidFill>
                  </a:tcPr>
                </a:tc>
              </a:tr>
              <a:tr h="607219">
                <a:tc>
                  <a:txBody>
                    <a:bodyPr/>
                    <a:lstStyle/>
                    <a:p>
                      <a:r>
                        <a:rPr sz="1725" b="0">
                          <a:solidFill>
                            <a:srgbClr val="182D40"/>
                          </a:solidFill>
                          <a:latin typeface="Arial"/>
                          <a:ea typeface="Arial"/>
                          <a:cs typeface="Arial"/>
                        </a:rPr>
                        <a:t>P2</a:t>
                      </a:r>
                    </a:p>
                  </a:txBody>
                  <a:tcPr marL="91440" marR="91440" marT="45720" marB="45720">
                    <a:solidFill>
                      <a:srgbClr val="F1F5F7"/>
                    </a:solidFill>
                  </a:tcPr>
                </a:tc>
                <a:tc>
                  <a:txBody>
                    <a:bodyPr/>
                    <a:lstStyle/>
                    <a:p>
                      <a:r>
                        <a:rPr sz="1725" b="0">
                          <a:solidFill>
                            <a:srgbClr val="182D40"/>
                          </a:solidFill>
                          <a:latin typeface="Arial"/>
                          <a:ea typeface="Arial"/>
                          <a:cs typeface="Arial"/>
                        </a:rPr>
                        <a:t>Chọn nếu score ≥ τ và margin ≥ δ</a:t>
                      </a:r>
                    </a:p>
                  </a:txBody>
                  <a:tcPr marL="91440" marR="91440" marT="45720" marB="45720">
                    <a:solidFill>
                      <a:srgbClr val="F1F5F7"/>
                    </a:solidFill>
                  </a:tcPr>
                </a:tc>
              </a:tr>
            </a:tbl>
          </a:graphicData>
        </a:graphic>
      </p:graphicFrame>
      <p:sp>
        <p:nvSpPr>
          <p:cNvPr id="7" name="">
            <a:extLst xmlns:a="http://schemas.openxmlformats.org/drawingml/2006/main">
              <a:ext uri="{FF2B5EF4-FFF2-40B4-BE49-F238E27FC236}">
                <a16:creationId xmlns:a16="http://schemas.microsoft.com/office/drawing/2014/main" id="{1BB6D85B-4064-4DD7-BDB3-84E0163E23E5}"/>
              </a:ext>
            </a:extLst>
          </p:cNvPr>
          <p:cNvSpPr>
            <a:spLocks xmlns:a="http://schemas.openxmlformats.org/drawingml/2006/main" noGrp="1"/>
          </p:cNvSpPr>
          <p:nvPr/>
        </p:nvSpPr>
        <p:spPr>
          <a:xfrm xmlns:a="http://schemas.openxmlformats.org/drawingml/2006/main">
            <a:off x="666750" y="46958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7D78"/>
                </a:solidFill>
                <a:latin typeface="Arial"/>
                <a:ea typeface="Arial"/>
                <a:cs typeface="Arial"/>
              </a:defRPr>
            </a:pPr>
            <a:r>
              <a:rPr sz="2100" b="1">
                <a:solidFill>
                  <a:srgbClr val="187D78"/>
                </a:solidFill>
                <a:latin typeface="Arial"/>
                <a:ea typeface="Arial"/>
                <a:cs typeface="Arial"/>
              </a:rPr>
              <a:t>τ = 0,147897   |   δ = 0,076473   |   6.561 tổ hợp trên development</a:t>
            </a:r>
          </a:p>
        </p:txBody>
      </p:sp>
      <p:sp>
        <p:nvSpPr>
          <p:cNvPr id="8" name="">
            <a:extLst xmlns:a="http://schemas.openxmlformats.org/drawingml/2006/main">
              <a:ext uri="{FF2B5EF4-FFF2-40B4-BE49-F238E27FC236}">
                <a16:creationId xmlns:a16="http://schemas.microsoft.com/office/drawing/2014/main" id="{5A0CE002-12DB-44B2-B95B-040D111AD623}"/>
              </a:ext>
            </a:extLst>
          </p:cNvPr>
          <p:cNvSpPr>
            <a:spLocks xmlns:a="http://schemas.openxmlformats.org/drawingml/2006/main" noGrp="1"/>
          </p:cNvSpPr>
          <p:nvPr/>
        </p:nvSpPr>
        <p:spPr>
          <a:xfrm xmlns:a="http://schemas.openxmlformats.org/drawingml/2006/main">
            <a:off x="666750" y="54197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2D40"/>
                </a:solidFill>
                <a:latin typeface="Arial"/>
                <a:ea typeface="Arial"/>
                <a:cs typeface="Arial"/>
              </a:defRPr>
            </a:pPr>
            <a:r>
              <a:rPr sz="1875" b="0">
                <a:solidFill>
                  <a:srgbClr val="182D40"/>
                </a:solidFill>
                <a:latin typeface="Arial"/>
                <a:ea typeface="Arial"/>
                <a:cs typeface="Arial"/>
              </a:rPr>
              <a:t>T-017: point trên ảnh gốc trước bbox mapping; không dùng score sửa nhãn.</a:t>
            </a:r>
          </a:p>
        </p:txBody>
      </p:sp>
    </p:spTree>
    <p:extLst>
      <p:ext uri="{BB962C8B-B14F-4D97-AF65-F5344CB8AC3E}">
        <p14:creationId xmlns:p14="http://schemas.microsoft.com/office/powerpoint/2010/main" val="9691251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E32F49-B635-4473-967E-4777332FA79C}"/>
              </a:ext>
            </a:extLst>
          </p:cNvPr>
          <p:cNvSpPr>
            <a:spLocks xmlns:a="http://schemas.openxmlformats.org/drawingml/2006/main" noGrp="1"/>
          </p:cNvSpPr>
          <p:nvPr/>
        </p:nvSpPr>
        <p:spPr>
          <a:xfrm xmlns:a="http://schemas.openxmlformats.org/drawingml/2006/main">
            <a:off x="609600" y="247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87D78"/>
                </a:solidFill>
                <a:latin typeface="Arial"/>
                <a:ea typeface="Arial"/>
                <a:cs typeface="Arial"/>
              </a:defRPr>
            </a:pPr>
            <a:r>
              <a:rPr sz="1350" b="1">
                <a:solidFill>
                  <a:srgbClr val="187D78"/>
                </a:solidFill>
                <a:latin typeface="Arial"/>
                <a:ea typeface="Arial"/>
                <a:cs typeface="Arial"/>
              </a:rPr>
              <a:t>08 • CLEAN CONFIRMATION • T-017</a:t>
            </a:r>
          </a:p>
        </p:txBody>
      </p:sp>
      <p:sp>
        <p:nvSpPr>
          <p:cNvPr id="2" name="">
            <a:extLst xmlns:a="http://schemas.openxmlformats.org/drawingml/2006/main">
              <a:ext uri="{FF2B5EF4-FFF2-40B4-BE49-F238E27FC236}">
                <a16:creationId xmlns:a16="http://schemas.microsoft.com/office/drawing/2014/main" id="{AF9BBC55-FF1E-48A0-AA03-D5DDF1DC3B13}"/>
              </a:ext>
            </a:extLst>
          </p:cNvPr>
          <p:cNvSpPr>
            <a:spLocks xmlns:a="http://schemas.openxmlformats.org/drawingml/2006/main" noGrp="1"/>
          </p:cNvSpPr>
          <p:nvPr/>
        </p:nvSpPr>
        <p:spPr>
          <a:xfrm xmlns:a="http://schemas.openxmlformats.org/drawingml/2006/main">
            <a:off x="609600" y="7239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2D40"/>
                </a:solidFill>
                <a:latin typeface="Arial"/>
                <a:ea typeface="Arial"/>
                <a:cs typeface="Arial"/>
              </a:defRPr>
            </a:pPr>
            <a:r>
              <a:rPr sz="3225" b="1">
                <a:solidFill>
                  <a:srgbClr val="182D40"/>
                </a:solidFill>
                <a:latin typeface="Arial"/>
                <a:ea typeface="Arial"/>
                <a:cs typeface="Arial"/>
              </a:rPr>
              <a:t>S4 target-present: P2 phục hồi 46/49 lượt</a:t>
            </a:r>
          </a:p>
        </p:txBody>
      </p:sp>
      <p:sp>
        <p:nvSpPr>
          <p:cNvPr id="3" name="">
            <a:extLst xmlns:a="http://schemas.openxmlformats.org/drawingml/2006/main">
              <a:ext uri="{FF2B5EF4-FFF2-40B4-BE49-F238E27FC236}">
                <a16:creationId xmlns:a16="http://schemas.microsoft.com/office/drawing/2014/main" id="{10324263-88AD-473D-8808-4DDE6711DAAE}"/>
              </a:ext>
            </a:extLst>
          </p:cNvPr>
          <p:cNvSpPr>
            <a:spLocks xmlns:a="http://schemas.openxmlformats.org/drawingml/2006/main" noGrp="1"/>
          </p:cNvSpPr>
          <p:nvPr/>
        </p:nvSpPr>
        <p:spPr>
          <a:xfrm xmlns:a="http://schemas.openxmlformats.org/drawingml/2006/main">
            <a:off x="609600" y="63912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371"/>
                </a:solidFill>
                <a:latin typeface="Arial"/>
                <a:ea typeface="Arial"/>
                <a:cs typeface="Arial"/>
              </a:defRPr>
            </a:pPr>
            <a:r>
              <a:rPr sz="1200" b="0">
                <a:solidFill>
                  <a:srgbClr val="526371"/>
                </a:solidFill>
                <a:latin typeface="Arial"/>
                <a:ea typeface="Arial"/>
                <a:cs typeface="Arial"/>
              </a:rPr>
              <a:t>DATN • Quốc An &amp; Minh Hy  |  01.10.2026</a:t>
            </a:r>
          </a:p>
        </p:txBody>
      </p:sp>
      <p:sp>
        <p:nvSpPr>
          <p:cNvPr id="4" name="">
            <a:extLst xmlns:a="http://schemas.openxmlformats.org/drawingml/2006/main">
              <a:ext uri="{FF2B5EF4-FFF2-40B4-BE49-F238E27FC236}">
                <a16:creationId xmlns:a16="http://schemas.microsoft.com/office/drawing/2014/main" id="{A2B3B130-505A-41EE-9602-9A0C6B47BC2A}"/>
              </a:ext>
            </a:extLst>
          </p:cNvPr>
          <p:cNvSpPr>
            <a:spLocks xmlns:a="http://schemas.openxmlformats.org/drawingml/2006/main" noGrp="1"/>
          </p:cNvSpPr>
          <p:nvPr/>
        </p:nvSpPr>
        <p:spPr>
          <a:xfrm xmlns:a="http://schemas.openxmlformats.org/drawingml/2006/main">
            <a:off x="11049000" y="63722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371"/>
                </a:solidFill>
                <a:latin typeface="Arial"/>
                <a:ea typeface="Arial"/>
                <a:cs typeface="Arial"/>
              </a:defRPr>
            </a:pPr>
            <a:r>
              <a:rPr sz="1425" b="0">
                <a:solidFill>
                  <a:srgbClr val="526371"/>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D43ED173-C9D9-49C8-AABB-1F70921D4019}"/>
              </a:ext>
            </a:extLst>
          </p:cNvPr>
          <p:cNvSpPr>
            <a:spLocks xmlns:a="http://schemas.openxmlformats.org/drawingml/2006/main" noGrp="1"/>
          </p:cNvSpPr>
          <p:nvPr/>
        </p:nvSpPr>
        <p:spPr>
          <a:xfrm xmlns:a="http://schemas.openxmlformats.org/drawingml/2006/main">
            <a:off x="60960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371"/>
                </a:solidFill>
                <a:latin typeface="Arial"/>
                <a:ea typeface="Arial"/>
                <a:cs typeface="Arial"/>
              </a:defRPr>
            </a:pPr>
            <a:r>
              <a:rPr sz="1125" b="0">
                <a:solidFill>
                  <a:srgbClr val="526371"/>
                </a:solidFill>
                <a:latin typeface="Arial"/>
                <a:ea typeface="Arial"/>
                <a:cs typeface="Arial"/>
              </a:rPr>
              <a:t>Nguồn: T-017-clean-confirmation.md</a:t>
            </a:r>
          </a:p>
        </p:txBody>
      </p:sp>
      <p:graphicFrame>
        <p:nvGraphicFramePr>
          <p:cNvPr id="14" name="Chart"/>
          <p:cNvGraphicFramePr/>
          <p:nvPr/>
        </p:nvGraphicFramePr>
        <p:xfrm>
          <a:off xmlns:a="http://schemas.openxmlformats.org/drawingml/2006/main" x="666750" y="2019300"/>
          <a:ext xmlns:a="http://schemas.openxmlformats.org/drawingml/2006/main" cx="10858500" cy="3429000"/>
        </p:xfrm>
        <a:graphic xmlns:a="http://schemas.openxmlformats.org/drawingml/2006/main">
          <a:graphicData uri="http://schemas.openxmlformats.org/drawingml/2006/chart">
            <c:chart xmlns:r="http://schemas.openxmlformats.org/officeDocument/2006/relationships" xmlns:c="http://schemas.openxmlformats.org/drawingml/2006/chart" r:id="R5b6227420d4e4f21"/>
          </a:graphicData>
        </a:graphic>
      </p:graphicFrame>
      <p:sp>
        <p:nvSpPr>
          <p:cNvPr id="7" name="">
            <a:extLst xmlns:a="http://schemas.openxmlformats.org/drawingml/2006/main">
              <a:ext uri="{FF2B5EF4-FFF2-40B4-BE49-F238E27FC236}">
                <a16:creationId xmlns:a16="http://schemas.microsoft.com/office/drawing/2014/main" id="{CEEEDF7D-8EBB-4C03-8692-2D50EAB90A4C}"/>
              </a:ext>
            </a:extLst>
          </p:cNvPr>
          <p:cNvSpPr>
            <a:spLocks xmlns:a="http://schemas.openxmlformats.org/drawingml/2006/main" noGrp="1"/>
          </p:cNvSpPr>
          <p:nvPr/>
        </p:nvSpPr>
        <p:spPr>
          <a:xfrm xmlns:a="http://schemas.openxmlformats.org/drawingml/2006/main">
            <a:off x="742950" y="16859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371"/>
                </a:solidFill>
                <a:latin typeface="Arial"/>
                <a:ea typeface="Arial"/>
                <a:cs typeface="Arial"/>
              </a:defRPr>
            </a:pPr>
            <a:r>
              <a:rPr sz="1650" b="0">
                <a:solidFill>
                  <a:srgbClr val="526371"/>
                </a:solidFill>
                <a:latin typeface="Arial"/>
                <a:ea typeface="Arial"/>
                <a:cs typeface="Arial"/>
              </a:rPr>
              <a:t>B0: 0 / 0 / 49     |     P1: 49 / 0 / 0     |     P2: 46 / 0 / 3</a:t>
            </a:r>
          </a:p>
        </p:txBody>
      </p:sp>
      <p:sp>
        <p:nvSpPr>
          <p:cNvPr id="8" name="">
            <a:extLst xmlns:a="http://schemas.openxmlformats.org/drawingml/2006/main">
              <a:ext uri="{FF2B5EF4-FFF2-40B4-BE49-F238E27FC236}">
                <a16:creationId xmlns:a16="http://schemas.microsoft.com/office/drawing/2014/main" id="{89AF5386-7552-4F80-8D52-4C4879DC4A0C}"/>
              </a:ext>
            </a:extLst>
          </p:cNvPr>
          <p:cNvSpPr>
            <a:spLocks xmlns:a="http://schemas.openxmlformats.org/drawingml/2006/main" noGrp="1"/>
          </p:cNvSpPr>
          <p:nvPr/>
        </p:nvSpPr>
        <p:spPr>
          <a:xfrm xmlns:a="http://schemas.openxmlformats.org/drawingml/2006/main">
            <a:off x="666750" y="55721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7D78"/>
                </a:solidFill>
                <a:latin typeface="Arial"/>
                <a:ea typeface="Arial"/>
                <a:cs typeface="Arial"/>
              </a:defRPr>
            </a:pPr>
            <a:r>
              <a:rPr sz="2025" b="1">
                <a:solidFill>
                  <a:srgbClr val="187D78"/>
                </a:solidFill>
                <a:latin typeface="Arial"/>
                <a:ea typeface="Arial"/>
                <a:cs typeface="Arial"/>
              </a:rPr>
              <a:t>P2: 93,9% correct selection  |  3 unresolved  |  0 wrong</a:t>
            </a:r>
          </a:p>
        </p:txBody>
      </p:sp>
    </p:spTree>
    <p:extLst>
      <p:ext uri="{BB962C8B-B14F-4D97-AF65-F5344CB8AC3E}">
        <p14:creationId xmlns:p14="http://schemas.microsoft.com/office/powerpoint/2010/main" val="19587482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F9EE803-4919-4E63-AC54-2E96D9BFA695}"/>
              </a:ext>
            </a:extLst>
          </p:cNvPr>
          <p:cNvSpPr>
            <a:spLocks xmlns:a="http://schemas.openxmlformats.org/drawingml/2006/main" noGrp="1"/>
          </p:cNvSpPr>
          <p:nvPr/>
        </p:nvSpPr>
        <p:spPr>
          <a:xfrm xmlns:a="http://schemas.openxmlformats.org/drawingml/2006/main">
            <a:off x="609600" y="247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87D78"/>
                </a:solidFill>
                <a:latin typeface="Arial"/>
                <a:ea typeface="Arial"/>
                <a:cs typeface="Arial"/>
              </a:defRPr>
            </a:pPr>
            <a:r>
              <a:rPr sz="1350" b="1">
                <a:solidFill>
                  <a:srgbClr val="187D78"/>
                </a:solidFill>
                <a:latin typeface="Arial"/>
                <a:ea typeface="Arial"/>
                <a:cs typeface="Arial"/>
              </a:rPr>
              <a:t>09 • TRADE-OFF • T-017</a:t>
            </a:r>
          </a:p>
        </p:txBody>
      </p:sp>
      <p:sp>
        <p:nvSpPr>
          <p:cNvPr id="2" name="">
            <a:extLst xmlns:a="http://schemas.openxmlformats.org/drawingml/2006/main">
              <a:ext uri="{FF2B5EF4-FFF2-40B4-BE49-F238E27FC236}">
                <a16:creationId xmlns:a16="http://schemas.microsoft.com/office/drawing/2014/main" id="{E57A5DF0-6173-4EDA-9979-09883511123D}"/>
              </a:ext>
            </a:extLst>
          </p:cNvPr>
          <p:cNvSpPr>
            <a:spLocks xmlns:a="http://schemas.openxmlformats.org/drawingml/2006/main" noGrp="1"/>
          </p:cNvSpPr>
          <p:nvPr/>
        </p:nvSpPr>
        <p:spPr>
          <a:xfrm xmlns:a="http://schemas.openxmlformats.org/drawingml/2006/main">
            <a:off x="609600" y="7239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2D40"/>
                </a:solidFill>
                <a:latin typeface="Arial"/>
                <a:ea typeface="Arial"/>
                <a:cs typeface="Arial"/>
              </a:defRPr>
            </a:pPr>
            <a:r>
              <a:rPr sz="3225" b="1">
                <a:solidFill>
                  <a:srgbClr val="182D40"/>
                </a:solidFill>
                <a:latin typeface="Arial"/>
                <a:ea typeface="Arial"/>
                <a:cs typeface="Arial"/>
              </a:rPr>
              <a:t>S4 target-absent: P1 ép chọn, P2 biết abstain</a:t>
            </a:r>
          </a:p>
        </p:txBody>
      </p:sp>
      <p:sp>
        <p:nvSpPr>
          <p:cNvPr id="3" name="">
            <a:extLst xmlns:a="http://schemas.openxmlformats.org/drawingml/2006/main">
              <a:ext uri="{FF2B5EF4-FFF2-40B4-BE49-F238E27FC236}">
                <a16:creationId xmlns:a16="http://schemas.microsoft.com/office/drawing/2014/main" id="{F13E2C0F-CBD8-4C58-BA26-5D1E75231A08}"/>
              </a:ext>
            </a:extLst>
          </p:cNvPr>
          <p:cNvSpPr>
            <a:spLocks xmlns:a="http://schemas.openxmlformats.org/drawingml/2006/main" noGrp="1"/>
          </p:cNvSpPr>
          <p:nvPr/>
        </p:nvSpPr>
        <p:spPr>
          <a:xfrm xmlns:a="http://schemas.openxmlformats.org/drawingml/2006/main">
            <a:off x="609600" y="63912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371"/>
                </a:solidFill>
                <a:latin typeface="Arial"/>
                <a:ea typeface="Arial"/>
                <a:cs typeface="Arial"/>
              </a:defRPr>
            </a:pPr>
            <a:r>
              <a:rPr sz="1200" b="0">
                <a:solidFill>
                  <a:srgbClr val="526371"/>
                </a:solidFill>
                <a:latin typeface="Arial"/>
                <a:ea typeface="Arial"/>
                <a:cs typeface="Arial"/>
              </a:rPr>
              <a:t>DATN • Quốc An &amp; Minh Hy  |  01.10.2026</a:t>
            </a:r>
          </a:p>
        </p:txBody>
      </p:sp>
      <p:sp>
        <p:nvSpPr>
          <p:cNvPr id="4" name="">
            <a:extLst xmlns:a="http://schemas.openxmlformats.org/drawingml/2006/main">
              <a:ext uri="{FF2B5EF4-FFF2-40B4-BE49-F238E27FC236}">
                <a16:creationId xmlns:a16="http://schemas.microsoft.com/office/drawing/2014/main" id="{81DED440-ABCA-4269-9BE2-393C45C136EA}"/>
              </a:ext>
            </a:extLst>
          </p:cNvPr>
          <p:cNvSpPr>
            <a:spLocks xmlns:a="http://schemas.openxmlformats.org/drawingml/2006/main" noGrp="1"/>
          </p:cNvSpPr>
          <p:nvPr/>
        </p:nvSpPr>
        <p:spPr>
          <a:xfrm xmlns:a="http://schemas.openxmlformats.org/drawingml/2006/main">
            <a:off x="11049000" y="63722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371"/>
                </a:solidFill>
                <a:latin typeface="Arial"/>
                <a:ea typeface="Arial"/>
                <a:cs typeface="Arial"/>
              </a:defRPr>
            </a:pPr>
            <a:r>
              <a:rPr sz="1425" b="0">
                <a:solidFill>
                  <a:srgbClr val="526371"/>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1A535AF7-AF5F-42FF-96D2-346C7927ED96}"/>
              </a:ext>
            </a:extLst>
          </p:cNvPr>
          <p:cNvSpPr>
            <a:spLocks xmlns:a="http://schemas.openxmlformats.org/drawingml/2006/main" noGrp="1"/>
          </p:cNvSpPr>
          <p:nvPr/>
        </p:nvSpPr>
        <p:spPr>
          <a:xfrm xmlns:a="http://schemas.openxmlformats.org/drawingml/2006/main">
            <a:off x="60960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371"/>
                </a:solidFill>
                <a:latin typeface="Arial"/>
                <a:ea typeface="Arial"/>
                <a:cs typeface="Arial"/>
              </a:defRPr>
            </a:pPr>
            <a:r>
              <a:rPr sz="1125" b="0">
                <a:solidFill>
                  <a:srgbClr val="526371"/>
                </a:solidFill>
                <a:latin typeface="Arial"/>
                <a:ea typeface="Arial"/>
                <a:cs typeface="Arial"/>
              </a:rPr>
              <a:t>Nguồn: T-017-clean-confirmation.md</a:t>
            </a:r>
          </a:p>
        </p:txBody>
      </p:sp>
      <p:graphicFrame>
        <p:nvGraphicFramePr>
          <p:cNvPr id="14" name="Chart"/>
          <p:cNvGraphicFramePr/>
          <p:nvPr/>
        </p:nvGraphicFramePr>
        <p:xfrm>
          <a:off xmlns:a="http://schemas.openxmlformats.org/drawingml/2006/main" x="666750" y="2019300"/>
          <a:ext xmlns:a="http://schemas.openxmlformats.org/drawingml/2006/main" cx="10858500" cy="3429000"/>
        </p:xfrm>
        <a:graphic xmlns:a="http://schemas.openxmlformats.org/drawingml/2006/main">
          <a:graphicData uri="http://schemas.openxmlformats.org/drawingml/2006/chart">
            <c:chart xmlns:r="http://schemas.openxmlformats.org/officeDocument/2006/relationships" xmlns:c="http://schemas.openxmlformats.org/drawingml/2006/chart" r:id="R65396f60df724241"/>
          </a:graphicData>
        </a:graphic>
      </p:graphicFrame>
      <p:sp>
        <p:nvSpPr>
          <p:cNvPr id="7" name="">
            <a:extLst xmlns:a="http://schemas.openxmlformats.org/drawingml/2006/main">
              <a:ext uri="{FF2B5EF4-FFF2-40B4-BE49-F238E27FC236}">
                <a16:creationId xmlns:a16="http://schemas.microsoft.com/office/drawing/2014/main" id="{40A58698-17F7-4393-A73E-7D757C8EBFC9}"/>
              </a:ext>
            </a:extLst>
          </p:cNvPr>
          <p:cNvSpPr>
            <a:spLocks xmlns:a="http://schemas.openxmlformats.org/drawingml/2006/main" noGrp="1"/>
          </p:cNvSpPr>
          <p:nvPr/>
        </p:nvSpPr>
        <p:spPr>
          <a:xfrm xmlns:a="http://schemas.openxmlformats.org/drawingml/2006/main">
            <a:off x="742950" y="16859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371"/>
                </a:solidFill>
                <a:latin typeface="Arial"/>
                <a:ea typeface="Arial"/>
                <a:cs typeface="Arial"/>
              </a:defRPr>
            </a:pPr>
            <a:r>
              <a:rPr sz="1650" b="0">
                <a:solidFill>
                  <a:srgbClr val="526371"/>
                </a:solidFill>
                <a:latin typeface="Arial"/>
                <a:ea typeface="Arial"/>
                <a:cs typeface="Arial"/>
              </a:rPr>
              <a:t>B0: 41 / 0     |     P1: 0 / 41     |     P2: 39 / 2</a:t>
            </a:r>
          </a:p>
        </p:txBody>
      </p:sp>
      <p:sp>
        <p:nvSpPr>
          <p:cNvPr id="8" name="">
            <a:extLst xmlns:a="http://schemas.openxmlformats.org/drawingml/2006/main">
              <a:ext uri="{FF2B5EF4-FFF2-40B4-BE49-F238E27FC236}">
                <a16:creationId xmlns:a16="http://schemas.microsoft.com/office/drawing/2014/main" id="{B5A6B46E-490C-471D-82D9-A20C495E03AE}"/>
              </a:ext>
            </a:extLst>
          </p:cNvPr>
          <p:cNvSpPr>
            <a:spLocks xmlns:a="http://schemas.openxmlformats.org/drawingml/2006/main" noGrp="1"/>
          </p:cNvSpPr>
          <p:nvPr/>
        </p:nvSpPr>
        <p:spPr>
          <a:xfrm xmlns:a="http://schemas.openxmlformats.org/drawingml/2006/main">
            <a:off x="666750" y="55721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7D78"/>
                </a:solidFill>
                <a:latin typeface="Arial"/>
                <a:ea typeface="Arial"/>
                <a:cs typeface="Arial"/>
              </a:defRPr>
            </a:pPr>
            <a:r>
              <a:rPr sz="2025" b="1">
                <a:solidFill>
                  <a:srgbClr val="187D78"/>
                </a:solidFill>
                <a:latin typeface="Arial"/>
                <a:ea typeface="Arial"/>
                <a:cs typeface="Arial"/>
              </a:rPr>
              <a:t>2/41 false selection sinh câu hỏi: S8 có chặn candidate sai không?</a:t>
            </a:r>
          </a:p>
        </p:txBody>
      </p:sp>
    </p:spTree>
    <p:extLst>
      <p:ext uri="{BB962C8B-B14F-4D97-AF65-F5344CB8AC3E}">
        <p14:creationId xmlns:p14="http://schemas.microsoft.com/office/powerpoint/2010/main" val="186128672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29E881F-EBF0-4760-AFFE-C558B7CB13D1}"/>
              </a:ext>
            </a:extLst>
          </p:cNvPr>
          <p:cNvSpPr>
            <a:spLocks xmlns:a="http://schemas.openxmlformats.org/drawingml/2006/main" noGrp="1"/>
          </p:cNvSpPr>
          <p:nvPr/>
        </p:nvSpPr>
        <p:spPr>
          <a:xfrm xmlns:a="http://schemas.openxmlformats.org/drawingml/2006/main">
            <a:off x="609600" y="247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87D78"/>
                </a:solidFill>
                <a:latin typeface="Arial"/>
                <a:ea typeface="Arial"/>
                <a:cs typeface="Arial"/>
              </a:defRPr>
            </a:pPr>
            <a:r>
              <a:rPr sz="1350" b="1">
                <a:solidFill>
                  <a:srgbClr val="187D78"/>
                </a:solidFill>
                <a:latin typeface="Arial"/>
                <a:ea typeface="Arial"/>
                <a:cs typeface="Arial"/>
              </a:rPr>
              <a:t>10 • FAILURE → NEXT RESEARCH QUESTION</a:t>
            </a:r>
          </a:p>
        </p:txBody>
      </p:sp>
      <p:sp>
        <p:nvSpPr>
          <p:cNvPr id="2" name="">
            <a:extLst xmlns:a="http://schemas.openxmlformats.org/drawingml/2006/main">
              <a:ext uri="{FF2B5EF4-FFF2-40B4-BE49-F238E27FC236}">
                <a16:creationId xmlns:a16="http://schemas.microsoft.com/office/drawing/2014/main" id="{285BEB59-9A45-4B35-8BE5-C11C20454C28}"/>
              </a:ext>
            </a:extLst>
          </p:cNvPr>
          <p:cNvSpPr>
            <a:spLocks xmlns:a="http://schemas.openxmlformats.org/drawingml/2006/main" noGrp="1"/>
          </p:cNvSpPr>
          <p:nvPr/>
        </p:nvSpPr>
        <p:spPr>
          <a:xfrm xmlns:a="http://schemas.openxmlformats.org/drawingml/2006/main">
            <a:off x="609600" y="7239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2D40"/>
                </a:solidFill>
                <a:latin typeface="Arial"/>
                <a:ea typeface="Arial"/>
                <a:cs typeface="Arial"/>
              </a:defRPr>
            </a:pPr>
            <a:r>
              <a:rPr sz="3225" b="1">
                <a:solidFill>
                  <a:srgbClr val="182D40"/>
                </a:solidFill>
                <a:latin typeface="Arial"/>
                <a:ea typeface="Arial"/>
                <a:cs typeface="Arial"/>
              </a:rPr>
              <a:t>T-020: S8 chưa tạo barrier sau S4</a:t>
            </a:r>
          </a:p>
        </p:txBody>
      </p:sp>
      <p:sp>
        <p:nvSpPr>
          <p:cNvPr id="3" name="">
            <a:extLst xmlns:a="http://schemas.openxmlformats.org/drawingml/2006/main">
              <a:ext uri="{FF2B5EF4-FFF2-40B4-BE49-F238E27FC236}">
                <a16:creationId xmlns:a16="http://schemas.microsoft.com/office/drawing/2014/main" id="{2FE9CA37-E13E-4FFB-B897-F99800264C31}"/>
              </a:ext>
            </a:extLst>
          </p:cNvPr>
          <p:cNvSpPr>
            <a:spLocks xmlns:a="http://schemas.openxmlformats.org/drawingml/2006/main" noGrp="1"/>
          </p:cNvSpPr>
          <p:nvPr/>
        </p:nvSpPr>
        <p:spPr>
          <a:xfrm xmlns:a="http://schemas.openxmlformats.org/drawingml/2006/main">
            <a:off x="609600" y="63912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371"/>
                </a:solidFill>
                <a:latin typeface="Arial"/>
                <a:ea typeface="Arial"/>
                <a:cs typeface="Arial"/>
              </a:defRPr>
            </a:pPr>
            <a:r>
              <a:rPr sz="1200" b="0">
                <a:solidFill>
                  <a:srgbClr val="526371"/>
                </a:solidFill>
                <a:latin typeface="Arial"/>
                <a:ea typeface="Arial"/>
                <a:cs typeface="Arial"/>
              </a:rPr>
              <a:t>DATN • Quốc An &amp; Minh Hy  |  01.10.2026</a:t>
            </a:r>
          </a:p>
        </p:txBody>
      </p:sp>
      <p:sp>
        <p:nvSpPr>
          <p:cNvPr id="4" name="">
            <a:extLst xmlns:a="http://schemas.openxmlformats.org/drawingml/2006/main">
              <a:ext uri="{FF2B5EF4-FFF2-40B4-BE49-F238E27FC236}">
                <a16:creationId xmlns:a16="http://schemas.microsoft.com/office/drawing/2014/main" id="{EB3819BF-6238-43ED-B31A-8EACF4AF8289}"/>
              </a:ext>
            </a:extLst>
          </p:cNvPr>
          <p:cNvSpPr>
            <a:spLocks xmlns:a="http://schemas.openxmlformats.org/drawingml/2006/main" noGrp="1"/>
          </p:cNvSpPr>
          <p:nvPr/>
        </p:nvSpPr>
        <p:spPr>
          <a:xfrm xmlns:a="http://schemas.openxmlformats.org/drawingml/2006/main">
            <a:off x="11049000" y="63722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371"/>
                </a:solidFill>
                <a:latin typeface="Arial"/>
                <a:ea typeface="Arial"/>
                <a:cs typeface="Arial"/>
              </a:defRPr>
            </a:pPr>
            <a:r>
              <a:rPr sz="1425" b="0">
                <a:solidFill>
                  <a:srgbClr val="526371"/>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F0822F4F-8E0A-4B88-B93F-F7D9DAB7718A}"/>
              </a:ext>
            </a:extLst>
          </p:cNvPr>
          <p:cNvSpPr>
            <a:spLocks xmlns:a="http://schemas.openxmlformats.org/drawingml/2006/main" noGrp="1"/>
          </p:cNvSpPr>
          <p:nvPr/>
        </p:nvSpPr>
        <p:spPr>
          <a:xfrm xmlns:a="http://schemas.openxmlformats.org/drawingml/2006/main">
            <a:off x="60960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371"/>
                </a:solidFill>
                <a:latin typeface="Arial"/>
                <a:ea typeface="Arial"/>
                <a:cs typeface="Arial"/>
              </a:defRPr>
            </a:pPr>
            <a:r>
              <a:rPr sz="1125" b="0">
                <a:solidFill>
                  <a:srgbClr val="526371"/>
                </a:solidFill>
                <a:latin typeface="Arial"/>
                <a:ea typeface="Arial"/>
                <a:cs typeface="Arial"/>
              </a:rPr>
              <a:t>Nguồn: T-020-s4-s8-integration.md  |  T-021-s8-risk-protocol.md</a:t>
            </a:r>
          </a:p>
        </p:txBody>
      </p:sp>
      <p:sp>
        <p:nvSpPr>
          <p:cNvPr id="6" name="">
            <a:extLst xmlns:a="http://schemas.openxmlformats.org/drawingml/2006/main">
              <a:ext uri="{FF2B5EF4-FFF2-40B4-BE49-F238E27FC236}">
                <a16:creationId xmlns:a16="http://schemas.microsoft.com/office/drawing/2014/main" id="{AA6F1F00-4DBD-4D75-87C9-02D5387D20D4}"/>
              </a:ext>
            </a:extLst>
          </p:cNvPr>
          <p:cNvSpPr>
            <a:spLocks xmlns:a="http://schemas.openxmlformats.org/drawingml/2006/main" noGrp="1"/>
          </p:cNvSpPr>
          <p:nvPr/>
        </p:nvSpPr>
        <p:spPr>
          <a:xfrm xmlns:a="http://schemas.openxmlformats.org/drawingml/2006/main">
            <a:off x="609600" y="2009775"/>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7" name="">
            <a:extLst xmlns:a="http://schemas.openxmlformats.org/drawingml/2006/main">
              <a:ext uri="{FF2B5EF4-FFF2-40B4-BE49-F238E27FC236}">
                <a16:creationId xmlns:a16="http://schemas.microsoft.com/office/drawing/2014/main" id="{76C475AA-0165-4C37-B376-8E3B94E26479}"/>
              </a:ext>
            </a:extLst>
          </p:cNvPr>
          <p:cNvSpPr>
            <a:spLocks xmlns:a="http://schemas.openxmlformats.org/drawingml/2006/main" noGrp="1"/>
          </p:cNvSpPr>
          <p:nvPr/>
        </p:nvSpPr>
        <p:spPr>
          <a:xfrm xmlns:a="http://schemas.openxmlformats.org/drawingml/2006/main">
            <a:off x="723900" y="2171700"/>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Non-target</a:t>
            </a:r>
          </a:p>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được P2 chọn</a:t>
            </a:r>
          </a:p>
        </p:txBody>
      </p:sp>
      <p:sp>
        <p:nvSpPr>
          <p:cNvPr id="8" name="">
            <a:extLst xmlns:a="http://schemas.openxmlformats.org/drawingml/2006/main">
              <a:ext uri="{FF2B5EF4-FFF2-40B4-BE49-F238E27FC236}">
                <a16:creationId xmlns:a16="http://schemas.microsoft.com/office/drawing/2014/main" id="{A5780A70-24E7-4677-AC9A-A6ADB6BB130B}"/>
              </a:ext>
            </a:extLst>
          </p:cNvPr>
          <p:cNvSpPr>
            <a:spLocks xmlns:a="http://schemas.openxmlformats.org/drawingml/2006/main" noGrp="1"/>
          </p:cNvSpPr>
          <p:nvPr/>
        </p:nvSpPr>
        <p:spPr>
          <a:xfrm xmlns:a="http://schemas.openxmlformats.org/drawingml/2006/main">
            <a:off x="3062288" y="22955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7D78"/>
                </a:solidFill>
                <a:latin typeface="Arial"/>
                <a:ea typeface="Arial"/>
                <a:cs typeface="Arial"/>
              </a:defRPr>
            </a:pPr>
            <a:r>
              <a:rPr sz="1875" b="1">
                <a:solidFill>
                  <a:srgbClr val="187D78"/>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75543B3E-7471-4693-A9D0-D2D2E7944188}"/>
              </a:ext>
            </a:extLst>
          </p:cNvPr>
          <p:cNvSpPr>
            <a:spLocks xmlns:a="http://schemas.openxmlformats.org/drawingml/2006/main" noGrp="1"/>
          </p:cNvSpPr>
          <p:nvPr/>
        </p:nvSpPr>
        <p:spPr>
          <a:xfrm xmlns:a="http://schemas.openxmlformats.org/drawingml/2006/main">
            <a:off x="3424238" y="2009775"/>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10" name="">
            <a:extLst xmlns:a="http://schemas.openxmlformats.org/drawingml/2006/main">
              <a:ext uri="{FF2B5EF4-FFF2-40B4-BE49-F238E27FC236}">
                <a16:creationId xmlns:a16="http://schemas.microsoft.com/office/drawing/2014/main" id="{68464C94-1769-4BD7-AC83-6CA423287979}"/>
              </a:ext>
            </a:extLst>
          </p:cNvPr>
          <p:cNvSpPr>
            <a:spLocks xmlns:a="http://schemas.openxmlformats.org/drawingml/2006/main" noGrp="1"/>
          </p:cNvSpPr>
          <p:nvPr/>
        </p:nvSpPr>
        <p:spPr>
          <a:xfrm xmlns:a="http://schemas.openxmlformats.org/drawingml/2006/main">
            <a:off x="3538538" y="2171700"/>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Cosine cao</a:t>
            </a:r>
          </a:p>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 0,147897</a:t>
            </a:r>
          </a:p>
        </p:txBody>
      </p:sp>
      <p:sp>
        <p:nvSpPr>
          <p:cNvPr id="11" name="">
            <a:extLst xmlns:a="http://schemas.openxmlformats.org/drawingml/2006/main">
              <a:ext uri="{FF2B5EF4-FFF2-40B4-BE49-F238E27FC236}">
                <a16:creationId xmlns:a16="http://schemas.microsoft.com/office/drawing/2014/main" id="{2EBD8FA4-8A63-41E1-ABBF-ABF8A3D74C49}"/>
              </a:ext>
            </a:extLst>
          </p:cNvPr>
          <p:cNvSpPr>
            <a:spLocks xmlns:a="http://schemas.openxmlformats.org/drawingml/2006/main" noGrp="1"/>
          </p:cNvSpPr>
          <p:nvPr/>
        </p:nvSpPr>
        <p:spPr>
          <a:xfrm xmlns:a="http://schemas.openxmlformats.org/drawingml/2006/main">
            <a:off x="5876925" y="22955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7D78"/>
                </a:solidFill>
                <a:latin typeface="Arial"/>
                <a:ea typeface="Arial"/>
                <a:cs typeface="Arial"/>
              </a:defRPr>
            </a:pPr>
            <a:r>
              <a:rPr sz="1875" b="1">
                <a:solidFill>
                  <a:srgbClr val="187D78"/>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7F79D49A-F1B1-4FCD-B29F-349FD4FF21AC}"/>
              </a:ext>
            </a:extLst>
          </p:cNvPr>
          <p:cNvSpPr>
            <a:spLocks xmlns:a="http://schemas.openxmlformats.org/drawingml/2006/main" noGrp="1"/>
          </p:cNvSpPr>
          <p:nvPr/>
        </p:nvSpPr>
        <p:spPr>
          <a:xfrm xmlns:a="http://schemas.openxmlformats.org/drawingml/2006/main">
            <a:off x="6238875" y="2009775"/>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13" name="">
            <a:extLst xmlns:a="http://schemas.openxmlformats.org/drawingml/2006/main">
              <a:ext uri="{FF2B5EF4-FFF2-40B4-BE49-F238E27FC236}">
                <a16:creationId xmlns:a16="http://schemas.microsoft.com/office/drawing/2014/main" id="{BEF1D133-C786-476B-906F-FB9724F0D84A}"/>
              </a:ext>
            </a:extLst>
          </p:cNvPr>
          <p:cNvSpPr>
            <a:spLocks xmlns:a="http://schemas.openxmlformats.org/drawingml/2006/main" noGrp="1"/>
          </p:cNvSpPr>
          <p:nvPr/>
        </p:nvSpPr>
        <p:spPr>
          <a:xfrm xmlns:a="http://schemas.openxmlformats.org/drawingml/2006/main">
            <a:off x="6353175" y="2171700"/>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S8 reuse score</a:t>
            </a:r>
          </a:p>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θold = 0,122254</a:t>
            </a:r>
          </a:p>
        </p:txBody>
      </p:sp>
      <p:sp>
        <p:nvSpPr>
          <p:cNvPr id="14" name="">
            <a:extLst xmlns:a="http://schemas.openxmlformats.org/drawingml/2006/main">
              <a:ext uri="{FF2B5EF4-FFF2-40B4-BE49-F238E27FC236}">
                <a16:creationId xmlns:a16="http://schemas.microsoft.com/office/drawing/2014/main" id="{AEFA4E07-63A7-4AAB-BD47-2E5F733D22CD}"/>
              </a:ext>
            </a:extLst>
          </p:cNvPr>
          <p:cNvSpPr>
            <a:spLocks xmlns:a="http://schemas.openxmlformats.org/drawingml/2006/main" noGrp="1"/>
          </p:cNvSpPr>
          <p:nvPr/>
        </p:nvSpPr>
        <p:spPr>
          <a:xfrm xmlns:a="http://schemas.openxmlformats.org/drawingml/2006/main">
            <a:off x="8691563" y="22955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7D78"/>
                </a:solidFill>
                <a:latin typeface="Arial"/>
                <a:ea typeface="Arial"/>
                <a:cs typeface="Arial"/>
              </a:defRPr>
            </a:pPr>
            <a:r>
              <a:rPr sz="1875" b="1">
                <a:solidFill>
                  <a:srgbClr val="187D78"/>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E90DBFAF-46E3-49CF-B6B8-A4B84F8B7783}"/>
              </a:ext>
            </a:extLst>
          </p:cNvPr>
          <p:cNvSpPr>
            <a:spLocks xmlns:a="http://schemas.openxmlformats.org/drawingml/2006/main" noGrp="1"/>
          </p:cNvSpPr>
          <p:nvPr/>
        </p:nvSpPr>
        <p:spPr>
          <a:xfrm xmlns:a="http://schemas.openxmlformats.org/drawingml/2006/main">
            <a:off x="9053513" y="2009775"/>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16" name="">
            <a:extLst xmlns:a="http://schemas.openxmlformats.org/drawingml/2006/main">
              <a:ext uri="{FF2B5EF4-FFF2-40B4-BE49-F238E27FC236}">
                <a16:creationId xmlns:a16="http://schemas.microsoft.com/office/drawing/2014/main" id="{FCF9685B-0594-4F70-A8BF-7AB66F9AAB4E}"/>
              </a:ext>
            </a:extLst>
          </p:cNvPr>
          <p:cNvSpPr>
            <a:spLocks xmlns:a="http://schemas.openxmlformats.org/drawingml/2006/main" noGrp="1"/>
          </p:cNvSpPr>
          <p:nvPr/>
        </p:nvSpPr>
        <p:spPr>
          <a:xfrm xmlns:a="http://schemas.openxmlformats.org/drawingml/2006/main">
            <a:off x="9167813" y="2171700"/>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Cả 2 proxy case</a:t>
            </a:r>
          </a:p>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ACCEPT</a:t>
            </a:r>
          </a:p>
        </p:txBody>
      </p:sp>
      <p:sp>
        <p:nvSpPr>
          <p:cNvPr id="17" name="">
            <a:extLst xmlns:a="http://schemas.openxmlformats.org/drawingml/2006/main">
              <a:ext uri="{FF2B5EF4-FFF2-40B4-BE49-F238E27FC236}">
                <a16:creationId xmlns:a16="http://schemas.microsoft.com/office/drawing/2014/main" id="{4D7899D2-FAA3-4ADA-872C-DEE9FB4A4AA8}"/>
              </a:ext>
            </a:extLst>
          </p:cNvPr>
          <p:cNvSpPr>
            <a:spLocks xmlns:a="http://schemas.openxmlformats.org/drawingml/2006/main" noGrp="1"/>
          </p:cNvSpPr>
          <p:nvPr/>
        </p:nvSpPr>
        <p:spPr>
          <a:xfrm xmlns:a="http://schemas.openxmlformats.org/drawingml/2006/main">
            <a:off x="666750" y="35623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44345"/>
                </a:solidFill>
                <a:latin typeface="Arial"/>
                <a:ea typeface="Arial"/>
                <a:cs typeface="Arial"/>
              </a:defRPr>
            </a:pPr>
            <a:r>
              <a:rPr sz="2400" b="1">
                <a:solidFill>
                  <a:srgbClr val="B44345"/>
                </a:solidFill>
                <a:latin typeface="Arial"/>
                <a:ea typeface="Arial"/>
                <a:cs typeface="Arial"/>
              </a:rPr>
              <a:t>S4 và S8 dùng cùng encoder / cosine signal trong replay.</a:t>
            </a:r>
          </a:p>
        </p:txBody>
      </p:sp>
      <p:sp>
        <p:nvSpPr>
          <p:cNvPr id="18" name="">
            <a:extLst xmlns:a="http://schemas.openxmlformats.org/drawingml/2006/main">
              <a:ext uri="{FF2B5EF4-FFF2-40B4-BE49-F238E27FC236}">
                <a16:creationId xmlns:a16="http://schemas.microsoft.com/office/drawing/2014/main" id="{2329C374-3D89-4347-87AD-203A7865C435}"/>
              </a:ext>
            </a:extLst>
          </p:cNvPr>
          <p:cNvSpPr>
            <a:spLocks xmlns:a="http://schemas.openxmlformats.org/drawingml/2006/main" noGrp="1"/>
          </p:cNvSpPr>
          <p:nvPr/>
        </p:nvSpPr>
        <p:spPr>
          <a:xfrm xmlns:a="http://schemas.openxmlformats.org/drawingml/2006/main">
            <a:off x="666750" y="43434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D40"/>
                </a:solidFill>
                <a:latin typeface="Arial"/>
                <a:ea typeface="Arial"/>
                <a:cs typeface="Arial"/>
              </a:defRPr>
            </a:pPr>
            <a:r>
              <a:rPr sz="2250" b="0">
                <a:solidFill>
                  <a:srgbClr val="182D40"/>
                </a:solidFill>
                <a:latin typeface="Arial"/>
                <a:ea typeface="Arial"/>
                <a:cs typeface="Arial"/>
              </a:rPr>
              <a:t>Hai threshold không tự tạo hai lớp bằng chứng độc lập.</a:t>
            </a:r>
          </a:p>
        </p:txBody>
      </p:sp>
      <p:sp>
        <p:nvSpPr>
          <p:cNvPr id="19" name="">
            <a:extLst xmlns:a="http://schemas.openxmlformats.org/drawingml/2006/main">
              <a:ext uri="{FF2B5EF4-FFF2-40B4-BE49-F238E27FC236}">
                <a16:creationId xmlns:a16="http://schemas.microsoft.com/office/drawing/2014/main" id="{9BA73162-7B5B-4EBF-8237-B80333F31DB4}"/>
              </a:ext>
            </a:extLst>
          </p:cNvPr>
          <p:cNvSpPr>
            <a:spLocks xmlns:a="http://schemas.openxmlformats.org/drawingml/2006/main" noGrp="1"/>
          </p:cNvSpPr>
          <p:nvPr/>
        </p:nvSpPr>
        <p:spPr>
          <a:xfrm xmlns:a="http://schemas.openxmlformats.org/drawingml/2006/main">
            <a:off x="666750" y="51816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7D78"/>
                </a:solidFill>
                <a:latin typeface="Arial"/>
                <a:ea typeface="Arial"/>
                <a:cs typeface="Arial"/>
              </a:defRPr>
            </a:pPr>
            <a:r>
              <a:rPr sz="2175" b="1">
                <a:solidFill>
                  <a:srgbClr val="187D78"/>
                </a:solidFill>
                <a:latin typeface="Arial"/>
                <a:ea typeface="Arial"/>
                <a:cs typeface="Arial"/>
              </a:rPr>
              <a:t>T-021: đánh giá genuine / ordinary impostor / S4-derived hard negative.</a:t>
            </a:r>
          </a:p>
        </p:txBody>
      </p:sp>
    </p:spTree>
    <p:extLst>
      <p:ext uri="{BB962C8B-B14F-4D97-AF65-F5344CB8AC3E}">
        <p14:creationId xmlns:p14="http://schemas.microsoft.com/office/powerpoint/2010/main" val="9060307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2B7C47E-DEC6-447B-85BF-DC4CDEA9991B}"/>
              </a:ext>
            </a:extLst>
          </p:cNvPr>
          <p:cNvSpPr>
            <a:spLocks xmlns:a="http://schemas.openxmlformats.org/drawingml/2006/main" noGrp="1"/>
          </p:cNvSpPr>
          <p:nvPr/>
        </p:nvSpPr>
        <p:spPr>
          <a:xfrm xmlns:a="http://schemas.openxmlformats.org/drawingml/2006/main">
            <a:off x="609600" y="247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87D78"/>
                </a:solidFill>
                <a:latin typeface="Arial"/>
                <a:ea typeface="Arial"/>
                <a:cs typeface="Arial"/>
              </a:defRPr>
            </a:pPr>
            <a:r>
              <a:rPr sz="1350" b="1">
                <a:solidFill>
                  <a:srgbClr val="187D78"/>
                </a:solidFill>
                <a:latin typeface="Arial"/>
                <a:ea typeface="Arial"/>
                <a:cs typeface="Arial"/>
              </a:rPr>
              <a:t>11 • IMPROVEMENT 2 • T-021–T-023</a:t>
            </a:r>
          </a:p>
        </p:txBody>
      </p:sp>
      <p:sp>
        <p:nvSpPr>
          <p:cNvPr id="2" name="">
            <a:extLst xmlns:a="http://schemas.openxmlformats.org/drawingml/2006/main">
              <a:ext uri="{FF2B5EF4-FFF2-40B4-BE49-F238E27FC236}">
                <a16:creationId xmlns:a16="http://schemas.microsoft.com/office/drawing/2014/main" id="{AB10D769-55B1-4F84-AF14-028FE4FB344C}"/>
              </a:ext>
            </a:extLst>
          </p:cNvPr>
          <p:cNvSpPr>
            <a:spLocks xmlns:a="http://schemas.openxmlformats.org/drawingml/2006/main" noGrp="1"/>
          </p:cNvSpPr>
          <p:nvPr/>
        </p:nvSpPr>
        <p:spPr>
          <a:xfrm xmlns:a="http://schemas.openxmlformats.org/drawingml/2006/main">
            <a:off x="609600" y="7239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2D40"/>
                </a:solidFill>
                <a:latin typeface="Arial"/>
                <a:ea typeface="Arial"/>
                <a:cs typeface="Arial"/>
              </a:defRPr>
            </a:pPr>
            <a:r>
              <a:rPr sz="3225" b="1">
                <a:solidFill>
                  <a:srgbClr val="182D40"/>
                </a:solidFill>
                <a:latin typeface="Arial"/>
                <a:ea typeface="Arial"/>
                <a:cs typeface="Arial"/>
              </a:rPr>
              <a:t>S8: khóa GT, split và rule trước evaluation</a:t>
            </a:r>
          </a:p>
        </p:txBody>
      </p:sp>
      <p:sp>
        <p:nvSpPr>
          <p:cNvPr id="3" name="">
            <a:extLst xmlns:a="http://schemas.openxmlformats.org/drawingml/2006/main">
              <a:ext uri="{FF2B5EF4-FFF2-40B4-BE49-F238E27FC236}">
                <a16:creationId xmlns:a16="http://schemas.microsoft.com/office/drawing/2014/main" id="{D271EF46-DEC9-4F95-975F-C32C3A1A5184}"/>
              </a:ext>
            </a:extLst>
          </p:cNvPr>
          <p:cNvSpPr>
            <a:spLocks xmlns:a="http://schemas.openxmlformats.org/drawingml/2006/main" noGrp="1"/>
          </p:cNvSpPr>
          <p:nvPr/>
        </p:nvSpPr>
        <p:spPr>
          <a:xfrm xmlns:a="http://schemas.openxmlformats.org/drawingml/2006/main">
            <a:off x="609600" y="63912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371"/>
                </a:solidFill>
                <a:latin typeface="Arial"/>
                <a:ea typeface="Arial"/>
                <a:cs typeface="Arial"/>
              </a:defRPr>
            </a:pPr>
            <a:r>
              <a:rPr sz="1200" b="0">
                <a:solidFill>
                  <a:srgbClr val="526371"/>
                </a:solidFill>
                <a:latin typeface="Arial"/>
                <a:ea typeface="Arial"/>
                <a:cs typeface="Arial"/>
              </a:rPr>
              <a:t>DATN • Quốc An &amp; Minh Hy  |  01.10.2026</a:t>
            </a:r>
          </a:p>
        </p:txBody>
      </p:sp>
      <p:sp>
        <p:nvSpPr>
          <p:cNvPr id="4" name="">
            <a:extLst xmlns:a="http://schemas.openxmlformats.org/drawingml/2006/main">
              <a:ext uri="{FF2B5EF4-FFF2-40B4-BE49-F238E27FC236}">
                <a16:creationId xmlns:a16="http://schemas.microsoft.com/office/drawing/2014/main" id="{9D91A028-17E2-4CF7-8B16-8FAD1FE6D9E1}"/>
              </a:ext>
            </a:extLst>
          </p:cNvPr>
          <p:cNvSpPr>
            <a:spLocks xmlns:a="http://schemas.openxmlformats.org/drawingml/2006/main" noGrp="1"/>
          </p:cNvSpPr>
          <p:nvPr/>
        </p:nvSpPr>
        <p:spPr>
          <a:xfrm xmlns:a="http://schemas.openxmlformats.org/drawingml/2006/main">
            <a:off x="11049000" y="63722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371"/>
                </a:solidFill>
                <a:latin typeface="Arial"/>
                <a:ea typeface="Arial"/>
                <a:cs typeface="Arial"/>
              </a:defRPr>
            </a:pPr>
            <a:r>
              <a:rPr sz="1425" b="0">
                <a:solidFill>
                  <a:srgbClr val="526371"/>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3111D6DA-EC72-410E-B6FB-E17EB93A134A}"/>
              </a:ext>
            </a:extLst>
          </p:cNvPr>
          <p:cNvSpPr>
            <a:spLocks xmlns:a="http://schemas.openxmlformats.org/drawingml/2006/main" noGrp="1"/>
          </p:cNvSpPr>
          <p:nvPr/>
        </p:nvSpPr>
        <p:spPr>
          <a:xfrm xmlns:a="http://schemas.openxmlformats.org/drawingml/2006/main">
            <a:off x="60960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371"/>
                </a:solidFill>
                <a:latin typeface="Arial"/>
                <a:ea typeface="Arial"/>
                <a:cs typeface="Arial"/>
              </a:defRPr>
            </a:pPr>
            <a:r>
              <a:rPr sz="1125" b="0">
                <a:solidFill>
                  <a:srgbClr val="526371"/>
                </a:solidFill>
                <a:latin typeface="Arial"/>
                <a:ea typeface="Arial"/>
                <a:cs typeface="Arial"/>
              </a:rPr>
              <a:t>Nguồn: T-022-s8-evaluation-result.md  |  T-023-encoder-assessment-protocol.md  |  T-023-development-analysis.md</a:t>
            </a:r>
          </a:p>
        </p:txBody>
      </p:sp>
      <p:sp>
        <p:nvSpPr>
          <p:cNvPr id="6" name="">
            <a:extLst xmlns:a="http://schemas.openxmlformats.org/drawingml/2006/main">
              <a:ext uri="{FF2B5EF4-FFF2-40B4-BE49-F238E27FC236}">
                <a16:creationId xmlns:a16="http://schemas.microsoft.com/office/drawing/2014/main" id="{CEAA5AC6-204C-4DCB-A02A-5B1C0B396522}"/>
              </a:ext>
            </a:extLst>
          </p:cNvPr>
          <p:cNvSpPr>
            <a:spLocks xmlns:a="http://schemas.openxmlformats.org/drawingml/2006/main" noGrp="1"/>
          </p:cNvSpPr>
          <p:nvPr/>
        </p:nvSpPr>
        <p:spPr>
          <a:xfrm xmlns:a="http://schemas.openxmlformats.org/drawingml/2006/main">
            <a:off x="742950" y="20002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D40"/>
                </a:solidFill>
                <a:latin typeface="Arial"/>
                <a:ea typeface="Arial"/>
                <a:cs typeface="Arial"/>
              </a:defRPr>
            </a:pPr>
            <a:r>
              <a:rPr sz="2250" b="0">
                <a:solidFill>
                  <a:srgbClr val="182D40"/>
                </a:solidFill>
                <a:latin typeface="Arial"/>
                <a:ea typeface="Arial"/>
                <a:cs typeface="Arial"/>
              </a:rPr>
              <a:t>Genuine / ordinary impostor / S4-derived hard negative: báo riêng.</a:t>
            </a:r>
          </a:p>
        </p:txBody>
      </p:sp>
      <p:sp>
        <p:nvSpPr>
          <p:cNvPr id="7" name="">
            <a:extLst xmlns:a="http://schemas.openxmlformats.org/drawingml/2006/main">
              <a:ext uri="{FF2B5EF4-FFF2-40B4-BE49-F238E27FC236}">
                <a16:creationId xmlns:a16="http://schemas.microsoft.com/office/drawing/2014/main" id="{0A46025A-AA27-4DAD-A323-0FC4B9483E5B}"/>
              </a:ext>
            </a:extLst>
          </p:cNvPr>
          <p:cNvSpPr>
            <a:spLocks xmlns:a="http://schemas.openxmlformats.org/drawingml/2006/main" noGrp="1"/>
          </p:cNvSpPr>
          <p:nvPr/>
        </p:nvSpPr>
        <p:spPr>
          <a:xfrm xmlns:a="http://schemas.openxmlformats.org/drawingml/2006/main">
            <a:off x="742950" y="2800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D40"/>
                </a:solidFill>
                <a:latin typeface="Arial"/>
                <a:ea typeface="Arial"/>
                <a:cs typeface="Arial"/>
              </a:defRPr>
            </a:pPr>
            <a:r>
              <a:rPr sz="2250" b="0">
                <a:solidFill>
                  <a:srgbClr val="182D40"/>
                </a:solidFill>
                <a:latin typeface="Arial"/>
                <a:ea typeface="Arial"/>
                <a:cs typeface="Arial"/>
              </a:rPr>
              <a:t>GT source identity trước score; development/evaluation tách identity.</a:t>
            </a:r>
          </a:p>
        </p:txBody>
      </p:sp>
      <p:sp>
        <p:nvSpPr>
          <p:cNvPr id="8" name="">
            <a:extLst xmlns:a="http://schemas.openxmlformats.org/drawingml/2006/main">
              <a:ext uri="{FF2B5EF4-FFF2-40B4-BE49-F238E27FC236}">
                <a16:creationId xmlns:a16="http://schemas.microsoft.com/office/drawing/2014/main" id="{BA23E3DB-22C5-4E2D-B507-0E7444204A88}"/>
              </a:ext>
            </a:extLst>
          </p:cNvPr>
          <p:cNvSpPr>
            <a:spLocks xmlns:a="http://schemas.openxmlformats.org/drawingml/2006/main" noGrp="1"/>
          </p:cNvSpPr>
          <p:nvPr/>
        </p:nvSpPr>
        <p:spPr>
          <a:xfrm xmlns:a="http://schemas.openxmlformats.org/drawingml/2006/main">
            <a:off x="742950" y="36004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D40"/>
                </a:solidFill>
                <a:latin typeface="Arial"/>
                <a:ea typeface="Arial"/>
                <a:cs typeface="Arial"/>
              </a:defRPr>
            </a:pPr>
            <a:r>
              <a:rPr sz="2250" b="0">
                <a:solidFill>
                  <a:srgbClr val="182D40"/>
                </a:solidFill>
                <a:latin typeface="Arial"/>
                <a:ea typeface="Arial"/>
                <a:cs typeface="Arial"/>
              </a:rPr>
              <a:t>T-022 hard-negative N=0 → T-023 holdout BFW độc lập.</a:t>
            </a:r>
          </a:p>
        </p:txBody>
      </p:sp>
      <p:sp>
        <p:nvSpPr>
          <p:cNvPr id="9" name="">
            <a:extLst xmlns:a="http://schemas.openxmlformats.org/drawingml/2006/main">
              <a:ext uri="{FF2B5EF4-FFF2-40B4-BE49-F238E27FC236}">
                <a16:creationId xmlns:a16="http://schemas.microsoft.com/office/drawing/2014/main" id="{C967CE20-CC96-4C6E-9416-ECADC1C66801}"/>
              </a:ext>
            </a:extLst>
          </p:cNvPr>
          <p:cNvSpPr>
            <a:spLocks xmlns:a="http://schemas.openxmlformats.org/drawingml/2006/main" noGrp="1"/>
          </p:cNvSpPr>
          <p:nvPr/>
        </p:nvSpPr>
        <p:spPr>
          <a:xfrm xmlns:a="http://schemas.openxmlformats.org/drawingml/2006/main">
            <a:off x="742950" y="44005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D40"/>
                </a:solidFill>
                <a:latin typeface="Arial"/>
                <a:ea typeface="Arial"/>
                <a:cs typeface="Arial"/>
              </a:defRPr>
            </a:pPr>
            <a:r>
              <a:rPr sz="2250" b="0">
                <a:solidFill>
                  <a:srgbClr val="182D40"/>
                </a:solidFill>
                <a:latin typeface="Arial"/>
                <a:ea typeface="Arial"/>
                <a:cs typeface="Arial"/>
              </a:rPr>
              <a:t>Rule development chọn θresearch=0,23; business risk cap vẫn TBD.</a:t>
            </a:r>
          </a:p>
        </p:txBody>
      </p:sp>
    </p:spTree>
    <p:extLst>
      <p:ext uri="{BB962C8B-B14F-4D97-AF65-F5344CB8AC3E}">
        <p14:creationId xmlns:p14="http://schemas.microsoft.com/office/powerpoint/2010/main" val="126388921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24BE3F4-A5A6-4E5B-ADA4-2ADFD0EA7BCD}"/>
              </a:ext>
            </a:extLst>
          </p:cNvPr>
          <p:cNvSpPr>
            <a:spLocks xmlns:a="http://schemas.openxmlformats.org/drawingml/2006/main" noGrp="1"/>
          </p:cNvSpPr>
          <p:nvPr/>
        </p:nvSpPr>
        <p:spPr>
          <a:xfrm xmlns:a="http://schemas.openxmlformats.org/drawingml/2006/main">
            <a:off x="609600" y="247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87D78"/>
                </a:solidFill>
                <a:latin typeface="Arial"/>
                <a:ea typeface="Arial"/>
                <a:cs typeface="Arial"/>
              </a:defRPr>
            </a:pPr>
            <a:r>
              <a:rPr sz="1350" b="1">
                <a:solidFill>
                  <a:srgbClr val="187D78"/>
                </a:solidFill>
                <a:latin typeface="Arial"/>
                <a:ea typeface="Arial"/>
                <a:cs typeface="Arial"/>
              </a:rPr>
              <a:t>12 • FROZEN BFW HOLDOUT • T-023</a:t>
            </a:r>
          </a:p>
        </p:txBody>
      </p:sp>
      <p:sp>
        <p:nvSpPr>
          <p:cNvPr id="2" name="">
            <a:extLst xmlns:a="http://schemas.openxmlformats.org/drawingml/2006/main">
              <a:ext uri="{FF2B5EF4-FFF2-40B4-BE49-F238E27FC236}">
                <a16:creationId xmlns:a16="http://schemas.microsoft.com/office/drawing/2014/main" id="{929EE803-38B6-4BFD-AB92-64433184B7D0}"/>
              </a:ext>
            </a:extLst>
          </p:cNvPr>
          <p:cNvSpPr>
            <a:spLocks xmlns:a="http://schemas.openxmlformats.org/drawingml/2006/main" noGrp="1"/>
          </p:cNvSpPr>
          <p:nvPr/>
        </p:nvSpPr>
        <p:spPr>
          <a:xfrm xmlns:a="http://schemas.openxmlformats.org/drawingml/2006/main">
            <a:off x="609600" y="7239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2D40"/>
                </a:solidFill>
                <a:latin typeface="Arial"/>
                <a:ea typeface="Arial"/>
                <a:cs typeface="Arial"/>
              </a:defRPr>
            </a:pPr>
            <a:r>
              <a:rPr sz="3225" b="1">
                <a:solidFill>
                  <a:srgbClr val="182D40"/>
                </a:solidFill>
                <a:latin typeface="Arial"/>
                <a:ea typeface="Arial"/>
                <a:cs typeface="Arial"/>
              </a:rPr>
              <a:t>S8: chặn thêm hard negatives, có trade-off</a:t>
            </a:r>
          </a:p>
        </p:txBody>
      </p:sp>
      <p:sp>
        <p:nvSpPr>
          <p:cNvPr id="3" name="">
            <a:extLst xmlns:a="http://schemas.openxmlformats.org/drawingml/2006/main">
              <a:ext uri="{FF2B5EF4-FFF2-40B4-BE49-F238E27FC236}">
                <a16:creationId xmlns:a16="http://schemas.microsoft.com/office/drawing/2014/main" id="{87B204C0-8F52-48F8-8F09-EECEC38B81E4}"/>
              </a:ext>
            </a:extLst>
          </p:cNvPr>
          <p:cNvSpPr>
            <a:spLocks xmlns:a="http://schemas.openxmlformats.org/drawingml/2006/main" noGrp="1"/>
          </p:cNvSpPr>
          <p:nvPr/>
        </p:nvSpPr>
        <p:spPr>
          <a:xfrm xmlns:a="http://schemas.openxmlformats.org/drawingml/2006/main">
            <a:off x="609600" y="63912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371"/>
                </a:solidFill>
                <a:latin typeface="Arial"/>
                <a:ea typeface="Arial"/>
                <a:cs typeface="Arial"/>
              </a:defRPr>
            </a:pPr>
            <a:r>
              <a:rPr sz="1200" b="0">
                <a:solidFill>
                  <a:srgbClr val="526371"/>
                </a:solidFill>
                <a:latin typeface="Arial"/>
                <a:ea typeface="Arial"/>
                <a:cs typeface="Arial"/>
              </a:rPr>
              <a:t>DATN • Quốc An &amp; Minh Hy  |  01.10.2026</a:t>
            </a:r>
          </a:p>
        </p:txBody>
      </p:sp>
      <p:sp>
        <p:nvSpPr>
          <p:cNvPr id="4" name="">
            <a:extLst xmlns:a="http://schemas.openxmlformats.org/drawingml/2006/main">
              <a:ext uri="{FF2B5EF4-FFF2-40B4-BE49-F238E27FC236}">
                <a16:creationId xmlns:a16="http://schemas.microsoft.com/office/drawing/2014/main" id="{E1418F6E-410F-4E64-8250-07F8F3DD70AB}"/>
              </a:ext>
            </a:extLst>
          </p:cNvPr>
          <p:cNvSpPr>
            <a:spLocks xmlns:a="http://schemas.openxmlformats.org/drawingml/2006/main" noGrp="1"/>
          </p:cNvSpPr>
          <p:nvPr/>
        </p:nvSpPr>
        <p:spPr>
          <a:xfrm xmlns:a="http://schemas.openxmlformats.org/drawingml/2006/main">
            <a:off x="11049000" y="63722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371"/>
                </a:solidFill>
                <a:latin typeface="Arial"/>
                <a:ea typeface="Arial"/>
                <a:cs typeface="Arial"/>
              </a:defRPr>
            </a:pPr>
            <a:r>
              <a:rPr sz="1425" b="0">
                <a:solidFill>
                  <a:srgbClr val="526371"/>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473B4DC4-3324-4EEC-AF24-6F5F9C4467AA}"/>
              </a:ext>
            </a:extLst>
          </p:cNvPr>
          <p:cNvSpPr>
            <a:spLocks xmlns:a="http://schemas.openxmlformats.org/drawingml/2006/main" noGrp="1"/>
          </p:cNvSpPr>
          <p:nvPr/>
        </p:nvSpPr>
        <p:spPr>
          <a:xfrm xmlns:a="http://schemas.openxmlformats.org/drawingml/2006/main">
            <a:off x="60960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371"/>
                </a:solidFill>
                <a:latin typeface="Arial"/>
                <a:ea typeface="Arial"/>
                <a:cs typeface="Arial"/>
              </a:defRPr>
            </a:pPr>
            <a:r>
              <a:rPr sz="1125" b="0">
                <a:solidFill>
                  <a:srgbClr val="526371"/>
                </a:solidFill>
                <a:latin typeface="Arial"/>
                <a:ea typeface="Arial"/>
                <a:cs typeface="Arial"/>
              </a:rPr>
              <a:t>Nguồn: T-023-encoder-evaluation-result.md</a:t>
            </a:r>
          </a:p>
        </p:txBody>
      </p:sp>
      <p:graphicFrame>
        <p:nvGraphicFramePr>
          <p:cNvPr id="14" name=""/>
          <p:cNvGraphicFramePr/>
          <p:nvPr/>
        </p:nvGraphicFramePr>
        <p:xfrm>
          <a:off xmlns:a="http://schemas.openxmlformats.org/drawingml/2006/main" x="609600" y="2009775"/>
          <a:ext xmlns:a="http://schemas.openxmlformats.org/drawingml/2006/main" cx="10972800" cy="2667000"/>
        </p:xfrm>
        <a:graphic xmlns:a="http://schemas.openxmlformats.org/drawingml/2006/main">
          <a:graphicData uri="http://schemas.openxmlformats.org/drawingml/2006/table">
            <a:tbl>
              <a:tblPr firstRow="1" bandRow="0"/>
              <a:tblGrid>
                <a:gridCol w="2171700"/>
                <a:gridCol w="1981200"/>
                <a:gridCol w="2076450"/>
                <a:gridCol w="2571750"/>
                <a:gridCol w="2171700"/>
              </a:tblGrid>
              <a:tr h="666750">
                <a:tc>
                  <a:txBody>
                    <a:bodyPr/>
                    <a:lstStyle/>
                    <a:p>
                      <a:r>
                        <a:rPr sz="1725" b="1">
                          <a:solidFill>
                            <a:srgbClr val="FFFFFF"/>
                          </a:solidFill>
                          <a:latin typeface="Arial"/>
                          <a:ea typeface="Arial"/>
                          <a:cs typeface="Arial"/>
                        </a:rPr>
                        <a:t>S8 point</a:t>
                      </a:r>
                    </a:p>
                  </a:txBody>
                  <a:tcPr marL="91440" marR="91440" marT="45720" marB="45720">
                    <a:solidFill>
                      <a:srgbClr val="182D40"/>
                    </a:solidFill>
                  </a:tcPr>
                </a:tc>
                <a:tc>
                  <a:txBody>
                    <a:bodyPr/>
                    <a:lstStyle/>
                    <a:p>
                      <a:r>
                        <a:rPr sz="1725" b="1">
                          <a:solidFill>
                            <a:srgbClr val="FFFFFF"/>
                          </a:solidFill>
                          <a:latin typeface="Arial"/>
                          <a:ea typeface="Arial"/>
                          <a:cs typeface="Arial"/>
                        </a:rPr>
                        <a:t>Genuine reject</a:t>
                      </a:r>
                    </a:p>
                    <a:p>
                      <a:r>
                        <a:rPr sz="1725" b="1">
                          <a:solidFill>
                            <a:srgbClr val="FFFFFF"/>
                          </a:solidFill>
                          <a:latin typeface="Arial"/>
                          <a:ea typeface="Arial"/>
                          <a:cs typeface="Arial"/>
                        </a:rPr>
                        <a:t>/240</a:t>
                      </a:r>
                    </a:p>
                  </a:txBody>
                  <a:tcPr marL="91440" marR="91440" marT="45720" marB="45720">
                    <a:solidFill>
                      <a:srgbClr val="182D40"/>
                    </a:solidFill>
                  </a:tcPr>
                </a:tc>
                <a:tc>
                  <a:txBody>
                    <a:bodyPr/>
                    <a:lstStyle/>
                    <a:p>
                      <a:r>
                        <a:rPr sz="1725" b="1">
                          <a:solidFill>
                            <a:srgbClr val="FFFFFF"/>
                          </a:solidFill>
                          <a:latin typeface="Arial"/>
                          <a:ea typeface="Arial"/>
                          <a:cs typeface="Arial"/>
                        </a:rPr>
                        <a:t>Ordinary accept</a:t>
                      </a:r>
                    </a:p>
                    <a:p>
                      <a:r>
                        <a:rPr sz="1725" b="1">
                          <a:solidFill>
                            <a:srgbClr val="FFFFFF"/>
                          </a:solidFill>
                          <a:latin typeface="Arial"/>
                          <a:ea typeface="Arial"/>
                          <a:cs typeface="Arial"/>
                        </a:rPr>
                        <a:t>/240</a:t>
                      </a:r>
                    </a:p>
                  </a:txBody>
                  <a:tcPr marL="91440" marR="91440" marT="45720" marB="45720">
                    <a:solidFill>
                      <a:srgbClr val="182D40"/>
                    </a:solidFill>
                  </a:tcPr>
                </a:tc>
                <a:tc>
                  <a:txBody>
                    <a:bodyPr/>
                    <a:lstStyle/>
                    <a:p>
                      <a:r>
                        <a:rPr sz="1725" b="1">
                          <a:solidFill>
                            <a:srgbClr val="FFFFFF"/>
                          </a:solidFill>
                          <a:latin typeface="Arial"/>
                          <a:ea typeface="Arial"/>
                          <a:cs typeface="Arial"/>
                        </a:rPr>
                        <a:t>Selected genuine</a:t>
                      </a:r>
                    </a:p>
                    <a:p>
                      <a:r>
                        <a:rPr sz="1725" b="1">
                          <a:solidFill>
                            <a:srgbClr val="FFFFFF"/>
                          </a:solidFill>
                          <a:latin typeface="Arial"/>
                          <a:ea typeface="Arial"/>
                          <a:cs typeface="Arial"/>
                        </a:rPr>
                        <a:t>accept /55</a:t>
                      </a:r>
                    </a:p>
                  </a:txBody>
                  <a:tcPr marL="91440" marR="91440" marT="45720" marB="45720">
                    <a:solidFill>
                      <a:srgbClr val="182D40"/>
                    </a:solidFill>
                  </a:tcPr>
                </a:tc>
                <a:tc>
                  <a:txBody>
                    <a:bodyPr/>
                    <a:lstStyle/>
                    <a:p>
                      <a:r>
                        <a:rPr sz="1725" b="1">
                          <a:solidFill>
                            <a:srgbClr val="FFFFFF"/>
                          </a:solidFill>
                          <a:latin typeface="Arial"/>
                          <a:ea typeface="Arial"/>
                          <a:cs typeface="Arial"/>
                        </a:rPr>
                        <a:t>Hard accept</a:t>
                      </a:r>
                    </a:p>
                    <a:p>
                      <a:r>
                        <a:rPr sz="1725" b="1">
                          <a:solidFill>
                            <a:srgbClr val="FFFFFF"/>
                          </a:solidFill>
                          <a:latin typeface="Arial"/>
                          <a:ea typeface="Arial"/>
                          <a:cs typeface="Arial"/>
                        </a:rPr>
                        <a:t>/38</a:t>
                      </a:r>
                    </a:p>
                  </a:txBody>
                  <a:tcPr marL="91440" marR="91440" marT="45720" marB="45720">
                    <a:solidFill>
                      <a:srgbClr val="182D40"/>
                    </a:solidFill>
                  </a:tcPr>
                </a:tc>
              </a:tr>
              <a:tr h="666750">
                <a:tc>
                  <a:txBody>
                    <a:bodyPr/>
                    <a:lstStyle/>
                    <a:p>
                      <a:r>
                        <a:rPr sz="1725" b="0">
                          <a:solidFill>
                            <a:srgbClr val="182D40"/>
                          </a:solidFill>
                          <a:latin typeface="Arial"/>
                          <a:ea typeface="Arial"/>
                          <a:cs typeface="Arial"/>
                        </a:rPr>
                        <a:t>0,15 historical</a:t>
                      </a:r>
                    </a:p>
                  </a:txBody>
                  <a:tcPr marL="91440" marR="91440" marT="45720" marB="45720">
                    <a:solidFill>
                      <a:srgbClr val="F1F5F7"/>
                    </a:solidFill>
                  </a:tcPr>
                </a:tc>
                <a:tc>
                  <a:txBody>
                    <a:bodyPr/>
                    <a:lstStyle/>
                    <a:p>
                      <a:r>
                        <a:rPr sz="1725" b="0">
                          <a:solidFill>
                            <a:srgbClr val="182D40"/>
                          </a:solidFill>
                          <a:latin typeface="Arial"/>
                          <a:ea typeface="Arial"/>
                          <a:cs typeface="Arial"/>
                        </a:rPr>
                        <a:t>14</a:t>
                      </a:r>
                    </a:p>
                  </a:txBody>
                  <a:tcPr marL="91440" marR="91440" marT="45720" marB="45720">
                    <a:solidFill>
                      <a:srgbClr val="F1F5F7"/>
                    </a:solidFill>
                  </a:tcPr>
                </a:tc>
                <a:tc>
                  <a:txBody>
                    <a:bodyPr/>
                    <a:lstStyle/>
                    <a:p>
                      <a:r>
                        <a:rPr sz="1725" b="0">
                          <a:solidFill>
                            <a:srgbClr val="182D40"/>
                          </a:solidFill>
                          <a:latin typeface="Arial"/>
                          <a:ea typeface="Arial"/>
                          <a:cs typeface="Arial"/>
                        </a:rPr>
                        <a:t>3</a:t>
                      </a:r>
                    </a:p>
                  </a:txBody>
                  <a:tcPr marL="91440" marR="91440" marT="45720" marB="45720">
                    <a:solidFill>
                      <a:srgbClr val="F1F5F7"/>
                    </a:solidFill>
                  </a:tcPr>
                </a:tc>
                <a:tc>
                  <a:txBody>
                    <a:bodyPr/>
                    <a:lstStyle/>
                    <a:p>
                      <a:r>
                        <a:rPr sz="1725" b="0">
                          <a:solidFill>
                            <a:srgbClr val="182D40"/>
                          </a:solidFill>
                          <a:latin typeface="Arial"/>
                          <a:ea typeface="Arial"/>
                          <a:cs typeface="Arial"/>
                        </a:rPr>
                        <a:t>55</a:t>
                      </a:r>
                    </a:p>
                  </a:txBody>
                  <a:tcPr marL="91440" marR="91440" marT="45720" marB="45720">
                    <a:solidFill>
                      <a:srgbClr val="F1F5F7"/>
                    </a:solidFill>
                  </a:tcPr>
                </a:tc>
                <a:tc>
                  <a:txBody>
                    <a:bodyPr/>
                    <a:lstStyle/>
                    <a:p>
                      <a:r>
                        <a:rPr sz="1725" b="0">
                          <a:solidFill>
                            <a:srgbClr val="182D40"/>
                          </a:solidFill>
                          <a:latin typeface="Arial"/>
                          <a:ea typeface="Arial"/>
                          <a:cs typeface="Arial"/>
                        </a:rPr>
                        <a:t>36</a:t>
                      </a:r>
                    </a:p>
                  </a:txBody>
                  <a:tcPr marL="91440" marR="91440" marT="45720" marB="45720">
                    <a:solidFill>
                      <a:srgbClr val="F1F5F7"/>
                    </a:solidFill>
                  </a:tcPr>
                </a:tc>
              </a:tr>
              <a:tr h="666750">
                <a:tc>
                  <a:txBody>
                    <a:bodyPr/>
                    <a:lstStyle/>
                    <a:p>
                      <a:r>
                        <a:rPr sz="1725" b="0">
                          <a:solidFill>
                            <a:srgbClr val="182D40"/>
                          </a:solidFill>
                          <a:latin typeface="Arial"/>
                          <a:ea typeface="Arial"/>
                          <a:cs typeface="Arial"/>
                        </a:rPr>
                        <a:t>0,23 research</a:t>
                      </a:r>
                    </a:p>
                  </a:txBody>
                  <a:tcPr marL="91440" marR="91440" marT="45720" marB="45720">
                    <a:solidFill>
                      <a:srgbClr val="FFFFFF"/>
                    </a:solidFill>
                  </a:tcPr>
                </a:tc>
                <a:tc>
                  <a:txBody>
                    <a:bodyPr/>
                    <a:lstStyle/>
                    <a:p>
                      <a:r>
                        <a:rPr sz="1725" b="0">
                          <a:solidFill>
                            <a:srgbClr val="182D40"/>
                          </a:solidFill>
                          <a:latin typeface="Arial"/>
                          <a:ea typeface="Arial"/>
                          <a:cs typeface="Arial"/>
                        </a:rPr>
                        <a:t>21</a:t>
                      </a:r>
                    </a:p>
                  </a:txBody>
                  <a:tcPr marL="91440" marR="91440" marT="45720" marB="45720">
                    <a:solidFill>
                      <a:srgbClr val="FFFFFF"/>
                    </a:solidFill>
                  </a:tcPr>
                </a:tc>
                <a:tc>
                  <a:txBody>
                    <a:bodyPr/>
                    <a:lstStyle/>
                    <a:p>
                      <a:r>
                        <a:rPr sz="1725" b="0">
                          <a:solidFill>
                            <a:srgbClr val="182D40"/>
                          </a:solidFill>
                          <a:latin typeface="Arial"/>
                          <a:ea typeface="Arial"/>
                          <a:cs typeface="Arial"/>
                        </a:rPr>
                        <a:t>1</a:t>
                      </a:r>
                    </a:p>
                  </a:txBody>
                  <a:tcPr marL="91440" marR="91440" marT="45720" marB="45720">
                    <a:solidFill>
                      <a:srgbClr val="FFFFFF"/>
                    </a:solidFill>
                  </a:tcPr>
                </a:tc>
                <a:tc>
                  <a:txBody>
                    <a:bodyPr/>
                    <a:lstStyle/>
                    <a:p>
                      <a:r>
                        <a:rPr sz="1725" b="0">
                          <a:solidFill>
                            <a:srgbClr val="182D40"/>
                          </a:solidFill>
                          <a:latin typeface="Arial"/>
                          <a:ea typeface="Arial"/>
                          <a:cs typeface="Arial"/>
                        </a:rPr>
                        <a:t>55</a:t>
                      </a:r>
                    </a:p>
                  </a:txBody>
                  <a:tcPr marL="91440" marR="91440" marT="45720" marB="45720">
                    <a:solidFill>
                      <a:srgbClr val="FFFFFF"/>
                    </a:solidFill>
                  </a:tcPr>
                </a:tc>
                <a:tc>
                  <a:txBody>
                    <a:bodyPr/>
                    <a:lstStyle/>
                    <a:p>
                      <a:r>
                        <a:rPr sz="1725" b="0">
                          <a:solidFill>
                            <a:srgbClr val="182D40"/>
                          </a:solidFill>
                          <a:latin typeface="Arial"/>
                          <a:ea typeface="Arial"/>
                          <a:cs typeface="Arial"/>
                        </a:rPr>
                        <a:t>8</a:t>
                      </a:r>
                    </a:p>
                  </a:txBody>
                  <a:tcPr marL="91440" marR="91440" marT="45720" marB="45720">
                    <a:solidFill>
                      <a:srgbClr val="FFFFFF"/>
                    </a:solidFill>
                  </a:tcPr>
                </a:tc>
              </a:tr>
              <a:tr h="666750">
                <a:tc>
                  <a:txBody>
                    <a:bodyPr/>
                    <a:lstStyle/>
                    <a:p>
                      <a:r>
                        <a:rPr sz="1725" b="0">
                          <a:solidFill>
                            <a:srgbClr val="182D40"/>
                          </a:solidFill>
                          <a:latin typeface="Arial"/>
                          <a:ea typeface="Arial"/>
                          <a:cs typeface="Arial"/>
                        </a:rPr>
                        <a:t>0,25 stress</a:t>
                      </a:r>
                    </a:p>
                  </a:txBody>
                  <a:tcPr marL="91440" marR="91440" marT="45720" marB="45720">
                    <a:solidFill>
                      <a:srgbClr val="F1F5F7"/>
                    </a:solidFill>
                  </a:tcPr>
                </a:tc>
                <a:tc>
                  <a:txBody>
                    <a:bodyPr/>
                    <a:lstStyle/>
                    <a:p>
                      <a:r>
                        <a:rPr sz="1725" b="0">
                          <a:solidFill>
                            <a:srgbClr val="182D40"/>
                          </a:solidFill>
                          <a:latin typeface="Arial"/>
                          <a:ea typeface="Arial"/>
                          <a:cs typeface="Arial"/>
                        </a:rPr>
                        <a:t>26</a:t>
                      </a:r>
                    </a:p>
                  </a:txBody>
                  <a:tcPr marL="91440" marR="91440" marT="45720" marB="45720">
                    <a:solidFill>
                      <a:srgbClr val="F1F5F7"/>
                    </a:solidFill>
                  </a:tcPr>
                </a:tc>
                <a:tc>
                  <a:txBody>
                    <a:bodyPr/>
                    <a:lstStyle/>
                    <a:p>
                      <a:r>
                        <a:rPr sz="1725" b="0">
                          <a:solidFill>
                            <a:srgbClr val="182D40"/>
                          </a:solidFill>
                          <a:latin typeface="Arial"/>
                          <a:ea typeface="Arial"/>
                          <a:cs typeface="Arial"/>
                        </a:rPr>
                        <a:t>0</a:t>
                      </a:r>
                    </a:p>
                  </a:txBody>
                  <a:tcPr marL="91440" marR="91440" marT="45720" marB="45720">
                    <a:solidFill>
                      <a:srgbClr val="F1F5F7"/>
                    </a:solidFill>
                  </a:tcPr>
                </a:tc>
                <a:tc>
                  <a:txBody>
                    <a:bodyPr/>
                    <a:lstStyle/>
                    <a:p>
                      <a:r>
                        <a:rPr sz="1725" b="0">
                          <a:solidFill>
                            <a:srgbClr val="182D40"/>
                          </a:solidFill>
                          <a:latin typeface="Arial"/>
                          <a:ea typeface="Arial"/>
                          <a:cs typeface="Arial"/>
                        </a:rPr>
                        <a:t>54</a:t>
                      </a:r>
                    </a:p>
                  </a:txBody>
                  <a:tcPr marL="91440" marR="91440" marT="45720" marB="45720">
                    <a:solidFill>
                      <a:srgbClr val="F1F5F7"/>
                    </a:solidFill>
                  </a:tcPr>
                </a:tc>
                <a:tc>
                  <a:txBody>
                    <a:bodyPr/>
                    <a:lstStyle/>
                    <a:p>
                      <a:r>
                        <a:rPr sz="1725" b="0">
                          <a:solidFill>
                            <a:srgbClr val="182D40"/>
                          </a:solidFill>
                          <a:latin typeface="Arial"/>
                          <a:ea typeface="Arial"/>
                          <a:cs typeface="Arial"/>
                        </a:rPr>
                        <a:t>3</a:t>
                      </a:r>
                    </a:p>
                  </a:txBody>
                  <a:tcPr marL="91440" marR="91440" marT="45720" marB="45720">
                    <a:solidFill>
                      <a:srgbClr val="F1F5F7"/>
                    </a:solidFill>
                  </a:tcPr>
                </a:tc>
              </a:tr>
            </a:tbl>
          </a:graphicData>
        </a:graphic>
      </p:graphicFrame>
      <p:sp>
        <p:nvSpPr>
          <p:cNvPr id="7" name="">
            <a:extLst xmlns:a="http://schemas.openxmlformats.org/drawingml/2006/main">
              <a:ext uri="{FF2B5EF4-FFF2-40B4-BE49-F238E27FC236}">
                <a16:creationId xmlns:a16="http://schemas.microsoft.com/office/drawing/2014/main" id="{D7E0A304-15F7-4F67-8710-761D167ACF47}"/>
              </a:ext>
            </a:extLst>
          </p:cNvPr>
          <p:cNvSpPr>
            <a:spLocks xmlns:a="http://schemas.openxmlformats.org/drawingml/2006/main" noGrp="1"/>
          </p:cNvSpPr>
          <p:nvPr/>
        </p:nvSpPr>
        <p:spPr>
          <a:xfrm xmlns:a="http://schemas.openxmlformats.org/drawingml/2006/main">
            <a:off x="666750" y="49053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7D78"/>
                </a:solidFill>
                <a:latin typeface="Arial"/>
                <a:ea typeface="Arial"/>
                <a:cs typeface="Arial"/>
              </a:defRPr>
            </a:pPr>
            <a:r>
              <a:rPr sz="2025" b="1">
                <a:solidFill>
                  <a:srgbClr val="187D78"/>
                </a:solidFill>
                <a:latin typeface="Arial"/>
                <a:ea typeface="Arial"/>
                <a:cs typeface="Arial"/>
              </a:rPr>
              <a:t>0,23: FNMR 8,75%  |  ordinary FMR 0,42%  |  hard accept 8/38</a:t>
            </a:r>
          </a:p>
        </p:txBody>
      </p:sp>
      <p:sp>
        <p:nvSpPr>
          <p:cNvPr id="8" name="">
            <a:extLst xmlns:a="http://schemas.openxmlformats.org/drawingml/2006/main">
              <a:ext uri="{FF2B5EF4-FFF2-40B4-BE49-F238E27FC236}">
                <a16:creationId xmlns:a16="http://schemas.microsoft.com/office/drawing/2014/main" id="{A0B14FBD-7A69-4395-B339-465D37AE292F}"/>
              </a:ext>
            </a:extLst>
          </p:cNvPr>
          <p:cNvSpPr>
            <a:spLocks xmlns:a="http://schemas.openxmlformats.org/drawingml/2006/main" noGrp="1"/>
          </p:cNvSpPr>
          <p:nvPr/>
        </p:nvSpPr>
        <p:spPr>
          <a:xfrm xmlns:a="http://schemas.openxmlformats.org/drawingml/2006/main">
            <a:off x="666750" y="54578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B44345"/>
                </a:solidFill>
                <a:latin typeface="Arial"/>
                <a:ea typeface="Arial"/>
                <a:cs typeface="Arial"/>
              </a:defRPr>
            </a:pPr>
            <a:r>
              <a:rPr sz="2175" b="1">
                <a:solidFill>
                  <a:srgbClr val="B44345"/>
                </a:solidFill>
                <a:latin typeface="Arial"/>
                <a:ea typeface="Arial"/>
                <a:cs typeface="Arial"/>
              </a:rPr>
              <a:t>30/38 hard negatives bị chặn; vẫn còn 8/38 accept.</a:t>
            </a:r>
          </a:p>
        </p:txBody>
      </p:sp>
    </p:spTree>
    <p:extLst>
      <p:ext uri="{BB962C8B-B14F-4D97-AF65-F5344CB8AC3E}">
        <p14:creationId xmlns:p14="http://schemas.microsoft.com/office/powerpoint/2010/main" val="64953185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BF205D-5D55-4041-9A90-0AB57A4889E8}"/>
              </a:ext>
            </a:extLst>
          </p:cNvPr>
          <p:cNvSpPr>
            <a:spLocks xmlns:a="http://schemas.openxmlformats.org/drawingml/2006/main" noGrp="1"/>
          </p:cNvSpPr>
          <p:nvPr/>
        </p:nvSpPr>
        <p:spPr>
          <a:xfrm xmlns:a="http://schemas.openxmlformats.org/drawingml/2006/main">
            <a:off x="609600" y="247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87D78"/>
                </a:solidFill>
                <a:latin typeface="Arial"/>
                <a:ea typeface="Arial"/>
                <a:cs typeface="Arial"/>
              </a:defRPr>
            </a:pPr>
            <a:r>
              <a:rPr sz="1350" b="1">
                <a:solidFill>
                  <a:srgbClr val="187D78"/>
                </a:solidFill>
                <a:latin typeface="Arial"/>
                <a:ea typeface="Arial"/>
                <a:cs typeface="Arial"/>
              </a:rPr>
              <a:t>13 • PIPELINE PROXY RESULT • P2 FIXED</a:t>
            </a:r>
          </a:p>
        </p:txBody>
      </p:sp>
      <p:sp>
        <p:nvSpPr>
          <p:cNvPr id="2" name="">
            <a:extLst xmlns:a="http://schemas.openxmlformats.org/drawingml/2006/main">
              <a:ext uri="{FF2B5EF4-FFF2-40B4-BE49-F238E27FC236}">
                <a16:creationId xmlns:a16="http://schemas.microsoft.com/office/drawing/2014/main" id="{44D65E2C-B191-469D-976D-56CF35505024}"/>
              </a:ext>
            </a:extLst>
          </p:cNvPr>
          <p:cNvSpPr>
            <a:spLocks xmlns:a="http://schemas.openxmlformats.org/drawingml/2006/main" noGrp="1"/>
          </p:cNvSpPr>
          <p:nvPr/>
        </p:nvSpPr>
        <p:spPr>
          <a:xfrm xmlns:a="http://schemas.openxmlformats.org/drawingml/2006/main">
            <a:off x="609600" y="7239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2D40"/>
                </a:solidFill>
                <a:latin typeface="Arial"/>
                <a:ea typeface="Arial"/>
                <a:cs typeface="Arial"/>
              </a:defRPr>
            </a:pPr>
            <a:r>
              <a:rPr sz="3225" b="1">
                <a:solidFill>
                  <a:srgbClr val="182D40"/>
                </a:solidFill>
                <a:latin typeface="Arial"/>
                <a:ea typeface="Arial"/>
                <a:cs typeface="Arial"/>
              </a:rPr>
              <a:t>Kết hợp S4 → S8: so cùng 238 absent scenes</a:t>
            </a:r>
          </a:p>
        </p:txBody>
      </p:sp>
      <p:sp>
        <p:nvSpPr>
          <p:cNvPr id="3" name="">
            <a:extLst xmlns:a="http://schemas.openxmlformats.org/drawingml/2006/main">
              <a:ext uri="{FF2B5EF4-FFF2-40B4-BE49-F238E27FC236}">
                <a16:creationId xmlns:a16="http://schemas.microsoft.com/office/drawing/2014/main" id="{2959E651-9379-4193-947C-C70DE0AA375B}"/>
              </a:ext>
            </a:extLst>
          </p:cNvPr>
          <p:cNvSpPr>
            <a:spLocks xmlns:a="http://schemas.openxmlformats.org/drawingml/2006/main" noGrp="1"/>
          </p:cNvSpPr>
          <p:nvPr/>
        </p:nvSpPr>
        <p:spPr>
          <a:xfrm xmlns:a="http://schemas.openxmlformats.org/drawingml/2006/main">
            <a:off x="609600" y="63912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371"/>
                </a:solidFill>
                <a:latin typeface="Arial"/>
                <a:ea typeface="Arial"/>
                <a:cs typeface="Arial"/>
              </a:defRPr>
            </a:pPr>
            <a:r>
              <a:rPr sz="1200" b="0">
                <a:solidFill>
                  <a:srgbClr val="526371"/>
                </a:solidFill>
                <a:latin typeface="Arial"/>
                <a:ea typeface="Arial"/>
                <a:cs typeface="Arial"/>
              </a:rPr>
              <a:t>DATN • Quốc An &amp; Minh Hy  |  01.10.2026</a:t>
            </a:r>
          </a:p>
        </p:txBody>
      </p:sp>
      <p:sp>
        <p:nvSpPr>
          <p:cNvPr id="4" name="">
            <a:extLst xmlns:a="http://schemas.openxmlformats.org/drawingml/2006/main">
              <a:ext uri="{FF2B5EF4-FFF2-40B4-BE49-F238E27FC236}">
                <a16:creationId xmlns:a16="http://schemas.microsoft.com/office/drawing/2014/main" id="{84BA274F-9563-46CD-A8AF-E050A9FEC13E}"/>
              </a:ext>
            </a:extLst>
          </p:cNvPr>
          <p:cNvSpPr>
            <a:spLocks xmlns:a="http://schemas.openxmlformats.org/drawingml/2006/main" noGrp="1"/>
          </p:cNvSpPr>
          <p:nvPr/>
        </p:nvSpPr>
        <p:spPr>
          <a:xfrm xmlns:a="http://schemas.openxmlformats.org/drawingml/2006/main">
            <a:off x="11049000" y="63722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371"/>
                </a:solidFill>
                <a:latin typeface="Arial"/>
                <a:ea typeface="Arial"/>
                <a:cs typeface="Arial"/>
              </a:defRPr>
            </a:pPr>
            <a:r>
              <a:rPr sz="1425" b="0">
                <a:solidFill>
                  <a:srgbClr val="526371"/>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029859DF-DDB4-4FAC-A042-0E63FD97A77E}"/>
              </a:ext>
            </a:extLst>
          </p:cNvPr>
          <p:cNvSpPr>
            <a:spLocks xmlns:a="http://schemas.openxmlformats.org/drawingml/2006/main" noGrp="1"/>
          </p:cNvSpPr>
          <p:nvPr/>
        </p:nvSpPr>
        <p:spPr>
          <a:xfrm xmlns:a="http://schemas.openxmlformats.org/drawingml/2006/main">
            <a:off x="60960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371"/>
                </a:solidFill>
                <a:latin typeface="Arial"/>
                <a:ea typeface="Arial"/>
                <a:cs typeface="Arial"/>
              </a:defRPr>
            </a:pPr>
            <a:r>
              <a:rPr sz="1125" b="0">
                <a:solidFill>
                  <a:srgbClr val="526371"/>
                </a:solidFill>
                <a:latin typeface="Arial"/>
                <a:ea typeface="Arial"/>
                <a:cs typeface="Arial"/>
              </a:rPr>
              <a:t>Nguồn: T-023-encoder-evaluation-result.md</a:t>
            </a:r>
          </a:p>
        </p:txBody>
      </p:sp>
      <p:graphicFrame>
        <p:nvGraphicFramePr>
          <p:cNvPr id="14" name="Chart"/>
          <p:cNvGraphicFramePr/>
          <p:nvPr/>
        </p:nvGraphicFramePr>
        <p:xfrm>
          <a:off xmlns:a="http://schemas.openxmlformats.org/drawingml/2006/main" x="666750" y="1943100"/>
          <a:ext xmlns:a="http://schemas.openxmlformats.org/drawingml/2006/main" cx="10858500" cy="3467100"/>
        </p:xfrm>
        <a:graphic xmlns:a="http://schemas.openxmlformats.org/drawingml/2006/main">
          <a:graphicData uri="http://schemas.openxmlformats.org/drawingml/2006/chart">
            <c:chart xmlns:r="http://schemas.openxmlformats.org/officeDocument/2006/relationships" xmlns:c="http://schemas.openxmlformats.org/drawingml/2006/chart" r:id="R141d638b2c58443c"/>
          </a:graphicData>
        </a:graphic>
      </p:graphicFrame>
      <p:sp>
        <p:nvSpPr>
          <p:cNvPr id="7" name="">
            <a:extLst xmlns:a="http://schemas.openxmlformats.org/drawingml/2006/main">
              <a:ext uri="{FF2B5EF4-FFF2-40B4-BE49-F238E27FC236}">
                <a16:creationId xmlns:a16="http://schemas.microsoft.com/office/drawing/2014/main" id="{F1BDA8C4-BA9D-4C79-AF33-17262053E654}"/>
              </a:ext>
            </a:extLst>
          </p:cNvPr>
          <p:cNvSpPr>
            <a:spLocks xmlns:a="http://schemas.openxmlformats.org/drawingml/2006/main" noGrp="1"/>
          </p:cNvSpPr>
          <p:nvPr/>
        </p:nvSpPr>
        <p:spPr>
          <a:xfrm xmlns:a="http://schemas.openxmlformats.org/drawingml/2006/main">
            <a:off x="742950" y="16097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371"/>
                </a:solidFill>
                <a:latin typeface="Arial"/>
                <a:ea typeface="Arial"/>
                <a:cs typeface="Arial"/>
              </a:defRPr>
            </a:pPr>
            <a:r>
              <a:rPr sz="1650" b="0">
                <a:solidFill>
                  <a:srgbClr val="526371"/>
                </a:solidFill>
                <a:latin typeface="Arial"/>
                <a:ea typeface="Arial"/>
                <a:cs typeface="Arial"/>
              </a:rPr>
              <a:t>P2 + S8 0,15: 200 / 2 / 36     |     P2 + S8 0,23: 200 / 30 / 8</a:t>
            </a:r>
          </a:p>
        </p:txBody>
      </p:sp>
      <p:sp>
        <p:nvSpPr>
          <p:cNvPr id="8" name="">
            <a:extLst xmlns:a="http://schemas.openxmlformats.org/drawingml/2006/main">
              <a:ext uri="{FF2B5EF4-FFF2-40B4-BE49-F238E27FC236}">
                <a16:creationId xmlns:a16="http://schemas.microsoft.com/office/drawing/2014/main" id="{47753034-9126-42AB-A608-47D57D4604AA}"/>
              </a:ext>
            </a:extLst>
          </p:cNvPr>
          <p:cNvSpPr>
            <a:spLocks xmlns:a="http://schemas.openxmlformats.org/drawingml/2006/main" noGrp="1"/>
          </p:cNvSpPr>
          <p:nvPr/>
        </p:nvSpPr>
        <p:spPr>
          <a:xfrm xmlns:a="http://schemas.openxmlformats.org/drawingml/2006/main">
            <a:off x="666750" y="55530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7D78"/>
                </a:solidFill>
                <a:latin typeface="Arial"/>
                <a:ea typeface="Arial"/>
                <a:cs typeface="Arial"/>
              </a:defRPr>
            </a:pPr>
            <a:r>
              <a:rPr sz="1950" b="1">
                <a:solidFill>
                  <a:srgbClr val="187D78"/>
                </a:solidFill>
                <a:latin typeface="Arial"/>
                <a:ea typeface="Arial"/>
                <a:cs typeface="Arial"/>
              </a:rPr>
              <a:t>Absent: 200 / 2 / 36 → 200 / 30 / 8   |   Present accept: 55/60</a:t>
            </a:r>
          </a:p>
        </p:txBody>
      </p:sp>
    </p:spTree>
    <p:extLst>
      <p:ext uri="{BB962C8B-B14F-4D97-AF65-F5344CB8AC3E}">
        <p14:creationId xmlns:p14="http://schemas.microsoft.com/office/powerpoint/2010/main" val="187284992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48933AF-58DE-4A5C-91E0-679F41217A23}"/>
              </a:ext>
            </a:extLst>
          </p:cNvPr>
          <p:cNvSpPr>
            <a:spLocks xmlns:a="http://schemas.openxmlformats.org/drawingml/2006/main" noGrp="1"/>
          </p:cNvSpPr>
          <p:nvPr/>
        </p:nvSpPr>
        <p:spPr>
          <a:xfrm xmlns:a="http://schemas.openxmlformats.org/drawingml/2006/main">
            <a:off x="609600" y="247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87D78"/>
                </a:solidFill>
                <a:latin typeface="Arial"/>
                <a:ea typeface="Arial"/>
                <a:cs typeface="Arial"/>
              </a:defRPr>
            </a:pPr>
            <a:r>
              <a:rPr sz="1350" b="1">
                <a:solidFill>
                  <a:srgbClr val="187D78"/>
                </a:solidFill>
                <a:latin typeface="Arial"/>
                <a:ea typeface="Arial"/>
                <a:cs typeface="Arial"/>
              </a:rPr>
              <a:t>14 • DECISION</a:t>
            </a:r>
          </a:p>
        </p:txBody>
      </p:sp>
      <p:sp>
        <p:nvSpPr>
          <p:cNvPr id="2" name="">
            <a:extLst xmlns:a="http://schemas.openxmlformats.org/drawingml/2006/main">
              <a:ext uri="{FF2B5EF4-FFF2-40B4-BE49-F238E27FC236}">
                <a16:creationId xmlns:a16="http://schemas.microsoft.com/office/drawing/2014/main" id="{59086D12-EDF4-4F64-A9E6-E8D0526591C7}"/>
              </a:ext>
            </a:extLst>
          </p:cNvPr>
          <p:cNvSpPr>
            <a:spLocks xmlns:a="http://schemas.openxmlformats.org/drawingml/2006/main" noGrp="1"/>
          </p:cNvSpPr>
          <p:nvPr/>
        </p:nvSpPr>
        <p:spPr>
          <a:xfrm xmlns:a="http://schemas.openxmlformats.org/drawingml/2006/main">
            <a:off x="609600" y="7239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2D40"/>
                </a:solidFill>
                <a:latin typeface="Arial"/>
                <a:ea typeface="Arial"/>
                <a:cs typeface="Arial"/>
              </a:defRPr>
            </a:pPr>
            <a:r>
              <a:rPr sz="3225" b="1">
                <a:solidFill>
                  <a:srgbClr val="182D40"/>
                </a:solidFill>
                <a:latin typeface="Arial"/>
                <a:ea typeface="Arial"/>
                <a:cs typeface="Arial"/>
              </a:rPr>
              <a:t>Đóng góp và kết luận đúng mức evidence</a:t>
            </a:r>
          </a:p>
        </p:txBody>
      </p:sp>
      <p:sp>
        <p:nvSpPr>
          <p:cNvPr id="3" name="">
            <a:extLst xmlns:a="http://schemas.openxmlformats.org/drawingml/2006/main">
              <a:ext uri="{FF2B5EF4-FFF2-40B4-BE49-F238E27FC236}">
                <a16:creationId xmlns:a16="http://schemas.microsoft.com/office/drawing/2014/main" id="{250D25A8-DC49-493A-906E-5A329927ED48}"/>
              </a:ext>
            </a:extLst>
          </p:cNvPr>
          <p:cNvSpPr>
            <a:spLocks xmlns:a="http://schemas.openxmlformats.org/drawingml/2006/main" noGrp="1"/>
          </p:cNvSpPr>
          <p:nvPr/>
        </p:nvSpPr>
        <p:spPr>
          <a:xfrm xmlns:a="http://schemas.openxmlformats.org/drawingml/2006/main">
            <a:off x="609600" y="63912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371"/>
                </a:solidFill>
                <a:latin typeface="Arial"/>
                <a:ea typeface="Arial"/>
                <a:cs typeface="Arial"/>
              </a:defRPr>
            </a:pPr>
            <a:r>
              <a:rPr sz="1200" b="0">
                <a:solidFill>
                  <a:srgbClr val="526371"/>
                </a:solidFill>
                <a:latin typeface="Arial"/>
                <a:ea typeface="Arial"/>
                <a:cs typeface="Arial"/>
              </a:rPr>
              <a:t>DATN • Quốc An &amp; Minh Hy  |  01.10.2026</a:t>
            </a:r>
          </a:p>
        </p:txBody>
      </p:sp>
      <p:sp>
        <p:nvSpPr>
          <p:cNvPr id="4" name="">
            <a:extLst xmlns:a="http://schemas.openxmlformats.org/drawingml/2006/main">
              <a:ext uri="{FF2B5EF4-FFF2-40B4-BE49-F238E27FC236}">
                <a16:creationId xmlns:a16="http://schemas.microsoft.com/office/drawing/2014/main" id="{5B1517A9-4FF5-496F-BC91-842EA789D068}"/>
              </a:ext>
            </a:extLst>
          </p:cNvPr>
          <p:cNvSpPr>
            <a:spLocks xmlns:a="http://schemas.openxmlformats.org/drawingml/2006/main" noGrp="1"/>
          </p:cNvSpPr>
          <p:nvPr/>
        </p:nvSpPr>
        <p:spPr>
          <a:xfrm xmlns:a="http://schemas.openxmlformats.org/drawingml/2006/main">
            <a:off x="11049000" y="63722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371"/>
                </a:solidFill>
                <a:latin typeface="Arial"/>
                <a:ea typeface="Arial"/>
                <a:cs typeface="Arial"/>
              </a:defRPr>
            </a:pPr>
            <a:r>
              <a:rPr sz="1425" b="0">
                <a:solidFill>
                  <a:srgbClr val="526371"/>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EFFA611F-5EA9-4109-A10C-6B04E9D1320F}"/>
              </a:ext>
            </a:extLst>
          </p:cNvPr>
          <p:cNvSpPr>
            <a:spLocks xmlns:a="http://schemas.openxmlformats.org/drawingml/2006/main" noGrp="1"/>
          </p:cNvSpPr>
          <p:nvPr/>
        </p:nvSpPr>
        <p:spPr>
          <a:xfrm xmlns:a="http://schemas.openxmlformats.org/drawingml/2006/main">
            <a:off x="60960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371"/>
                </a:solidFill>
                <a:latin typeface="Arial"/>
                <a:ea typeface="Arial"/>
                <a:cs typeface="Arial"/>
              </a:defRPr>
            </a:pPr>
            <a:r>
              <a:rPr sz="1125" b="0">
                <a:solidFill>
                  <a:srgbClr val="526371"/>
                </a:solidFill>
                <a:latin typeface="Arial"/>
                <a:ea typeface="Arial"/>
                <a:cs typeface="Arial"/>
              </a:rPr>
              <a:t>Nguồn: DECISION_LOGIC.md  |  T-023-encoder-evaluation-result.md</a:t>
            </a:r>
          </a:p>
        </p:txBody>
      </p:sp>
      <p:sp>
        <p:nvSpPr>
          <p:cNvPr id="6" name="">
            <a:extLst xmlns:a="http://schemas.openxmlformats.org/drawingml/2006/main">
              <a:ext uri="{FF2B5EF4-FFF2-40B4-BE49-F238E27FC236}">
                <a16:creationId xmlns:a16="http://schemas.microsoft.com/office/drawing/2014/main" id="{42BBFA66-4C2B-449D-9754-99136242F236}"/>
              </a:ext>
            </a:extLst>
          </p:cNvPr>
          <p:cNvSpPr>
            <a:spLocks xmlns:a="http://schemas.openxmlformats.org/drawingml/2006/main" noGrp="1"/>
          </p:cNvSpPr>
          <p:nvPr/>
        </p:nvSpPr>
        <p:spPr>
          <a:xfrm xmlns:a="http://schemas.openxmlformats.org/drawingml/2006/main">
            <a:off x="742950" y="20002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D40"/>
                </a:solidFill>
                <a:latin typeface="Arial"/>
                <a:ea typeface="Arial"/>
                <a:cs typeface="Arial"/>
              </a:defRPr>
            </a:pPr>
            <a:r>
              <a:rPr sz="2250" b="0">
                <a:solidFill>
                  <a:srgbClr val="182D40"/>
                </a:solidFill>
                <a:latin typeface="Arial"/>
                <a:ea typeface="Arial"/>
                <a:cs typeface="Arial"/>
              </a:rPr>
              <a:t>S4: target selection có abstention, so B0/P1/P2 trên cùng holdout.</a:t>
            </a:r>
          </a:p>
        </p:txBody>
      </p:sp>
      <p:sp>
        <p:nvSpPr>
          <p:cNvPr id="7" name="">
            <a:extLst xmlns:a="http://schemas.openxmlformats.org/drawingml/2006/main">
              <a:ext uri="{FF2B5EF4-FFF2-40B4-BE49-F238E27FC236}">
                <a16:creationId xmlns:a16="http://schemas.microsoft.com/office/drawing/2014/main" id="{61C19C90-29F7-4412-91F2-70035E376277}"/>
              </a:ext>
            </a:extLst>
          </p:cNvPr>
          <p:cNvSpPr>
            <a:spLocks xmlns:a="http://schemas.openxmlformats.org/drawingml/2006/main" noGrp="1"/>
          </p:cNvSpPr>
          <p:nvPr/>
        </p:nvSpPr>
        <p:spPr>
          <a:xfrm xmlns:a="http://schemas.openxmlformats.org/drawingml/2006/main">
            <a:off x="742950" y="28003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D40"/>
                </a:solidFill>
                <a:latin typeface="Arial"/>
                <a:ea typeface="Arial"/>
                <a:cs typeface="Arial"/>
              </a:defRPr>
            </a:pPr>
            <a:r>
              <a:rPr sz="2250" b="0">
                <a:solidFill>
                  <a:srgbClr val="182D40"/>
                </a:solidFill>
                <a:latin typeface="Arial"/>
                <a:ea typeface="Arial"/>
                <a:cs typeface="Arial"/>
              </a:rPr>
              <a:t>S8: rule từ development; báo ordinary và hard-negative riêng.</a:t>
            </a:r>
          </a:p>
        </p:txBody>
      </p:sp>
      <p:sp>
        <p:nvSpPr>
          <p:cNvPr id="8" name="">
            <a:extLst xmlns:a="http://schemas.openxmlformats.org/drawingml/2006/main">
              <a:ext uri="{FF2B5EF4-FFF2-40B4-BE49-F238E27FC236}">
                <a16:creationId xmlns:a16="http://schemas.microsoft.com/office/drawing/2014/main" id="{3B6AD4BF-B17F-448F-B230-184E88D78ACF}"/>
              </a:ext>
            </a:extLst>
          </p:cNvPr>
          <p:cNvSpPr>
            <a:spLocks xmlns:a="http://schemas.openxmlformats.org/drawingml/2006/main" noGrp="1"/>
          </p:cNvSpPr>
          <p:nvPr/>
        </p:nvSpPr>
        <p:spPr>
          <a:xfrm xmlns:a="http://schemas.openxmlformats.org/drawingml/2006/main">
            <a:off x="742950" y="36004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D40"/>
                </a:solidFill>
                <a:latin typeface="Arial"/>
                <a:ea typeface="Arial"/>
                <a:cs typeface="Arial"/>
              </a:defRPr>
            </a:pPr>
            <a:r>
              <a:rPr sz="2250" b="0">
                <a:solidFill>
                  <a:srgbClr val="182D40"/>
                </a:solidFill>
                <a:latin typeface="Arial"/>
                <a:ea typeface="Arial"/>
                <a:cs typeface="Arial"/>
              </a:rPr>
              <a:t>Giữ MobileFaceNet: có useful separation, chưa cần fine-tune.</a:t>
            </a:r>
          </a:p>
        </p:txBody>
      </p:sp>
      <p:sp>
        <p:nvSpPr>
          <p:cNvPr id="9" name="">
            <a:extLst xmlns:a="http://schemas.openxmlformats.org/drawingml/2006/main">
              <a:ext uri="{FF2B5EF4-FFF2-40B4-BE49-F238E27FC236}">
                <a16:creationId xmlns:a16="http://schemas.microsoft.com/office/drawing/2014/main" id="{250AD8EB-B653-4B7E-A475-1C205E303073}"/>
              </a:ext>
            </a:extLst>
          </p:cNvPr>
          <p:cNvSpPr>
            <a:spLocks xmlns:a="http://schemas.openxmlformats.org/drawingml/2006/main" noGrp="1"/>
          </p:cNvSpPr>
          <p:nvPr/>
        </p:nvSpPr>
        <p:spPr>
          <a:xfrm xmlns:a="http://schemas.openxmlformats.org/drawingml/2006/main">
            <a:off x="742950" y="44005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2D40"/>
                </a:solidFill>
                <a:latin typeface="Arial"/>
                <a:ea typeface="Arial"/>
                <a:cs typeface="Arial"/>
              </a:defRPr>
            </a:pPr>
            <a:r>
              <a:rPr sz="2250" b="0">
                <a:solidFill>
                  <a:srgbClr val="182D40"/>
                </a:solidFill>
                <a:latin typeface="Arial"/>
                <a:ea typeface="Arial"/>
                <a:cs typeface="Arial"/>
              </a:rPr>
              <a:t>Chưa có real-world FAR, full app comparison hay deployment safety.</a:t>
            </a:r>
          </a:p>
        </p:txBody>
      </p:sp>
    </p:spTree>
    <p:extLst>
      <p:ext uri="{BB962C8B-B14F-4D97-AF65-F5344CB8AC3E}">
        <p14:creationId xmlns:p14="http://schemas.microsoft.com/office/powerpoint/2010/main" val="171670076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37BF360-E533-4630-BEEE-3C68F5E67D32}"/>
              </a:ext>
            </a:extLst>
          </p:cNvPr>
          <p:cNvSpPr>
            <a:spLocks xmlns:a="http://schemas.openxmlformats.org/drawingml/2006/main" noGrp="1"/>
          </p:cNvSpPr>
          <p:nvPr/>
        </p:nvSpPr>
        <p:spPr>
          <a:xfrm xmlns:a="http://schemas.openxmlformats.org/drawingml/2006/main">
            <a:off x="609600" y="247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87D78"/>
                </a:solidFill>
                <a:latin typeface="Arial"/>
                <a:ea typeface="Arial"/>
                <a:cs typeface="Arial"/>
              </a:defRPr>
            </a:pPr>
            <a:r>
              <a:rPr sz="1350" b="1">
                <a:solidFill>
                  <a:srgbClr val="187D78"/>
                </a:solidFill>
                <a:latin typeface="Arial"/>
                <a:ea typeface="Arial"/>
                <a:cs typeface="Arial"/>
              </a:rPr>
              <a:t>15 • T-024 → HY IMPLEMENTATION</a:t>
            </a:r>
          </a:p>
        </p:txBody>
      </p:sp>
      <p:sp>
        <p:nvSpPr>
          <p:cNvPr id="2" name="">
            <a:extLst xmlns:a="http://schemas.openxmlformats.org/drawingml/2006/main">
              <a:ext uri="{FF2B5EF4-FFF2-40B4-BE49-F238E27FC236}">
                <a16:creationId xmlns:a16="http://schemas.microsoft.com/office/drawing/2014/main" id="{F42AE084-6E8D-4770-8D08-62795131127D}"/>
              </a:ext>
            </a:extLst>
          </p:cNvPr>
          <p:cNvSpPr>
            <a:spLocks xmlns:a="http://schemas.openxmlformats.org/drawingml/2006/main" noGrp="1"/>
          </p:cNvSpPr>
          <p:nvPr/>
        </p:nvSpPr>
        <p:spPr>
          <a:xfrm xmlns:a="http://schemas.openxmlformats.org/drawingml/2006/main">
            <a:off x="609600" y="7239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2D40"/>
                </a:solidFill>
                <a:latin typeface="Arial"/>
                <a:ea typeface="Arial"/>
                <a:cs typeface="Arial"/>
              </a:defRPr>
            </a:pPr>
            <a:r>
              <a:rPr sz="3225" b="1">
                <a:solidFill>
                  <a:srgbClr val="182D40"/>
                </a:solidFill>
                <a:latin typeface="Arial"/>
                <a:ea typeface="Arial"/>
                <a:cs typeface="Arial"/>
              </a:rPr>
              <a:t>Bước tiếp theo: build app theo policy đã duyệt</a:t>
            </a:r>
          </a:p>
        </p:txBody>
      </p:sp>
      <p:sp>
        <p:nvSpPr>
          <p:cNvPr id="3" name="">
            <a:extLst xmlns:a="http://schemas.openxmlformats.org/drawingml/2006/main">
              <a:ext uri="{FF2B5EF4-FFF2-40B4-BE49-F238E27FC236}">
                <a16:creationId xmlns:a16="http://schemas.microsoft.com/office/drawing/2014/main" id="{A40AA06E-D11E-4CD6-AAE3-0B42624A2864}"/>
              </a:ext>
            </a:extLst>
          </p:cNvPr>
          <p:cNvSpPr>
            <a:spLocks xmlns:a="http://schemas.openxmlformats.org/drawingml/2006/main" noGrp="1"/>
          </p:cNvSpPr>
          <p:nvPr/>
        </p:nvSpPr>
        <p:spPr>
          <a:xfrm xmlns:a="http://schemas.openxmlformats.org/drawingml/2006/main">
            <a:off x="609600" y="63912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371"/>
                </a:solidFill>
                <a:latin typeface="Arial"/>
                <a:ea typeface="Arial"/>
                <a:cs typeface="Arial"/>
              </a:defRPr>
            </a:pPr>
            <a:r>
              <a:rPr sz="1200" b="0">
                <a:solidFill>
                  <a:srgbClr val="526371"/>
                </a:solidFill>
                <a:latin typeface="Arial"/>
                <a:ea typeface="Arial"/>
                <a:cs typeface="Arial"/>
              </a:rPr>
              <a:t>DATN • Quốc An &amp; Minh Hy  |  01.10.2026</a:t>
            </a:r>
          </a:p>
        </p:txBody>
      </p:sp>
      <p:sp>
        <p:nvSpPr>
          <p:cNvPr id="4" name="">
            <a:extLst xmlns:a="http://schemas.openxmlformats.org/drawingml/2006/main">
              <a:ext uri="{FF2B5EF4-FFF2-40B4-BE49-F238E27FC236}">
                <a16:creationId xmlns:a16="http://schemas.microsoft.com/office/drawing/2014/main" id="{875B61B7-F701-4AFA-AAA1-2569EABDBF4F}"/>
              </a:ext>
            </a:extLst>
          </p:cNvPr>
          <p:cNvSpPr>
            <a:spLocks xmlns:a="http://schemas.openxmlformats.org/drawingml/2006/main" noGrp="1"/>
          </p:cNvSpPr>
          <p:nvPr/>
        </p:nvSpPr>
        <p:spPr>
          <a:xfrm xmlns:a="http://schemas.openxmlformats.org/drawingml/2006/main">
            <a:off x="11049000" y="63722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371"/>
                </a:solidFill>
                <a:latin typeface="Arial"/>
                <a:ea typeface="Arial"/>
                <a:cs typeface="Arial"/>
              </a:defRPr>
            </a:pPr>
            <a:r>
              <a:rPr sz="1425" b="0">
                <a:solidFill>
                  <a:srgbClr val="526371"/>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427205B6-018D-482B-AE70-E8DA97676177}"/>
              </a:ext>
            </a:extLst>
          </p:cNvPr>
          <p:cNvSpPr>
            <a:spLocks xmlns:a="http://schemas.openxmlformats.org/drawingml/2006/main" noGrp="1"/>
          </p:cNvSpPr>
          <p:nvPr/>
        </p:nvSpPr>
        <p:spPr>
          <a:xfrm xmlns:a="http://schemas.openxmlformats.org/drawingml/2006/main">
            <a:off x="60960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371"/>
                </a:solidFill>
                <a:latin typeface="Arial"/>
                <a:ea typeface="Arial"/>
                <a:cs typeface="Arial"/>
              </a:defRPr>
            </a:pPr>
            <a:r>
              <a:rPr sz="1125" b="0">
                <a:solidFill>
                  <a:srgbClr val="526371"/>
                </a:solidFill>
                <a:latin typeface="Arial"/>
                <a:ea typeface="Arial"/>
                <a:cs typeface="Arial"/>
              </a:rPr>
              <a:t>Nguồn: T-024-D-008-ban-giao-va-build-app.md  |  T-024-README.md</a:t>
            </a:r>
          </a:p>
        </p:txBody>
      </p:sp>
      <p:sp>
        <p:nvSpPr>
          <p:cNvPr id="6" name="">
            <a:extLst xmlns:a="http://schemas.openxmlformats.org/drawingml/2006/main">
              <a:ext uri="{FF2B5EF4-FFF2-40B4-BE49-F238E27FC236}">
                <a16:creationId xmlns:a16="http://schemas.microsoft.com/office/drawing/2014/main" id="{439D7C1F-007C-48B8-AF84-C533FDDAE2E4}"/>
              </a:ext>
            </a:extLst>
          </p:cNvPr>
          <p:cNvSpPr>
            <a:spLocks xmlns:a="http://schemas.openxmlformats.org/drawingml/2006/main" noGrp="1"/>
          </p:cNvSpPr>
          <p:nvPr/>
        </p:nvSpPr>
        <p:spPr>
          <a:xfrm xmlns:a="http://schemas.openxmlformats.org/drawingml/2006/main">
            <a:off x="609600" y="2009775"/>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7" name="">
            <a:extLst xmlns:a="http://schemas.openxmlformats.org/drawingml/2006/main">
              <a:ext uri="{FF2B5EF4-FFF2-40B4-BE49-F238E27FC236}">
                <a16:creationId xmlns:a16="http://schemas.microsoft.com/office/drawing/2014/main" id="{FB77350A-C2D6-4E6E-8CB6-678C1A2785BE}"/>
              </a:ext>
            </a:extLst>
          </p:cNvPr>
          <p:cNvSpPr>
            <a:spLocks xmlns:a="http://schemas.openxmlformats.org/drawingml/2006/main" noGrp="1"/>
          </p:cNvSpPr>
          <p:nvPr/>
        </p:nvSpPr>
        <p:spPr>
          <a:xfrm xmlns:a="http://schemas.openxmlformats.org/drawingml/2006/main">
            <a:off x="723900" y="2171700"/>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Build UI + flow</a:t>
            </a:r>
          </a:p>
        </p:txBody>
      </p:sp>
      <p:sp>
        <p:nvSpPr>
          <p:cNvPr id="8" name="">
            <a:extLst xmlns:a="http://schemas.openxmlformats.org/drawingml/2006/main">
              <a:ext uri="{FF2B5EF4-FFF2-40B4-BE49-F238E27FC236}">
                <a16:creationId xmlns:a16="http://schemas.microsoft.com/office/drawing/2014/main" id="{B687B04C-53BA-418F-95C6-24895F5C54DD}"/>
              </a:ext>
            </a:extLst>
          </p:cNvPr>
          <p:cNvSpPr>
            <a:spLocks xmlns:a="http://schemas.openxmlformats.org/drawingml/2006/main" noGrp="1"/>
          </p:cNvSpPr>
          <p:nvPr/>
        </p:nvSpPr>
        <p:spPr>
          <a:xfrm xmlns:a="http://schemas.openxmlformats.org/drawingml/2006/main">
            <a:off x="3062288" y="22955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7D78"/>
                </a:solidFill>
                <a:latin typeface="Arial"/>
                <a:ea typeface="Arial"/>
                <a:cs typeface="Arial"/>
              </a:defRPr>
            </a:pPr>
            <a:r>
              <a:rPr sz="1875" b="1">
                <a:solidFill>
                  <a:srgbClr val="187D78"/>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52D1A2A6-9C4D-4C04-973B-F4B88FA6D274}"/>
              </a:ext>
            </a:extLst>
          </p:cNvPr>
          <p:cNvSpPr>
            <a:spLocks xmlns:a="http://schemas.openxmlformats.org/drawingml/2006/main" noGrp="1"/>
          </p:cNvSpPr>
          <p:nvPr/>
        </p:nvSpPr>
        <p:spPr>
          <a:xfrm xmlns:a="http://schemas.openxmlformats.org/drawingml/2006/main">
            <a:off x="3424238" y="2009775"/>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10" name="">
            <a:extLst xmlns:a="http://schemas.openxmlformats.org/drawingml/2006/main">
              <a:ext uri="{FF2B5EF4-FFF2-40B4-BE49-F238E27FC236}">
                <a16:creationId xmlns:a16="http://schemas.microsoft.com/office/drawing/2014/main" id="{8FFE2996-91FA-403F-B5C9-4079464CA897}"/>
              </a:ext>
            </a:extLst>
          </p:cNvPr>
          <p:cNvSpPr>
            <a:spLocks xmlns:a="http://schemas.openxmlformats.org/drawingml/2006/main" noGrp="1"/>
          </p:cNvSpPr>
          <p:nvPr/>
        </p:nvSpPr>
        <p:spPr>
          <a:xfrm xmlns:a="http://schemas.openxmlformats.org/drawingml/2006/main">
            <a:off x="3538538" y="2171700"/>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Nối camera</a:t>
            </a:r>
          </a:p>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S4 / S8</a:t>
            </a:r>
          </a:p>
        </p:txBody>
      </p:sp>
      <p:sp>
        <p:nvSpPr>
          <p:cNvPr id="11" name="">
            <a:extLst xmlns:a="http://schemas.openxmlformats.org/drawingml/2006/main">
              <a:ext uri="{FF2B5EF4-FFF2-40B4-BE49-F238E27FC236}">
                <a16:creationId xmlns:a16="http://schemas.microsoft.com/office/drawing/2014/main" id="{B7CDB298-9043-4EEA-B91C-E1E0431F580F}"/>
              </a:ext>
            </a:extLst>
          </p:cNvPr>
          <p:cNvSpPr>
            <a:spLocks xmlns:a="http://schemas.openxmlformats.org/drawingml/2006/main" noGrp="1"/>
          </p:cNvSpPr>
          <p:nvPr/>
        </p:nvSpPr>
        <p:spPr>
          <a:xfrm xmlns:a="http://schemas.openxmlformats.org/drawingml/2006/main">
            <a:off x="5876925" y="22955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7D78"/>
                </a:solidFill>
                <a:latin typeface="Arial"/>
                <a:ea typeface="Arial"/>
                <a:cs typeface="Arial"/>
              </a:defRPr>
            </a:pPr>
            <a:r>
              <a:rPr sz="1875" b="1">
                <a:solidFill>
                  <a:srgbClr val="187D78"/>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8FA53045-1993-4703-B9F9-21250E7AD894}"/>
              </a:ext>
            </a:extLst>
          </p:cNvPr>
          <p:cNvSpPr>
            <a:spLocks xmlns:a="http://schemas.openxmlformats.org/drawingml/2006/main" noGrp="1"/>
          </p:cNvSpPr>
          <p:nvPr/>
        </p:nvSpPr>
        <p:spPr>
          <a:xfrm xmlns:a="http://schemas.openxmlformats.org/drawingml/2006/main">
            <a:off x="6238875" y="2009775"/>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13" name="">
            <a:extLst xmlns:a="http://schemas.openxmlformats.org/drawingml/2006/main">
              <a:ext uri="{FF2B5EF4-FFF2-40B4-BE49-F238E27FC236}">
                <a16:creationId xmlns:a16="http://schemas.microsoft.com/office/drawing/2014/main" id="{BF5C104D-211A-46A4-8ABA-F40ECB0F1178}"/>
              </a:ext>
            </a:extLst>
          </p:cNvPr>
          <p:cNvSpPr>
            <a:spLocks xmlns:a="http://schemas.openxmlformats.org/drawingml/2006/main" noGrp="1"/>
          </p:cNvSpPr>
          <p:nvPr/>
        </p:nvSpPr>
        <p:spPr>
          <a:xfrm xmlns:a="http://schemas.openxmlformats.org/drawingml/2006/main">
            <a:off x="6353175" y="2171700"/>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Retry / manual</a:t>
            </a:r>
          </a:p>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confirmed write</a:t>
            </a:r>
          </a:p>
        </p:txBody>
      </p:sp>
      <p:sp>
        <p:nvSpPr>
          <p:cNvPr id="14" name="">
            <a:extLst xmlns:a="http://schemas.openxmlformats.org/drawingml/2006/main">
              <a:ext uri="{FF2B5EF4-FFF2-40B4-BE49-F238E27FC236}">
                <a16:creationId xmlns:a16="http://schemas.microsoft.com/office/drawing/2014/main" id="{3AC43E31-115D-46EB-A446-2F35E53E1350}"/>
              </a:ext>
            </a:extLst>
          </p:cNvPr>
          <p:cNvSpPr>
            <a:spLocks xmlns:a="http://schemas.openxmlformats.org/drawingml/2006/main" noGrp="1"/>
          </p:cNvSpPr>
          <p:nvPr/>
        </p:nvSpPr>
        <p:spPr>
          <a:xfrm xmlns:a="http://schemas.openxmlformats.org/drawingml/2006/main">
            <a:off x="8691563" y="2295525"/>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7D78"/>
                </a:solidFill>
                <a:latin typeface="Arial"/>
                <a:ea typeface="Arial"/>
                <a:cs typeface="Arial"/>
              </a:defRPr>
            </a:pPr>
            <a:r>
              <a:rPr sz="1875" b="1">
                <a:solidFill>
                  <a:srgbClr val="187D78"/>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3CB1FBDC-1509-47BD-B3A6-D45598DC5B88}"/>
              </a:ext>
            </a:extLst>
          </p:cNvPr>
          <p:cNvSpPr>
            <a:spLocks xmlns:a="http://schemas.openxmlformats.org/drawingml/2006/main" noGrp="1"/>
          </p:cNvSpPr>
          <p:nvPr/>
        </p:nvSpPr>
        <p:spPr>
          <a:xfrm xmlns:a="http://schemas.openxmlformats.org/drawingml/2006/main">
            <a:off x="9053513" y="2009775"/>
            <a:ext cx="2528888" cy="952500"/>
          </a:xfrm>
          <a:prstGeom xmlns:a="http://schemas.openxmlformats.org/drawingml/2006/main" prst="rect">
            <a:avLst/>
          </a:prstGeom>
          <a:solidFill xmlns:a="http://schemas.openxmlformats.org/drawingml/2006/main">
            <a:srgbClr val="F1F5F7"/>
          </a:solidFill>
          <a:ln xmlns:a="http://schemas.openxmlformats.org/drawingml/2006/main" w="19050">
            <a:solidFill>
              <a:srgbClr val="187D78"/>
            </a:solidFill>
          </a:ln>
        </p:spPr>
      </p:sp>
      <p:sp>
        <p:nvSpPr>
          <p:cNvPr id="16" name="">
            <a:extLst xmlns:a="http://schemas.openxmlformats.org/drawingml/2006/main">
              <a:ext uri="{FF2B5EF4-FFF2-40B4-BE49-F238E27FC236}">
                <a16:creationId xmlns:a16="http://schemas.microsoft.com/office/drawing/2014/main" id="{695CFB46-D855-48E2-8ADF-00DC5644C652}"/>
              </a:ext>
            </a:extLst>
          </p:cNvPr>
          <p:cNvSpPr>
            <a:spLocks xmlns:a="http://schemas.openxmlformats.org/drawingml/2006/main" noGrp="1"/>
          </p:cNvSpPr>
          <p:nvPr/>
        </p:nvSpPr>
        <p:spPr>
          <a:xfrm xmlns:a="http://schemas.openxmlformats.org/drawingml/2006/main">
            <a:off x="9167813" y="2171700"/>
            <a:ext cx="2300288"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Freeze test</a:t>
            </a:r>
          </a:p>
          <a:p xmlns:a="http://schemas.openxmlformats.org/drawingml/2006/main">
            <a:pPr>
              <a:defRPr sz="1875" b="1">
                <a:solidFill>
                  <a:srgbClr val="182D40"/>
                </a:solidFill>
                <a:latin typeface="Arial"/>
                <a:ea typeface="Arial"/>
                <a:cs typeface="Arial"/>
              </a:defRPr>
            </a:pPr>
            <a:r>
              <a:rPr sz="1875" b="1">
                <a:solidFill>
                  <a:srgbClr val="182D40"/>
                </a:solidFill>
                <a:latin typeface="Arial"/>
                <a:ea typeface="Arial"/>
                <a:cs typeface="Arial"/>
              </a:rPr>
              <a:t>→ report</a:t>
            </a:r>
          </a:p>
        </p:txBody>
      </p:sp>
      <p:sp>
        <p:nvSpPr>
          <p:cNvPr id="17" name="">
            <a:extLst xmlns:a="http://schemas.openxmlformats.org/drawingml/2006/main">
              <a:ext uri="{FF2B5EF4-FFF2-40B4-BE49-F238E27FC236}">
                <a16:creationId xmlns:a16="http://schemas.microsoft.com/office/drawing/2014/main" id="{FBFAC2DF-E102-45AD-9268-1580FB812A2A}"/>
              </a:ext>
            </a:extLst>
          </p:cNvPr>
          <p:cNvSpPr>
            <a:spLocks xmlns:a="http://schemas.openxmlformats.org/drawingml/2006/main" noGrp="1"/>
          </p:cNvSpPr>
          <p:nvPr/>
        </p:nvSpPr>
        <p:spPr>
          <a:xfrm xmlns:a="http://schemas.openxmlformats.org/drawingml/2006/main">
            <a:off x="666750" y="355282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87D78"/>
                </a:solidFill>
                <a:latin typeface="Arial"/>
                <a:ea typeface="Arial"/>
                <a:cs typeface="Arial"/>
              </a:defRPr>
            </a:pPr>
            <a:r>
              <a:rPr sz="2325" b="1">
                <a:solidFill>
                  <a:srgbClr val="187D78"/>
                </a:solidFill>
                <a:latin typeface="Arial"/>
                <a:ea typeface="Arial"/>
                <a:cs typeface="Arial"/>
              </a:rPr>
              <a:t>Auto-PASS chỉ khi business + AI + final checks + write đều confirmed.</a:t>
            </a:r>
          </a:p>
        </p:txBody>
      </p:sp>
      <p:sp>
        <p:nvSpPr>
          <p:cNvPr id="18" name="">
            <a:extLst xmlns:a="http://schemas.openxmlformats.org/drawingml/2006/main">
              <a:ext uri="{FF2B5EF4-FFF2-40B4-BE49-F238E27FC236}">
                <a16:creationId xmlns:a16="http://schemas.microsoft.com/office/drawing/2014/main" id="{9BB9EB30-5132-4FB0-A5E2-8B5AED263039}"/>
              </a:ext>
            </a:extLst>
          </p:cNvPr>
          <p:cNvSpPr>
            <a:spLocks xmlns:a="http://schemas.openxmlformats.org/drawingml/2006/main" noGrp="1"/>
          </p:cNvSpPr>
          <p:nvPr/>
        </p:nvSpPr>
        <p:spPr>
          <a:xfrm xmlns:a="http://schemas.openxmlformats.org/drawingml/2006/main">
            <a:off x="666750" y="45148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2D40"/>
                </a:solidFill>
                <a:latin typeface="Arial"/>
                <a:ea typeface="Arial"/>
                <a:cs typeface="Arial"/>
              </a:defRPr>
            </a:pPr>
            <a:r>
              <a:rPr sz="2100" b="0">
                <a:solidFill>
                  <a:srgbClr val="182D40"/>
                </a:solidFill>
                <a:latin typeface="Arial"/>
                <a:ea typeface="Arial"/>
                <a:cs typeface="Arial"/>
              </a:rPr>
              <a:t>Global capture cap = 3  |  HUMAN không rewrite AI  |  Audit có version</a:t>
            </a:r>
          </a:p>
        </p:txBody>
      </p:sp>
      <p:sp>
        <p:nvSpPr>
          <p:cNvPr id="19" name="">
            <a:extLst xmlns:a="http://schemas.openxmlformats.org/drawingml/2006/main">
              <a:ext uri="{FF2B5EF4-FFF2-40B4-BE49-F238E27FC236}">
                <a16:creationId xmlns:a16="http://schemas.microsoft.com/office/drawing/2014/main" id="{FBFF3671-34F0-4076-9B5B-6A88FFF1BA56}"/>
              </a:ext>
            </a:extLst>
          </p:cNvPr>
          <p:cNvSpPr>
            <a:spLocks xmlns:a="http://schemas.openxmlformats.org/drawingml/2006/main" noGrp="1"/>
          </p:cNvSpPr>
          <p:nvPr/>
        </p:nvSpPr>
        <p:spPr>
          <a:xfrm xmlns:a="http://schemas.openxmlformats.org/drawingml/2006/main">
            <a:off x="666750" y="53530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371"/>
                </a:solidFill>
                <a:latin typeface="Arial"/>
                <a:ea typeface="Arial"/>
                <a:cs typeface="Arial"/>
              </a:defRPr>
            </a:pPr>
            <a:r>
              <a:rPr sz="2025" b="0">
                <a:solidFill>
                  <a:srgbClr val="526371"/>
                </a:solidFill>
                <a:latin typeface="Arial"/>
                <a:ea typeface="Arial"/>
                <a:cs typeface="Arial"/>
              </a:rPr>
              <a:t>Workflow: PASS/FAIL rõ  •  AI risk: báo attempt-level, cap còn TBD</a:t>
            </a:r>
          </a:p>
        </p:txBody>
      </p:sp>
    </p:spTree>
    <p:extLst>
      <p:ext uri="{BB962C8B-B14F-4D97-AF65-F5344CB8AC3E}">
        <p14:creationId xmlns:p14="http://schemas.microsoft.com/office/powerpoint/2010/main" val="38289674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03252D-26EC-48F1-A98D-BA30F1A4885E}"/>
              </a:ext>
            </a:extLst>
          </p:cNvPr>
          <p:cNvSpPr>
            <a:spLocks xmlns:a="http://schemas.openxmlformats.org/drawingml/2006/main" noGrp="1"/>
          </p:cNvSpPr>
          <p:nvPr/>
        </p:nvSpPr>
        <p:spPr>
          <a:xfrm xmlns:a="http://schemas.openxmlformats.org/drawingml/2006/main">
            <a:off x="609600" y="247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87D78"/>
                </a:solidFill>
                <a:latin typeface="Arial"/>
                <a:ea typeface="Arial"/>
                <a:cs typeface="Arial"/>
              </a:defRPr>
            </a:pPr>
            <a:r>
              <a:rPr sz="1350" b="1">
                <a:solidFill>
                  <a:srgbClr val="187D78"/>
                </a:solidFill>
                <a:latin typeface="Arial"/>
                <a:ea typeface="Arial"/>
                <a:cs typeface="Arial"/>
              </a:rPr>
              <a:t>PHỤ LỤC A • EVIDENCE INDEX</a:t>
            </a:r>
          </a:p>
        </p:txBody>
      </p:sp>
      <p:sp>
        <p:nvSpPr>
          <p:cNvPr id="2" name="">
            <a:extLst xmlns:a="http://schemas.openxmlformats.org/drawingml/2006/main">
              <a:ext uri="{FF2B5EF4-FFF2-40B4-BE49-F238E27FC236}">
                <a16:creationId xmlns:a16="http://schemas.microsoft.com/office/drawing/2014/main" id="{2C2B3655-D3C7-402C-B814-2782A33E6794}"/>
              </a:ext>
            </a:extLst>
          </p:cNvPr>
          <p:cNvSpPr>
            <a:spLocks xmlns:a="http://schemas.openxmlformats.org/drawingml/2006/main" noGrp="1"/>
          </p:cNvSpPr>
          <p:nvPr/>
        </p:nvSpPr>
        <p:spPr>
          <a:xfrm xmlns:a="http://schemas.openxmlformats.org/drawingml/2006/main">
            <a:off x="609600" y="7239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2D40"/>
                </a:solidFill>
                <a:latin typeface="Arial"/>
                <a:ea typeface="Arial"/>
                <a:cs typeface="Arial"/>
              </a:defRPr>
            </a:pPr>
            <a:r>
              <a:rPr sz="3225" b="1">
                <a:solidFill>
                  <a:srgbClr val="182D40"/>
                </a:solidFill>
                <a:latin typeface="Arial"/>
                <a:ea typeface="Arial"/>
                <a:cs typeface="Arial"/>
              </a:rPr>
              <a:t>Nguồn để đối chiếu và viết báo cáo</a:t>
            </a:r>
          </a:p>
        </p:txBody>
      </p:sp>
      <p:sp>
        <p:nvSpPr>
          <p:cNvPr id="3" name="">
            <a:extLst xmlns:a="http://schemas.openxmlformats.org/drawingml/2006/main">
              <a:ext uri="{FF2B5EF4-FFF2-40B4-BE49-F238E27FC236}">
                <a16:creationId xmlns:a16="http://schemas.microsoft.com/office/drawing/2014/main" id="{7B562E0B-C654-46A8-874F-2B45AB3E9675}"/>
              </a:ext>
            </a:extLst>
          </p:cNvPr>
          <p:cNvSpPr>
            <a:spLocks xmlns:a="http://schemas.openxmlformats.org/drawingml/2006/main" noGrp="1"/>
          </p:cNvSpPr>
          <p:nvPr/>
        </p:nvSpPr>
        <p:spPr>
          <a:xfrm xmlns:a="http://schemas.openxmlformats.org/drawingml/2006/main">
            <a:off x="609600" y="63912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371"/>
                </a:solidFill>
                <a:latin typeface="Arial"/>
                <a:ea typeface="Arial"/>
                <a:cs typeface="Arial"/>
              </a:defRPr>
            </a:pPr>
            <a:r>
              <a:rPr sz="1200" b="0">
                <a:solidFill>
                  <a:srgbClr val="526371"/>
                </a:solidFill>
                <a:latin typeface="Arial"/>
                <a:ea typeface="Arial"/>
                <a:cs typeface="Arial"/>
              </a:rPr>
              <a:t>DATN • Quốc An &amp; Minh Hy  |  01.10.2026</a:t>
            </a:r>
          </a:p>
        </p:txBody>
      </p:sp>
      <p:sp>
        <p:nvSpPr>
          <p:cNvPr id="4" name="">
            <a:extLst xmlns:a="http://schemas.openxmlformats.org/drawingml/2006/main">
              <a:ext uri="{FF2B5EF4-FFF2-40B4-BE49-F238E27FC236}">
                <a16:creationId xmlns:a16="http://schemas.microsoft.com/office/drawing/2014/main" id="{B757FABB-FDCA-4C2D-AF77-555047FF2253}"/>
              </a:ext>
            </a:extLst>
          </p:cNvPr>
          <p:cNvSpPr>
            <a:spLocks xmlns:a="http://schemas.openxmlformats.org/drawingml/2006/main" noGrp="1"/>
          </p:cNvSpPr>
          <p:nvPr/>
        </p:nvSpPr>
        <p:spPr>
          <a:xfrm xmlns:a="http://schemas.openxmlformats.org/drawingml/2006/main">
            <a:off x="11049000" y="63722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371"/>
                </a:solidFill>
                <a:latin typeface="Arial"/>
                <a:ea typeface="Arial"/>
                <a:cs typeface="Arial"/>
              </a:defRPr>
            </a:pPr>
            <a:r>
              <a:rPr sz="1425" b="0">
                <a:solidFill>
                  <a:srgbClr val="526371"/>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96D4CA72-28A1-476E-B764-CC96941ABD26}"/>
              </a:ext>
            </a:extLst>
          </p:cNvPr>
          <p:cNvSpPr>
            <a:spLocks xmlns:a="http://schemas.openxmlformats.org/drawingml/2006/main" noGrp="1"/>
          </p:cNvSpPr>
          <p:nvPr/>
        </p:nvSpPr>
        <p:spPr>
          <a:xfrm xmlns:a="http://schemas.openxmlformats.org/drawingml/2006/main">
            <a:off x="60960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371"/>
                </a:solidFill>
                <a:latin typeface="Arial"/>
                <a:ea typeface="Arial"/>
                <a:cs typeface="Arial"/>
              </a:defRPr>
            </a:pPr>
            <a:r>
              <a:rPr sz="1125" b="0">
                <a:solidFill>
                  <a:srgbClr val="526371"/>
                </a:solidFill>
                <a:latin typeface="Arial"/>
                <a:ea typeface="Arial"/>
                <a:cs typeface="Arial"/>
              </a:rPr>
              <a:t>Nguồn: T-024-research-logic.md</a:t>
            </a:r>
          </a:p>
        </p:txBody>
      </p:sp>
      <p:graphicFrame>
        <p:nvGraphicFramePr>
          <p:cNvPr id="12" name=""/>
          <p:cNvGraphicFramePr/>
          <p:nvPr/>
        </p:nvGraphicFramePr>
        <p:xfrm>
          <a:off xmlns:a="http://schemas.openxmlformats.org/drawingml/2006/main" x="609600" y="1971675"/>
          <a:ext xmlns:a="http://schemas.openxmlformats.org/drawingml/2006/main" cx="10972800" cy="3581400"/>
        </p:xfrm>
        <a:graphic xmlns:a="http://schemas.openxmlformats.org/drawingml/2006/main">
          <a:graphicData uri="http://schemas.openxmlformats.org/drawingml/2006/table">
            <a:tbl>
              <a:tblPr firstRow="1" bandRow="0"/>
              <a:tblGrid>
                <a:gridCol w="3238500"/>
                <a:gridCol w="7734300"/>
              </a:tblGrid>
              <a:tr h="596900">
                <a:tc>
                  <a:txBody>
                    <a:bodyPr/>
                    <a:lstStyle/>
                    <a:p>
                      <a:r>
                        <a:rPr sz="1725" b="1">
                          <a:solidFill>
                            <a:srgbClr val="FFFFFF"/>
                          </a:solidFill>
                          <a:latin typeface="Arial"/>
                          <a:ea typeface="Arial"/>
                          <a:cs typeface="Arial"/>
                        </a:rPr>
                        <a:t>Chủ đề</a:t>
                      </a:r>
                    </a:p>
                  </a:txBody>
                  <a:tcPr marL="91440" marR="91440" marT="45720" marB="45720">
                    <a:solidFill>
                      <a:srgbClr val="182D40"/>
                    </a:solidFill>
                  </a:tcPr>
                </a:tc>
                <a:tc>
                  <a:txBody>
                    <a:bodyPr/>
                    <a:lstStyle/>
                    <a:p>
                      <a:r>
                        <a:rPr sz="1725" b="1">
                          <a:solidFill>
                            <a:srgbClr val="FFFFFF"/>
                          </a:solidFill>
                          <a:latin typeface="Arial"/>
                          <a:ea typeface="Arial"/>
                          <a:cs typeface="Arial"/>
                        </a:rPr>
                        <a:t>Nguồn chính</a:t>
                      </a:r>
                    </a:p>
                  </a:txBody>
                  <a:tcPr marL="91440" marR="91440" marT="45720" marB="45720">
                    <a:solidFill>
                      <a:srgbClr val="182D40"/>
                    </a:solidFill>
                  </a:tcPr>
                </a:tc>
              </a:tr>
              <a:tr h="596900">
                <a:tc>
                  <a:txBody>
                    <a:bodyPr/>
                    <a:lstStyle/>
                    <a:p>
                      <a:r>
                        <a:rPr sz="1725" b="0">
                          <a:solidFill>
                            <a:srgbClr val="182D40"/>
                          </a:solidFill>
                          <a:latin typeface="Arial"/>
                          <a:ea typeface="Arial"/>
                          <a:cs typeface="Arial"/>
                        </a:rPr>
                        <a:t>Business / pipeline</a:t>
                      </a:r>
                    </a:p>
                  </a:txBody>
                  <a:tcPr marL="91440" marR="91440" marT="45720" marB="45720">
                    <a:solidFill>
                      <a:srgbClr val="F1F5F7"/>
                    </a:solidFill>
                  </a:tcPr>
                </a:tc>
                <a:tc>
                  <a:txBody>
                    <a:bodyPr/>
                    <a:lstStyle/>
                    <a:p>
                      <a:r>
                        <a:rPr sz="1725" b="0">
                          <a:solidFill>
                            <a:srgbClr val="182D40"/>
                          </a:solidFill>
                          <a:latin typeface="Arial"/>
                          <a:ea typeface="Arial"/>
                          <a:cs typeface="Arial"/>
                        </a:rPr>
                        <a:t>D-001, D-002, T-008, T-005 task decomposition</a:t>
                      </a:r>
                    </a:p>
                  </a:txBody>
                  <a:tcPr marL="91440" marR="91440" marT="45720" marB="45720">
                    <a:solidFill>
                      <a:srgbClr val="F1F5F7"/>
                    </a:solidFill>
                  </a:tcPr>
                </a:tc>
              </a:tr>
              <a:tr h="596900">
                <a:tc>
                  <a:txBody>
                    <a:bodyPr/>
                    <a:lstStyle/>
                    <a:p>
                      <a:r>
                        <a:rPr sz="1725" b="0">
                          <a:solidFill>
                            <a:srgbClr val="182D40"/>
                          </a:solidFill>
                          <a:latin typeface="Arial"/>
                          <a:ea typeface="Arial"/>
                          <a:cs typeface="Arial"/>
                        </a:rPr>
                        <a:t>Baseline / S4</a:t>
                      </a:r>
                    </a:p>
                  </a:txBody>
                  <a:tcPr marL="91440" marR="91440" marT="45720" marB="45720">
                    <a:solidFill>
                      <a:srgbClr val="FFFFFF"/>
                    </a:solidFill>
                  </a:tcPr>
                </a:tc>
                <a:tc>
                  <a:txBody>
                    <a:bodyPr/>
                    <a:lstStyle/>
                    <a:p>
                      <a:r>
                        <a:rPr sz="1725" b="0">
                          <a:solidFill>
                            <a:srgbClr val="182D40"/>
                          </a:solidFill>
                          <a:latin typeface="Arial"/>
                          <a:ea typeface="Arial"/>
                          <a:cs typeface="Arial"/>
                        </a:rPr>
                        <a:t>T-012 B0 choice; T-014 protocol; T-017 clean confirmation</a:t>
                      </a:r>
                    </a:p>
                  </a:txBody>
                  <a:tcPr marL="91440" marR="91440" marT="45720" marB="45720">
                    <a:solidFill>
                      <a:srgbClr val="FFFFFF"/>
                    </a:solidFill>
                  </a:tcPr>
                </a:tc>
              </a:tr>
              <a:tr h="596900">
                <a:tc>
                  <a:txBody>
                    <a:bodyPr/>
                    <a:lstStyle/>
                    <a:p>
                      <a:r>
                        <a:rPr sz="1725" b="0">
                          <a:solidFill>
                            <a:srgbClr val="182D40"/>
                          </a:solidFill>
                          <a:latin typeface="Arial"/>
                          <a:ea typeface="Arial"/>
                          <a:cs typeface="Arial"/>
                        </a:rPr>
                        <a:t>Failure / verification</a:t>
                      </a:r>
                    </a:p>
                  </a:txBody>
                  <a:tcPr marL="91440" marR="91440" marT="45720" marB="45720">
                    <a:solidFill>
                      <a:srgbClr val="F1F5F7"/>
                    </a:solidFill>
                  </a:tcPr>
                </a:tc>
                <a:tc>
                  <a:txBody>
                    <a:bodyPr/>
                    <a:lstStyle/>
                    <a:p>
                      <a:r>
                        <a:rPr sz="1725" b="0">
                          <a:solidFill>
                            <a:srgbClr val="182D40"/>
                          </a:solidFill>
                          <a:latin typeface="Arial"/>
                          <a:ea typeface="Arial"/>
                          <a:cs typeface="Arial"/>
                        </a:rPr>
                        <a:t>T-020 replay; T-021 risk; T-022 freeze/results</a:t>
                      </a:r>
                    </a:p>
                  </a:txBody>
                  <a:tcPr marL="91440" marR="91440" marT="45720" marB="45720">
                    <a:solidFill>
                      <a:srgbClr val="F1F5F7"/>
                    </a:solidFill>
                  </a:tcPr>
                </a:tc>
              </a:tr>
              <a:tr h="596900">
                <a:tc>
                  <a:txBody>
                    <a:bodyPr/>
                    <a:lstStyle/>
                    <a:p>
                      <a:r>
                        <a:rPr sz="1725" b="0">
                          <a:solidFill>
                            <a:srgbClr val="182D40"/>
                          </a:solidFill>
                          <a:latin typeface="Arial"/>
                          <a:ea typeface="Arial"/>
                          <a:cs typeface="Arial"/>
                        </a:rPr>
                        <a:t>Encoder / combined</a:t>
                      </a:r>
                    </a:p>
                  </a:txBody>
                  <a:tcPr marL="91440" marR="91440" marT="45720" marB="45720">
                    <a:solidFill>
                      <a:srgbClr val="FFFFFF"/>
                    </a:solidFill>
                  </a:tcPr>
                </a:tc>
                <a:tc>
                  <a:txBody>
                    <a:bodyPr/>
                    <a:lstStyle/>
                    <a:p>
                      <a:r>
                        <a:rPr sz="1725" b="0">
                          <a:solidFill>
                            <a:srgbClr val="182D40"/>
                          </a:solidFill>
                          <a:latin typeface="Arial"/>
                          <a:ea typeface="Arial"/>
                          <a:cs typeface="Arial"/>
                        </a:rPr>
                        <a:t>T-023 development, freeze, encoder evaluation result</a:t>
                      </a:r>
                    </a:p>
                  </a:txBody>
                  <a:tcPr marL="91440" marR="91440" marT="45720" marB="45720">
                    <a:solidFill>
                      <a:srgbClr val="FFFFFF"/>
                    </a:solidFill>
                  </a:tcPr>
                </a:tc>
              </a:tr>
              <a:tr h="596900">
                <a:tc>
                  <a:txBody>
                    <a:bodyPr/>
                    <a:lstStyle/>
                    <a:p>
                      <a:r>
                        <a:rPr sz="1725" b="0">
                          <a:solidFill>
                            <a:srgbClr val="182D40"/>
                          </a:solidFill>
                          <a:latin typeface="Arial"/>
                          <a:ea typeface="Arial"/>
                          <a:cs typeface="Arial"/>
                        </a:rPr>
                        <a:t>Policy / app</a:t>
                      </a:r>
                    </a:p>
                  </a:txBody>
                  <a:tcPr marL="91440" marR="91440" marT="45720" marB="45720">
                    <a:solidFill>
                      <a:srgbClr val="F1F5F7"/>
                    </a:solidFill>
                  </a:tcPr>
                </a:tc>
                <a:tc>
                  <a:txBody>
                    <a:bodyPr/>
                    <a:lstStyle/>
                    <a:p>
                      <a:r>
                        <a:rPr sz="1725" b="0">
                          <a:solidFill>
                            <a:srgbClr val="182D40"/>
                          </a:solidFill>
                          <a:latin typeface="Arial"/>
                          <a:ea typeface="Arial"/>
                          <a:cs typeface="Arial"/>
                        </a:rPr>
                        <a:t>D-004…D-008; T-024 handoff folder cho Hy</a:t>
                      </a:r>
                    </a:p>
                  </a:txBody>
                  <a:tcPr marL="91440" marR="91440" marT="45720" marB="45720">
                    <a:solidFill>
                      <a:srgbClr val="F1F5F7"/>
                    </a:solidFill>
                  </a:tcPr>
                </a:tc>
              </a:tr>
            </a:tbl>
          </a:graphicData>
        </a:graphic>
      </p:graphicFrame>
    </p:spTree>
    <p:extLst>
      <p:ext uri="{BB962C8B-B14F-4D97-AF65-F5344CB8AC3E}">
        <p14:creationId xmlns:p14="http://schemas.microsoft.com/office/powerpoint/2010/main" val="174099451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16C8F99-AFE2-419E-B25D-8E0B0703397A}"/>
              </a:ext>
            </a:extLst>
          </p:cNvPr>
          <p:cNvSpPr>
            <a:spLocks xmlns:a="http://schemas.openxmlformats.org/drawingml/2006/main" noGrp="1"/>
          </p:cNvSpPr>
          <p:nvPr/>
        </p:nvSpPr>
        <p:spPr>
          <a:xfrm xmlns:a="http://schemas.openxmlformats.org/drawingml/2006/main">
            <a:off x="609600" y="247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87D78"/>
                </a:solidFill>
                <a:latin typeface="Arial"/>
                <a:ea typeface="Arial"/>
                <a:cs typeface="Arial"/>
              </a:defRPr>
            </a:pPr>
            <a:r>
              <a:rPr sz="1350" b="1">
                <a:solidFill>
                  <a:srgbClr val="187D78"/>
                </a:solidFill>
                <a:latin typeface="Arial"/>
                <a:ea typeface="Arial"/>
                <a:cs typeface="Arial"/>
              </a:rPr>
              <a:t>PHỤ LỤC B • SHORT ANSWERS</a:t>
            </a:r>
          </a:p>
        </p:txBody>
      </p:sp>
      <p:sp>
        <p:nvSpPr>
          <p:cNvPr id="2" name="">
            <a:extLst xmlns:a="http://schemas.openxmlformats.org/drawingml/2006/main">
              <a:ext uri="{FF2B5EF4-FFF2-40B4-BE49-F238E27FC236}">
                <a16:creationId xmlns:a16="http://schemas.microsoft.com/office/drawing/2014/main" id="{FA029741-411A-45D1-8792-2FB8BAFBD10C}"/>
              </a:ext>
            </a:extLst>
          </p:cNvPr>
          <p:cNvSpPr>
            <a:spLocks xmlns:a="http://schemas.openxmlformats.org/drawingml/2006/main" noGrp="1"/>
          </p:cNvSpPr>
          <p:nvPr/>
        </p:nvSpPr>
        <p:spPr>
          <a:xfrm xmlns:a="http://schemas.openxmlformats.org/drawingml/2006/main">
            <a:off x="609600" y="7239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2D40"/>
                </a:solidFill>
                <a:latin typeface="Arial"/>
                <a:ea typeface="Arial"/>
                <a:cs typeface="Arial"/>
              </a:defRPr>
            </a:pPr>
            <a:r>
              <a:rPr sz="3225" b="1">
                <a:solidFill>
                  <a:srgbClr val="182D40"/>
                </a:solidFill>
                <a:latin typeface="Arial"/>
                <a:ea typeface="Arial"/>
                <a:cs typeface="Arial"/>
              </a:rPr>
              <a:t>Câu hỏi thầy có thể hỏi</a:t>
            </a:r>
          </a:p>
        </p:txBody>
      </p:sp>
      <p:sp>
        <p:nvSpPr>
          <p:cNvPr id="3" name="">
            <a:extLst xmlns:a="http://schemas.openxmlformats.org/drawingml/2006/main">
              <a:ext uri="{FF2B5EF4-FFF2-40B4-BE49-F238E27FC236}">
                <a16:creationId xmlns:a16="http://schemas.microsoft.com/office/drawing/2014/main" id="{B176C174-8E30-4073-BEAB-0CFC7B8CCDD0}"/>
              </a:ext>
            </a:extLst>
          </p:cNvPr>
          <p:cNvSpPr>
            <a:spLocks xmlns:a="http://schemas.openxmlformats.org/drawingml/2006/main" noGrp="1"/>
          </p:cNvSpPr>
          <p:nvPr/>
        </p:nvSpPr>
        <p:spPr>
          <a:xfrm xmlns:a="http://schemas.openxmlformats.org/drawingml/2006/main">
            <a:off x="609600" y="6391275"/>
            <a:ext cx="9715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371"/>
                </a:solidFill>
                <a:latin typeface="Arial"/>
                <a:ea typeface="Arial"/>
                <a:cs typeface="Arial"/>
              </a:defRPr>
            </a:pPr>
            <a:r>
              <a:rPr sz="1200" b="0">
                <a:solidFill>
                  <a:srgbClr val="526371"/>
                </a:solidFill>
                <a:latin typeface="Arial"/>
                <a:ea typeface="Arial"/>
                <a:cs typeface="Arial"/>
              </a:rPr>
              <a:t>DATN • Quốc An &amp; Minh Hy  |  01.10.2026</a:t>
            </a:r>
          </a:p>
        </p:txBody>
      </p:sp>
      <p:sp>
        <p:nvSpPr>
          <p:cNvPr id="4" name="">
            <a:extLst xmlns:a="http://schemas.openxmlformats.org/drawingml/2006/main">
              <a:ext uri="{FF2B5EF4-FFF2-40B4-BE49-F238E27FC236}">
                <a16:creationId xmlns:a16="http://schemas.microsoft.com/office/drawing/2014/main" id="{9FC2A27D-6ED5-4183-A343-CA1F38DA1F72}"/>
              </a:ext>
            </a:extLst>
          </p:cNvPr>
          <p:cNvSpPr>
            <a:spLocks xmlns:a="http://schemas.openxmlformats.org/drawingml/2006/main" noGrp="1"/>
          </p:cNvSpPr>
          <p:nvPr/>
        </p:nvSpPr>
        <p:spPr>
          <a:xfrm xmlns:a="http://schemas.openxmlformats.org/drawingml/2006/main">
            <a:off x="11049000" y="6372225"/>
            <a:ext cx="5238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371"/>
                </a:solidFill>
                <a:latin typeface="Arial"/>
                <a:ea typeface="Arial"/>
                <a:cs typeface="Arial"/>
              </a:defRPr>
            </a:pPr>
            <a:r>
              <a:rPr sz="1425" b="0">
                <a:solidFill>
                  <a:srgbClr val="526371"/>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58877E9E-61B0-4D7D-AEDF-898A738F6C82}"/>
              </a:ext>
            </a:extLst>
          </p:cNvPr>
          <p:cNvSpPr>
            <a:spLocks xmlns:a="http://schemas.openxmlformats.org/drawingml/2006/main" noGrp="1"/>
          </p:cNvSpPr>
          <p:nvPr/>
        </p:nvSpPr>
        <p:spPr>
          <a:xfrm xmlns:a="http://schemas.openxmlformats.org/drawingml/2006/main">
            <a:off x="60960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26371"/>
                </a:solidFill>
                <a:latin typeface="Arial"/>
                <a:ea typeface="Arial"/>
                <a:cs typeface="Arial"/>
              </a:defRPr>
            </a:pPr>
            <a:r>
              <a:rPr sz="1125" b="0">
                <a:solidFill>
                  <a:srgbClr val="526371"/>
                </a:solidFill>
                <a:latin typeface="Arial"/>
                <a:ea typeface="Arial"/>
                <a:cs typeface="Arial"/>
              </a:rPr>
              <a:t>Nguồn: T-024-research-logic.md</a:t>
            </a:r>
          </a:p>
        </p:txBody>
      </p:sp>
      <p:graphicFrame>
        <p:nvGraphicFramePr>
          <p:cNvPr id="12" name=""/>
          <p:cNvGraphicFramePr/>
          <p:nvPr/>
        </p:nvGraphicFramePr>
        <p:xfrm>
          <a:off xmlns:a="http://schemas.openxmlformats.org/drawingml/2006/main" x="609600" y="1952625"/>
          <a:ext xmlns:a="http://schemas.openxmlformats.org/drawingml/2006/main" cx="10972800" cy="3667125"/>
        </p:xfrm>
        <a:graphic xmlns:a="http://schemas.openxmlformats.org/drawingml/2006/main">
          <a:graphicData uri="http://schemas.openxmlformats.org/drawingml/2006/table">
            <a:tbl>
              <a:tblPr firstRow="1" bandRow="0"/>
              <a:tblGrid>
                <a:gridCol w="3524250"/>
                <a:gridCol w="7448550"/>
              </a:tblGrid>
              <a:tr h="611188">
                <a:tc>
                  <a:txBody>
                    <a:bodyPr/>
                    <a:lstStyle/>
                    <a:p>
                      <a:r>
                        <a:rPr sz="1725" b="1">
                          <a:solidFill>
                            <a:srgbClr val="FFFFFF"/>
                          </a:solidFill>
                          <a:latin typeface="Arial"/>
                          <a:ea typeface="Arial"/>
                          <a:cs typeface="Arial"/>
                        </a:rPr>
                        <a:t>Câu hỏi</a:t>
                      </a:r>
                    </a:p>
                  </a:txBody>
                  <a:tcPr marL="91440" marR="91440" marT="45720" marB="45720">
                    <a:solidFill>
                      <a:srgbClr val="182D40"/>
                    </a:solidFill>
                  </a:tcPr>
                </a:tc>
                <a:tc>
                  <a:txBody>
                    <a:bodyPr/>
                    <a:lstStyle/>
                    <a:p>
                      <a:r>
                        <a:rPr sz="1725" b="1">
                          <a:solidFill>
                            <a:srgbClr val="FFFFFF"/>
                          </a:solidFill>
                          <a:latin typeface="Arial"/>
                          <a:ea typeface="Arial"/>
                          <a:cs typeface="Arial"/>
                        </a:rPr>
                        <a:t>Trả lời ngắn</a:t>
                      </a:r>
                    </a:p>
                  </a:txBody>
                  <a:tcPr marL="91440" marR="91440" marT="45720" marB="45720">
                    <a:solidFill>
                      <a:srgbClr val="182D40"/>
                    </a:solidFill>
                  </a:tcPr>
                </a:tc>
              </a:tr>
              <a:tr h="611188">
                <a:tc>
                  <a:txBody>
                    <a:bodyPr/>
                    <a:lstStyle/>
                    <a:p>
                      <a:r>
                        <a:rPr sz="1725" b="0">
                          <a:solidFill>
                            <a:srgbClr val="182D40"/>
                          </a:solidFill>
                          <a:latin typeface="Arial"/>
                          <a:ea typeface="Arial"/>
                          <a:cs typeface="Arial"/>
                        </a:rPr>
                        <a:t>Có train model không?</a:t>
                      </a:r>
                    </a:p>
                  </a:txBody>
                  <a:tcPr marL="91440" marR="91440" marT="45720" marB="45720">
                    <a:solidFill>
                      <a:srgbClr val="F1F5F7"/>
                    </a:solidFill>
                  </a:tcPr>
                </a:tc>
                <a:tc>
                  <a:txBody>
                    <a:bodyPr/>
                    <a:lstStyle/>
                    <a:p>
                      <a:r>
                        <a:rPr sz="1725" b="0">
                          <a:solidFill>
                            <a:srgbClr val="182D40"/>
                          </a:solidFill>
                          <a:latin typeface="Arial"/>
                          <a:ea typeface="Arial"/>
                          <a:cs typeface="Arial"/>
                        </a:rPr>
                        <a:t>Không; cải thiện target selection và decision rule.</a:t>
                      </a:r>
                    </a:p>
                  </a:txBody>
                  <a:tcPr marL="91440" marR="91440" marT="45720" marB="45720">
                    <a:solidFill>
                      <a:srgbClr val="F1F5F7"/>
                    </a:solidFill>
                  </a:tcPr>
                </a:tc>
              </a:tr>
              <a:tr h="611188">
                <a:tc>
                  <a:txBody>
                    <a:bodyPr/>
                    <a:lstStyle/>
                    <a:p>
                      <a:r>
                        <a:rPr sz="1725" b="0">
                          <a:solidFill>
                            <a:srgbClr val="182D40"/>
                          </a:solidFill>
                          <a:latin typeface="Arial"/>
                          <a:ea typeface="Arial"/>
                          <a:cs typeface="Arial"/>
                        </a:rPr>
                        <a:t>Ngưỡng chọn bừa không?</a:t>
                      </a:r>
                    </a:p>
                  </a:txBody>
                  <a:tcPr marL="91440" marR="91440" marT="45720" marB="45720">
                    <a:solidFill>
                      <a:srgbClr val="FFFFFF"/>
                    </a:solidFill>
                  </a:tcPr>
                </a:tc>
                <a:tc>
                  <a:txBody>
                    <a:bodyPr/>
                    <a:lstStyle/>
                    <a:p>
                      <a:r>
                        <a:rPr sz="1725" b="0">
                          <a:solidFill>
                            <a:srgbClr val="182D40"/>
                          </a:solidFill>
                          <a:latin typeface="Arial"/>
                          <a:ea typeface="Arial"/>
                          <a:cs typeface="Arial"/>
                        </a:rPr>
                        <a:t>Rule development trước; freeze rồi evaluation một lần.</a:t>
                      </a:r>
                    </a:p>
                  </a:txBody>
                  <a:tcPr marL="91440" marR="91440" marT="45720" marB="45720">
                    <a:solidFill>
                      <a:srgbClr val="FFFFFF"/>
                    </a:solidFill>
                  </a:tcPr>
                </a:tc>
              </a:tr>
              <a:tr h="611188">
                <a:tc>
                  <a:txBody>
                    <a:bodyPr/>
                    <a:lstStyle/>
                    <a:p>
                      <a:r>
                        <a:rPr sz="1725" b="0">
                          <a:solidFill>
                            <a:srgbClr val="182D40"/>
                          </a:solidFill>
                          <a:latin typeface="Arial"/>
                          <a:ea typeface="Arial"/>
                          <a:cs typeface="Arial"/>
                        </a:rPr>
                        <a:t>S8 có độc lập với S4 không?</a:t>
                      </a:r>
                    </a:p>
                  </a:txBody>
                  <a:tcPr marL="91440" marR="91440" marT="45720" marB="45720">
                    <a:solidFill>
                      <a:srgbClr val="F1F5F7"/>
                    </a:solidFill>
                  </a:tcPr>
                </a:tc>
                <a:tc>
                  <a:txBody>
                    <a:bodyPr/>
                    <a:lstStyle/>
                    <a:p>
                      <a:r>
                        <a:rPr sz="1725" b="0">
                          <a:solidFill>
                            <a:srgbClr val="182D40"/>
                          </a:solidFill>
                          <a:latin typeface="Arial"/>
                          <a:ea typeface="Arial"/>
                          <a:cs typeface="Arial"/>
                        </a:rPr>
                        <a:t>Không độc lập signal; rule chặn được một phần lỗi.</a:t>
                      </a:r>
                    </a:p>
                  </a:txBody>
                  <a:tcPr marL="91440" marR="91440" marT="45720" marB="45720">
                    <a:solidFill>
                      <a:srgbClr val="F1F5F7"/>
                    </a:solidFill>
                  </a:tcPr>
                </a:tc>
              </a:tr>
              <a:tr h="611188">
                <a:tc>
                  <a:txBody>
                    <a:bodyPr/>
                    <a:lstStyle/>
                    <a:p>
                      <a:r>
                        <a:rPr sz="1725" b="0">
                          <a:solidFill>
                            <a:srgbClr val="182D40"/>
                          </a:solidFill>
                          <a:latin typeface="Arial"/>
                          <a:ea typeface="Arial"/>
                          <a:cs typeface="Arial"/>
                        </a:rPr>
                        <a:t>Có “accuracy toàn hệ thống” chưa?</a:t>
                      </a:r>
                    </a:p>
                  </a:txBody>
                  <a:tcPr marL="91440" marR="91440" marT="45720" marB="45720">
                    <a:solidFill>
                      <a:srgbClr val="FFFFFF"/>
                    </a:solidFill>
                  </a:tcPr>
                </a:tc>
                <a:tc>
                  <a:txBody>
                    <a:bodyPr/>
                    <a:lstStyle/>
                    <a:p>
                      <a:r>
                        <a:rPr sz="1725" b="0">
                          <a:solidFill>
                            <a:srgbClr val="182D40"/>
                          </a:solidFill>
                          <a:latin typeface="Arial"/>
                          <a:ea typeface="Arial"/>
                          <a:cs typeface="Arial"/>
                        </a:rPr>
                        <a:t>Có 3 nhóm kết quả; chưa full app B0 vs proposed.</a:t>
                      </a:r>
                    </a:p>
                  </a:txBody>
                  <a:tcPr marL="91440" marR="91440" marT="45720" marB="45720">
                    <a:solidFill>
                      <a:srgbClr val="FFFFFF"/>
                    </a:solidFill>
                  </a:tcPr>
                </a:tc>
              </a:tr>
              <a:tr h="611188">
                <a:tc>
                  <a:txBody>
                    <a:bodyPr/>
                    <a:lstStyle/>
                    <a:p>
                      <a:r>
                        <a:rPr sz="1725" b="0">
                          <a:solidFill>
                            <a:srgbClr val="182D40"/>
                          </a:solidFill>
                          <a:latin typeface="Arial"/>
                          <a:ea typeface="Arial"/>
                          <a:cs typeface="Arial"/>
                        </a:rPr>
                        <a:t>Đã đủ an toàn cho kỳ thi thật?</a:t>
                      </a:r>
                    </a:p>
                  </a:txBody>
                  <a:tcPr marL="91440" marR="91440" marT="45720" marB="45720">
                    <a:solidFill>
                      <a:srgbClr val="F1F5F7"/>
                    </a:solidFill>
                  </a:tcPr>
                </a:tc>
                <a:tc>
                  <a:txBody>
                    <a:bodyPr/>
                    <a:lstStyle/>
                    <a:p>
                      <a:r>
                        <a:rPr sz="1725" b="0">
                          <a:solidFill>
                            <a:srgbClr val="182D40"/>
                          </a:solidFill>
                          <a:latin typeface="Arial"/>
                          <a:ea typeface="Arial"/>
                          <a:cs typeface="Arial"/>
                        </a:rPr>
                        <a:t>Chưa: proxy, risk cap TBD, chưa camera/domain test.</a:t>
                      </a:r>
                    </a:p>
                  </a:txBody>
                  <a:tcPr marL="91440" marR="91440" marT="45720" marB="45720">
                    <a:solidFill>
                      <a:srgbClr val="F1F5F7"/>
                    </a:solidFill>
                  </a:tcPr>
                </a:tc>
              </a:tr>
            </a:tbl>
          </a:graphicData>
        </a:graphic>
      </p:graphicFrame>
    </p:spTree>
    <p:extLst>
      <p:ext uri="{BB962C8B-B14F-4D97-AF65-F5344CB8AC3E}">
        <p14:creationId xmlns:p14="http://schemas.microsoft.com/office/powerpoint/2010/main" val="7001524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2026-10-01T14:16:38.0000000Z</dcterms:created>
  <dcterms:modified xsi:type="dcterms:W3CDTF">2026-10-01T14:16:38.0000000Z</dcterms:modified>
</coreProperties>
</file>